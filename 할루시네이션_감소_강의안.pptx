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3.xml" ContentType="application/vnd.openxmlformats-officedocument.presentationml.slide+xml"/>
  <Override PartName="/ppt/notesSlides/notesSlide3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60" r:id="rId6"/>
    <p:sldId id="259" r:id="rId5"/>
    <p:sldId id="289" r:id="rId39"/>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8" r:id="rId33"/>
    <p:sldId id="285" r:id="rId30"/>
    <p:sldId id="286" r:id="rId31"/>
    <p:sldId id="287"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  <Relationship Id="rId39" Type="http://schemas.openxmlformats.org/officeDocument/2006/relationships/slide" Target="slides/slide33.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확률</c:v>
                </c:pt>
              </c:strCache>
            </c:strRef>
          </c:tx>
          <c:spPr>
            <a:solidFill>
              <a:srgbClr val="FFD733"/>
            </a:solidFill>
            <a:effectLst/>
          </c:spPr>
          <c:invertIfNegative val="0"/>
          <c:dLbls>
            <c:numFmt formatCode="#,##0" sourceLinked="0"/>
            <c:spPr>
              <a:noFill/>
              <a:ln>
                <a:noFill/>
              </a:ln>
              <a:effectLst/>
            </c:spPr>
            <c:txPr>
              <a:bodyPr/>
              <a:lstStyle/>
              <a:p>
                <a:pPr>
                  <a:defRPr sz="1300" b="0" i="0" u="none" strike="noStrike">
                    <a:solidFill>
                      <a:srgbClr val="F5F1E4"/>
                    </a:solidFill>
                    <a:latin typeface="Malgun Gothic"/>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한글</c:v>
                </c:pt>
                <c:pt idx="1">
                  <c:v>훈민정음</c:v>
                </c:pt>
                <c:pt idx="2">
                  <c:v>측우기</c:v>
                </c:pt>
                <c:pt idx="3">
                  <c:v>거북선</c:v>
                </c:pt>
                <c:pt idx="4">
                  <c:v>문자</c:v>
                </c:pt>
              </c:strCache>
            </c:strRef>
          </c:cat>
          <c:val>
            <c:numRef>
              <c:f>Sheet1!$B$2:$B$6</c:f>
              <c:numCache>
                <c:formatCode>General</c:formatCode>
                <c:ptCount val="5"/>
                <c:pt idx="0">
                  <c:v>71</c:v>
                </c:pt>
                <c:pt idx="1">
                  <c:v>18</c:v>
                </c:pt>
                <c:pt idx="2">
                  <c:v>6</c:v>
                </c:pt>
                <c:pt idx="3">
                  <c:v>3</c:v>
                </c:pt>
                <c:pt idx="4">
                  <c:v>2</c:v>
                </c:pt>
              </c:numCache>
            </c:numRef>
          </c:val>
          <c:extLst>
            <c:ext xmlns:c16="http://schemas.microsoft.com/office/drawing/2014/chart" uri="{C3380CC4-5D6E-409C-BE32-E72D297353CC}">
              <c16:uniqueId val="{00000000-3407-430C-B44F-14DE3B42198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4A4430"/>
            </a:solidFill>
            <a:prstDash val="solid"/>
            <a:round/>
          </a:ln>
        </c:spPr>
        <c:txPr>
          <a:bodyPr/>
          <a:lstStyle/>
          <a:p>
            <a:pPr>
              <a:defRPr sz="1300" b="0" i="0" u="none" strike="noStrike">
                <a:solidFill>
                  <a:srgbClr val="F5F1E4"/>
                </a:solidFill>
                <a:latin typeface="Malgun Gothic"/>
              </a:defRPr>
            </a:pPr>
            <a:endParaRPr lang="en-US"/>
          </a:p>
        </c:txPr>
        <c:crossAx val="2094734552"/>
        <c:crosses val="autoZero"/>
        <c:auto val="1"/>
        <c:lblAlgn val="ctr"/>
        <c:lblOffset val="100"/>
        <c:noMultiLvlLbl val="1"/>
      </c:catAx>
      <c:valAx>
        <c:axId val="2094734552"/>
        <c:scaling>
          <c:orientation val="minMax"/>
          <c:max val="85"/>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653702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첫 30초에 '오늘은 외우는 강의가 아니라 직접 만들어 보는 실습 강의'임을 선언. 노트북·휴대폰 준비 안내.</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핵심: 모델은 사실을 찾아오는 장치가 아니라 다음 단어를 확률로 고르는 장치. 막대그래프에 시간을 쓴다.</a:t>
            </a:r>
          </a:p>
          <a:p>
            <a:r>
              <a:rPr lang="ko-KR" dirty="0"/>
              <a:t xml:space="preserve">청중 질문 대비: 'ChatGPT는 검색하던데요?' → 검색은 모델 위에 붙인 도구이고, 찾은 자료가 근거로 들어가는 것. 검색을 끄거나 검색이 못 찾으면 다시 생성만 남음 — 실습 1-A에서 확인.</a:t>
            </a:r>
          </a:p>
          <a:p>
            <a:r>
              <a:rPr lang="ko-KR" dirty="0"/>
              <a:t xml:space="preserve">막대그래프 수치는 원리를 보여 주기 위한 예시값(실측 아님). 다음 장 연결: 이 원리에서 나오는 환각을 세 가지로 나눠 보기.</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원 자료 9장을 1장으로 압축. '시험 보는 학생'이 핵심 비유 — 누구나 즉시 이해. 4개 씨앗: 예측→경계없음→자신감→찍기.</a:t>
            </a:r>
          </a:p>
          <a:p>
            <a:r>
              <a:rPr lang="ko-KR" dirty="0"/>
              <a:t xml:space="preserve">출처: OpenAI 논문 Why Language Models Hallucinate(Kalai 외, 2025.9.5) — 정확도만 보는 평가가 '찍기'를 보상한다는 논리를 공식화. 생일을 찍으면 1/365 확률로 점수, 빈칸은 0점.</a:t>
            </a:r>
          </a:p>
          <a:p>
            <a:r>
              <a:rPr lang="ko-KR" dirty="0"/>
              <a:t xml:space="preserve">'어느 단계에도 없다'고 단정하지 않는 이유: AI 개발사들이 정직성 학습을 일부 해 왔고, 2025년 하반기부터 본격적으로 바꾸는 중(다음 장). 기본 구조가 '맞히기' 중심이라는 점이 핵심.</a:t>
            </a:r>
          </a:p>
          <a:p>
            <a:r>
              <a:rPr lang="ko-KR" dirty="0"/>
              <a:t xml:space="preserve">논문은 사전학습·사후학습 두 단계로 설명하고, 사후학습이 일부 환각을 줄인다고도 함 — 4단계 카드는 강의용 정리. 논문의 핵심 주장은 '정답·오답만 채점하는 평가에선 유보가 늘 손해라 찍기가 유리'.</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원 자료 4장을 1장으로 압축. 세 얼굴은 기법편의 과녁(4요소 슬라이드 카드 하단에도 표시): 사실날조→근거제시, 출처날조→인용·모른다허용, 맥락이탈→인용 먼저.</a:t>
            </a:r>
          </a:p>
          <a:p>
            <a:r>
              <a:rPr lang="ko-KR" dirty="0"/>
              <a:t xml:space="preserve">다음 장 연결: 이런 환각이 학습을 거듭해도 왜 안 없어질까? → 학습이 '맞히기' 중심으로 보상하기 때문.</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강의의 척추. 원 자료 끝의 4요소를 기법편 맨 앞으로 끌어올림. 모든 기법을 이 아래 정렬하면 '연결 안 됨'이 사라진다.</a:t>
            </a:r>
          </a:p>
          <a:p>
            <a:r>
              <a:rPr lang="ko-KR" dirty="0"/>
              <a:t xml:space="preserve">용어 대비: 2025년 6월경부터 '컨텍스트 엔지니어링'(모델이 보는 정보 전체를 설계)이라는 말이 널리 쓰임 — 이 강의의 '근거' 요소가 그 핵심. 질문이 나오면 '지시문 작성에서 자료·도구까지 범위를 넓힌 말'로 설명.</a:t>
            </a:r>
          </a:p>
          <a:p>
            <a:r>
              <a:rPr lang="ko-KR" dirty="0"/>
              <a:t xml:space="preserve">우선순위는 연구로 순위를 매긴 것이 아니라 강의 정리. 역할의 정답률 효과가 약하다는 점은 Wharton 연구(2025.12)로 확인됨(역할 슬라이드).</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'오늘 딱 하나만 가져가야 한다면 이것.' 실무 적용: 파일 첨부 또는 본문 붙여넣기. 사내 문서는 보안 정책 확인 선행.</a:t>
            </a:r>
          </a:p>
          <a:p>
            <a:r>
              <a:rPr lang="ko-KR" dirty="0"/>
              <a:t xml:space="preserve">Google Gemini 공식 프롬프트 가이드도 같은 원칙을 권장: '제공된 맥락을 진실의 절대 한계로 다루라'. 검색이 켜진 앱은 근거를 스스로 가져오므로 실습 1에서 환각이 안 보일 수 있음 — '앱이 근거를 대신 넣어 준 것'으로 설명.</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강의 전체의 핵심 체감 실습. 근거 없는 답과 근거 있는 답을 직접 만들어 보면 이후 모든 기법이 설득력을 얻는다. 시간 부족 시 강사 라이브 데모로 대체.</a:t>
            </a:r>
          </a:p>
          <a:p>
            <a:r>
              <a:rPr lang="ko-KR" dirty="0"/>
              <a:t xml:space="preserve">26.10.23 테스트 메모(Claude Fable 5.1, claude.ai):</a:t>
            </a:r>
          </a:p>
          <a:p>
            <a:r>
              <a:rPr lang="ko-KR" dirty="0"/>
              <a:t xml:space="preserve">① 검색 켜짐 — 질문만 입력해도 웹 검색 5회 후 데이터 인사이트 63호를 찾아 출처와 함께 정답(서구권의 완만한 고령화 vs 동아시아의 압축형 고령화).</a:t>
            </a:r>
          </a:p>
          <a:p>
            <a:r>
              <a:rPr lang="ko-KR" dirty="0"/>
              <a:t xml:space="preserve">② 검색 끔('웹 검색 없이 네 기억만으로 답해') — '구체적 수치까지는 확신하기 어렵지만, 보고서 취지상 동아시아는 세계에서 가장 빠른 속도로 고령화 … 양상으로 기억합니다'. 유보 표현은 붙지만 내용은 일반 지식이고 보고서 원문 표현(압축형 고령화)은 없음 — '맞는지 틀린지 원문과 대조할 수 없는 그럴듯한 답'이 핵심 포인트.</a:t>
            </a:r>
          </a:p>
          <a:p>
            <a:r>
              <a:rPr lang="ko-KR" dirty="0"/>
              <a:t xml:space="preserve">B의 예시 답변은 이전 강의안 스크린샷의 답변. 26.10 검색 테스트에서도 같은 내용이 확인됨.</a:t>
            </a:r>
          </a:p>
          <a:p>
            <a:r>
              <a:rPr lang="ko-KR" dirty="0"/>
              <a:t xml:space="preserve">A는 검색 끄기 메뉴가 있는 앱이면 메뉴로 꺼도 되고, 없으면 질문 앞 한 줄로 충분.</a:t>
            </a:r>
          </a:p>
          <a:p>
            <a:r>
              <a:rPr lang="ko-KR" dirty="0"/>
              <a:t xml:space="preserve">모델이 '모른다'고만 답하면: '채점 규칙이 바뀌는 중' 슬라이드를 다시 가리키고, 그래도 오류율이 0이 아니므로 B처럼 자료를 주는 것이 확실한 방법이라고 정리.</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요소 2(검증)는 '찍는 학생' 슬라이드와 직결. '채점 규칙을 프롬프트로 바꾼다'의 실천이 이 두 줄. 두 줄은 짝꿍: 길 열기 + 강제.</a:t>
            </a:r>
          </a:p>
          <a:p>
            <a:r>
              <a:rPr lang="ko-KR" dirty="0"/>
              <a:t xml:space="preserve">공식 근거: Google Gemini 3 프롬프트 가이드 — 확인할 수 없으면 'No Info'라고 답하고 멈추라고 권장. Anthropic 공식 문서도 '열어 보지 않은 코드에 대해 추측하지 말 것' 같은 형태로 같은 원칙을 씀.</a:t>
            </a:r>
          </a:p>
          <a:p>
            <a:r>
              <a:rPr lang="ko-KR" dirty="0"/>
              <a:t xml:space="preserve">표시 규칙 정리(질문이 나오면): '자료에 없음' = 묻는 내용이 제공 자료에 없을 때 / '확인 필요' = 확실하지 않을 때 / 삭제 = 답 속 문장 중 근거 구절이 없는 것.</a:t>
            </a:r>
          </a:p>
          <a:p>
            <a:r>
              <a:rPr lang="ko-KR" dirty="0"/>
              <a:t xml:space="preserve">근거: ChatGPT가 만든 참고문헌 중 가짜 비율 GPT-3.5 55%, GPT-4 18%(Walters &amp; Wilder, Scientific Reports, 2023.9). Anthropic 공식 문서('Reduce hallucinations' 페이지): '모른다'고 답할 수 있게 하면 허위 정보가 크게 줄고, 근거 인용이 없는 주장은 철회하게 하라고 권장.</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핵심 체감: 두 줄을 붙이면 모델이 '인용할 원문이 없으니 항목을 쓸 수 없다'고 스스로 판단 — 검증 요소의 효과. 검토자는 인용만 대조하면 되므로 검증 시간 급감.</a:t>
            </a:r>
          </a:p>
          <a:p>
            <a:r>
              <a:rPr lang="ko-KR" dirty="0"/>
              <a:t xml:space="preserve">26.10.23 테스트 메모(Claude Fable 5.1, 검색 없이): 답 요지 — '확인 필요 — KISTI 데이터 인사이트 시리즈 중 동아시아 고령화를 다룬 특정 호의 내용을 원문 구절 단위로 신뢰할 만하게 기억하지 못합니다. 조건 ②를 적용하면 쓸 수 있는 항목이 하나도 남지 않습니다. 기억만으로 원문 구절을 써 드리면 그럴듯하게 지어낸 인용문이 될 가능성이 높고, 그건 조건 ①을 어기는 일이라 하지 않겠습니다.' 이어서 확실한 사실(시리즈 발간)과 확인 필요 항목(호수·수치)을 구분.</a:t>
            </a:r>
          </a:p>
          <a:p>
            <a:r>
              <a:rPr lang="ko-KR" dirty="0"/>
              <a:t xml:space="preserve">검색이 켜져 있으면 모델이 검색해서 인용을 달아 오므로, 두 줄의 효과만 보려면 검색 없이 비교. 보너스: 없는 걸 물어도 안 지어냄.</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맥락 이탈의 최강 대응책. 'word-for-word 인용'이 핵심 — 의역하게 두면 그 단계부터 왜곡.</a:t>
            </a:r>
          </a:p>
          <a:p>
            <a:r>
              <a:rPr lang="ko-KR" dirty="0"/>
              <a:t xml:space="preserve">공식 근거: Anthropic 프롬프트 문서 'Ground responses in quotes' — 긴 문서는 먼저 관련 구절을 인용하게 하라. 같은 문서의 '프롬프트 체이닝'은 단계를 별도 호출로 나누는 방식 — 한 프롬프트 안 3단계 구성의 직접 근거는 'Ground responses in quotes'.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연구직 추천. 논문 검토의 최대 위험인 '없는 수치·결론 끼워넣기'를 직접 막아본다. A안 결과를 원문과 대조하게 하면 효과 극대화.</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흔한 미신 깨기. 추론 모델에 CoT를 붙이지 않는 이유: 중복·비용·내부 추론과 충돌. 추론 모델엔 '결론을 직접 요청'.</a:t>
            </a:r>
          </a:p>
          <a:p>
            <a:r>
              <a:rPr lang="ko-KR" dirty="0"/>
              <a:t xml:space="preserve">수치 출처: Wharton GAIL 기술보고서(2025.6.8) — 추론 모델(o3-mini·o4-mini·Gemini 2.5 Flash)에 CoT 추가 시 정확도 +2.9/+3.1/−3.3%p, 응답 시간 20~80%↑. 비추론 모델(GPT-4o·Gemini 2.0 Flash 등)은 평균 정확도가 오르지만 쉬운 문항에서 변동성 증가.</a:t>
            </a:r>
          </a:p>
          <a:p>
            <a:r>
              <a:rPr lang="ko-KR" dirty="0"/>
              <a:t xml:space="preserve">공식 가이드: OpenAI 'Keep prompts simple and direct', Google '추론 단계를 답변에 쓰게 할 필요 없음', Anthropic '손으로 쓴 단계별 계획보다 꼼꼼히 생각하라는 한 줄이 낫다', '&lt;thinking&gt; 태그로 추론을 써 달라는 요청은 거절될 수 있음'(Fable 5.1·Opus 5.5·Sonnet 5.5 등). 사실 조회엔 낮은 추론 강도: Google 'Use minimal or low thinking for fact retrieval or classification', OpenAI GPT-6 가이드도 일상·지연 민감 작업엔 low를 안내.</a:t>
            </a:r>
          </a:p>
          <a:p>
            <a:r>
              <a:rPr lang="ko-KR" dirty="0"/>
              <a:t xml:space="preserve">모델 현황(26.10): GPT-4o·GPT-4.1·o4-mini는 26.2 ChatGPT 퇴출, GPT-5.5는 26.10.14 퇴출, 현재 GPT-6 계열. Gemini 4 Argon GA 26.10.13. Claude Opus/Sonnet/Haiku 5.5는 26.9~10 출시. '대부분'이라고 쓴 이유: 경량 모델 일부는 추론을 끄거나 최소로 돌릴 수 있음.</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'역할 부여'를 보조로 격하한 게 이 강의의 차별점. '쓸모없다'가 아니라 '우선순위가 낮다'로 정확히 전달.</a:t>
            </a:r>
          </a:p>
          <a:p>
            <a:r>
              <a:rPr lang="ko-KR" dirty="0"/>
              <a:t xml:space="preserve">공식 근거: Anthropic 문서는 '역할 한 문장이 어조·행동을 잡아 준다', Google Gemini 3 가이드는 '페르소나를 지키느라 지시를 무시할 수 있으니 충돌하지 않게 설계하라'고 경고 — 둘 다 '어조엔 도움, 사실성은 별개'와 일치.</a:t>
            </a:r>
          </a:p>
          <a:p>
            <a:r>
              <a:rPr lang="ko-KR" dirty="0"/>
              <a:t xml:space="preserve">근거: Wharton Prompting Science Report 4 'Playing Pretend: Expert Personas Don't Improve Factual Accuracy'(2025.12.5) — 6개 모델·GPQA Diamond·MMLU-Pro에서 전문가 역할의 정답률 효과가 일관되지 않았고(일부 예외), 분야가 안 맞는 역할이나 '초보자' 역할은 오히려 정답률을 낮춤. 저자도 어조 조절 같은 용도는 별개라고 언급.</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외우기 순서: 역할 → 근거 → 형식 → 검증. 마지막 줄 '검증'(요소 2)이 '찍는 학생'의 채점 규칙 변경에 해당 — 원리편과 연결해 한 바퀴 돈다.</a:t>
            </a:r>
          </a:p>
          <a:p>
            <a:r>
              <a:rPr lang="ko-KR" dirty="0"/>
              <a:t xml:space="preserve">팁: Anthropic 공식 문서는 긴 자료를 프롬프트 위쪽에, 질문·지시를 맨 아래에 두라고 권장(Claude 기준 최대 30% 품질 향상). 자료가 길면 [자료]를 맨 위로 올려도 됨.</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강의 신뢰도를 높이는 '방법론 공개'. '동료심사·재현성' 두 단어만 강조하고 빠르게.</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원 자료 3장을 1장으로 압축. 전제 의심은 앞 장('CoT가 항상 좋은 것은 아님')과 연결해 설명 — 막연히 '단계별로 생각해'라고 하기보다 확인할 대상(전제)을 지정하는 지시.</a:t>
            </a:r>
          </a:p>
          <a:p>
            <a:r>
              <a:rPr lang="ko-KR" dirty="0"/>
              <a:t xml:space="preserve">수치 확인(26.10): Step-Back 'CoT 대비 최대 36%'는 Google DeepMind 원논문 서론 표현, Self-Consistency GSM8K +17.9%p는 원논문 초록 수치.</a:t>
            </a:r>
          </a:p>
          <a:p>
            <a:r>
              <a:rPr lang="ko-KR" dirty="0"/>
              <a:t xml:space="preserve">제품 내장(2025): OpenAI GPT-5 Pro '병렬 test-time compute', Google Gemini Deep Think '여러 아이디어를 동시에 만들고 검토·결합' — 여러 갈래로 생각한 뒤 종합한다는 점에서 다수결과 같은 계열. 일반 모드에서는 여전히 프롬프트로 직접 쓴다.</a:t>
            </a:r>
          </a:p>
          <a:p>
            <a:r>
              <a:rPr lang="ko-KR" dirty="0"/>
              <a:t xml:space="preserve">전제 의심 카드는 다른 두 카드와 달리 '이 프롬프트를 썼을 때의 효과 수치'는 없음 — FalseQA(ACL 2023)는 모델이 틀린 전제에 쉽게 속지만 반박할 지식은 이미 갖고 있어 '꺼내는 것'이 핵심이라고 보고(미세조정 실험). 사용자 의견에 동조하는 경향은 Anthropic 연구(Towards Understanding Sycophancy in Language Models, 2023)도 보고.</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직군에 따라 안내: 행정→전제 의심, 연구·데이터→다수결. 시간 부족 시 강사가 전제 의심 하나만 라이브 데모.</a:t>
            </a:r>
          </a:p>
          <a:p>
            <a:r>
              <a:rPr lang="ko-KR" dirty="0"/>
              <a:t xml:space="preserve">강사 대비: 'async-parallel' 키워드는 여전히 존재하지 않음. 다만 Python 3.14(2025.10)부터 GIL 없는 free-threaded 빌드가 공식 지원되므로, 모델이 대안으로 free-threaded 빌드나 multiprocessing을 제시하면 정답.</a:t>
            </a:r>
          </a:p>
          <a:p>
            <a:r>
              <a:rPr lang="ko-KR" dirty="0"/>
              <a:t xml:space="preserve">질문 B는 비개발 직군용 — KISTI는 노벨상을 받은 적이 없음(2023년 과학 분야 수상자는 물리학 아고스티니·크라우스·륄리에, 화학 바웬디·브루스·예키모프, 생리의학 커리코·와이스먼). '환각의 세 가지 카테고리' 슬라이드의 사실 날조 예시와 연결.</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당장 생각나는 사례가 없으면 이 샘플 프롬프트로 테스트해도 됨.</a:t>
            </a:r>
          </a:p>
          <a:p>
            <a:r>
              <a:rPr lang="ko-KR" dirty="0"/>
              <a:t xml:space="preserve">정답: 12대 — 총 요청 500×2 = 1,000 TPS, 서버당 실사용 150×0.6 = 90 TPS, 1,000÷90 = 11.1 → 12대.</a:t>
            </a:r>
          </a:p>
          <a:p>
            <a:r>
              <a:rPr lang="ko-KR" dirty="0"/>
              <a:t xml:space="preserve">참고: '40% 여유'를 '트래픽×1.4'로 읽으면 1,400÷150 = 9.3 → 10대가 나옴. 모델이 10대라고 답하면 문제 해석이 갈린 지점을 짚어 주면 됨 — 풀이 경로를 비교하는 다수결 방식의 장점이 드러나는 장면.</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청중의 '미신 면역' 완성. 출처: Wharton Prompting Science Report 3(2025.8.1, GPQA·MMLU-Pro) — 팁·협박 모두 평균 효과 없음, 문항별 효과는 양방향이라 미리 알 수 없음. 협박 팁은 2025년 5월 세르게이 브린 발언으로, 200달러 팁은 2023년 말 SNS 실험으로 화제(당시 잰 것은 정확도가 아니라 답변 길이). Wharton 연구는 1천 달러·1조 달러 팁으로 실험.</a:t>
            </a:r>
          </a:p>
          <a:p>
            <a:r>
              <a:rPr lang="ko-KR" dirty="0"/>
              <a:t xml:space="preserve">정중/무례는 연구마다 엇갈림 — 2025.10 'Mind Your Tone'(GPT-4o, 50문항)은 무례한 프롬프트가 소폭 우세(84.8% vs 80.8%)했지만 단일 모델·소규모라 저자도 신중한 해석을 요청 → '효과 단정 말고, 명확성이 본질'로 정리.</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문법을 맞추는 목적은 모델을 똑똑하게 만드는 것이 아니라 오해를 줄이는 것. 다음 장에서 같은 내용을 세 가지 문법으로 쓴 예를 비교.</a:t>
            </a:r>
          </a:p>
          <a:p>
            <a:r>
              <a:rPr lang="ko-KR" dirty="0"/>
              <a:t xml:space="preserve">공식 가이드 출처: OpenAI 프롬프트 가이드('마크다운 제목과 목록으로 구획하면 도움, 자료는 XML 태그로 경계 표시'), Google Gemini 프롬프트 전략('목표를 명확하고 간결하게, 과도한 설득 표현은 피하라'), Anthropic 프롬프트 모범 사례('CRITICAL: You MUST' 대신 평이한 표현, 과잉 지시 제거).</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공통 골격(근거 한정+개수·형식+근거 없으면 유보)을 손가락으로 짚어주면 '결국 같은 거구나'를 체감. 마스터 템플릿의 변주.</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'복붙이 왜 잘 안 됐는지'를 체감하는 실습. 여러 모델 쓰는 분은 같은 템플릿을 2개 버전으로 저장 권장.</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'복붙이 왜 잘 안 됐는지'를 체감하는 실습. 여러 모델 쓰는 분은 같은 템플릿을 2개 버전으로 저장 권장.</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'복붙이 왜 잘 안 됐는지'를 체감하는 실습. 여러 모델 쓰는 분은 같은 템플릿을 2개 버전으로 저장 권장.</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가능하면 실제 KISTI 공개 자료 한 건으로 라이브 시연. '원문 인용 → 인용 근거로만 요약' 순서가 맥락 이탈을 막는 핵심.</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논문에서 가장 위험한 게 가짜 수치 → '인용에 없는 수치·결론은 절대 만들지 마라' 한 줄이 핵심. 연구직 강력 추천.</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기법 암기에 부담 느끼는 청중에게 '이거 하나면 됩니다'. 강사가 청중의 허술한 프롬프트를 즉석에서 라이브 보강하면 임팩트 큼. 단, 보강 후에도 고위험은 사람 검증.</a:t>
            </a:r>
          </a:p>
          <a:p>
            <a:r>
              <a:rPr lang="ko-KR" dirty="0"/>
              <a:t xml:space="preserve">참고: OpenAI Playground의 Prompt Optimizer가 같은 원리의 공식 기능(Anthropic Console의 프롬프트 개선 기능은 2026.10 현재 제공 여부 미확인) — 일반 사용자는 이 메타 프롬프트로 충분.</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 xml:space="preserve">핵심 메시지: 앞 장의 '인센티브 문제'를 AI 업계가 인정하고 고치기 시작했다. 그래도 사용자 입장에서 가장 빠른 방법은 프롬프트.</a:t>
            </a:r>
          </a:p>
          <a:p>
            <a:r>
              <a:rPr lang="ko-KR" dirty="0"/>
              <a:t xml:space="preserve">왼쪽 수치: OpenAI 블로그(2025.9.5)에 실린 GPT-5 시스템 카드의 SimpleQA 표 그대로 — 유보율 52% vs 1%, 정답률 22% vs 24%, 오류율 26% vs 75%. '찍는 모델'이 정답률은 2%p 높지만 오답은 약 3배.</a:t>
            </a:r>
          </a:p>
          <a:p>
            <a:r>
              <a:rPr lang="ko-KR" dirty="0"/>
              <a:t xml:space="preserve">오른쪽: Artificial Analysis의 AA-Omniscience — 채점 방식(+1/−1/0)과 환각률 정의를 짚는다(현재 방식은 부분 정답도 분모에 포함). 발표일(2025.11.16)에는 정답률 1위 Grok 4, 지수 1위 Claude 4.1 Opus, 환각률 최저 Claude 계열. 이틀 뒤(11.18) Gemini 3 Pro가 정답률·지수 모두 1위였지만 환각률 88% — 슬라이드의 예시.</a:t>
            </a:r>
          </a:p>
          <a:p>
            <a:r>
              <a:rPr lang="ko-KR" dirty="0"/>
              <a:t xml:space="preserve">2026.10 현재 AA 순위에는 신모델(Claude Opus 5.5·GPT-6 Astra·Claude Fable 5.1·Gemini 4 Argon 등)도 올라 있으나 수시로 갱신되고 개발사 공식 수치가 아니라 슬라이드엔 넣지 않음.</a:t>
            </a:r>
          </a:p>
          <a:p>
            <a:r>
              <a:rPr lang="ko-KR" dirty="0"/>
              <a:t xml:space="preserve">실습 1에서 최신 모델이 '확인 필요'라고 답하면 이 장을 다시 가리키면 됨.</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32223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810"/>
        </a:solidFill>
        <a:effectLst/>
      </p:bgPr>
    </p:bg>
    <p:spTree>
      <p:nvGrpSpPr>
        <p:cNvPr id="1" name=""/>
        <p:cNvGrpSpPr/>
        <p:nvPr/>
      </p:nvGrpSpPr>
      <p:grpSpPr>
        <a:xfrm>
          <a:off x="0" y="0"/>
          <a:ext cx="0" cy="0"/>
          <a:chOff x="0" y="0"/>
          <a:chExt cx="0" cy="0"/>
        </a:xfrm>
      </p:grpSpPr>
      <p:sp>
        <p:nvSpPr>
          <p:cNvPr id="2" name="Shape 0"/>
          <p:cNvSpPr/>
          <p:nvPr/>
        </p:nvSpPr>
        <p:spPr>
          <a:xfrm>
            <a:off x="5728716" y="2395728"/>
            <a:ext cx="731520" cy="54864"/>
          </a:xfrm>
          <a:prstGeom prst="rect">
            <a:avLst/>
          </a:prstGeom>
          <a:solidFill>
            <a:srgbClr val="FFD733"/>
          </a:solidFill>
          <a:ln/>
        </p:spPr>
      </p:sp>
      <p:sp>
        <p:nvSpPr>
          <p:cNvPr id="3" name="Text 1"/>
          <p:cNvSpPr txBox="1"/>
          <p:nvPr/>
        </p:nvSpPr>
        <p:spPr>
          <a:xfrm>
            <a:off x="1371600" y="2743200"/>
            <a:ext cx="9445752" cy="1554480"/>
          </a:xfrm>
          <a:prstGeom prst="rect">
            <a:avLst/>
          </a:prstGeom>
          <a:noFill/>
          <a:ln/>
        </p:spPr>
        <p:txBody>
          <a:bodyPr wrap="square" lIns="0" tIns="0" rIns="0" bIns="0" rtlCol="0" anchor="ctr"/>
          <a:lstStyle/>
          <a:p>
            <a:pPr marL="0" indent="0" algn="ctr">
              <a:lnSpc>
                <a:spcPct val="125000"/>
              </a:lnSpc>
              <a:buNone/>
            </a:pPr>
            <a:r>
              <a:rPr lang="en-US" sz="3300" b="1" dirty="0">
                <a:solidFill>
                  <a:srgbClr val="FFDF57"/>
                </a:solidFill>
                <a:latin typeface="Malgun Gothic" pitchFamily="34" charset="0"/>
                <a:ea typeface="Malgun Gothic" pitchFamily="34" charset="-122"/>
                <a:cs typeface="Malgun Gothic" pitchFamily="34" charset="-120"/>
              </a:rPr>
              <a:t>할루시네이션을 줄이는</a:t>
            </a:r>
            <a:endParaRPr lang="en-US" sz="3300" dirty="0"/>
          </a:p>
          <a:p>
            <a:pPr marL="0" indent="0" algn="ctr">
              <a:lnSpc>
                <a:spcPct val="125000"/>
              </a:lnSpc>
              <a:buNone/>
            </a:pPr>
            <a:r>
              <a:rPr lang="en-US" sz="3300" b="1" dirty="0">
                <a:solidFill>
                  <a:srgbClr val="FFDF57"/>
                </a:solidFill>
                <a:latin typeface="Malgun Gothic" pitchFamily="34" charset="0"/>
                <a:ea typeface="Malgun Gothic" pitchFamily="34" charset="-122"/>
                <a:cs typeface="Malgun Gothic" pitchFamily="34" charset="-120"/>
              </a:rPr>
              <a:t>프롬프트 엔지니어링</a:t>
            </a:r>
            <a:endParaRPr lang="en-US" sz="3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8229600" y="1005840"/>
            <a:ext cx="3474720" cy="4754880"/>
          </a:xfrm>
          <a:prstGeom prst="rect">
            <a:avLst/>
          </a:prstGeom>
          <a:noFill/>
          <a:ln/>
        </p:spPr>
        <p:txBody>
          <a:bodyPr wrap="square" lIns="0" tIns="0" rIns="0" bIns="0" rtlCol="0" anchor="ctr"/>
          <a:lstStyle/>
          <a:p>
            <a:pPr marL="0" indent="0" algn="r">
              <a:buNone/>
            </a:pPr>
            <a:r>
              <a:rPr lang="en-US" sz="26000" b="1" dirty="0">
                <a:solidFill>
                  <a:srgbClr val="26221A"/>
                </a:solidFill>
                <a:latin typeface="Malgun Gothic" pitchFamily="34" charset="0"/>
                <a:ea typeface="Malgun Gothic" pitchFamily="34" charset="-122"/>
                <a:cs typeface="Malgun Gothic" pitchFamily="34" charset="-120"/>
              </a:rPr>
              <a:t>1</a:t>
            </a:r>
            <a:endParaRPr lang="en-US" sz="26000" dirty="0"/>
          </a:p>
        </p:txBody>
      </p:sp>
      <p:sp>
        <p:nvSpPr>
          <p:cNvPr id="3" name="Text 1"/>
          <p:cNvSpPr txBox="1"/>
          <p:nvPr/>
        </p:nvSpPr>
        <p:spPr>
          <a:xfrm>
            <a:off x="502920" y="2331720"/>
            <a:ext cx="8778240" cy="1554480"/>
          </a:xfrm>
          <a:prstGeom prst="rect">
            <a:avLst/>
          </a:prstGeom>
          <a:noFill/>
          <a:ln/>
        </p:spPr>
        <p:txBody>
          <a:bodyPr wrap="square" lIns="0" tIns="0" rIns="0" bIns="0" rtlCol="0" anchor="ctr"/>
          <a:lstStyle/>
          <a:p>
            <a:pPr marL="0" indent="0">
              <a:lnSpc>
                <a:spcPct val="115000"/>
              </a:lnSpc>
              <a:buNone/>
            </a:pPr>
            <a:r>
              <a:rPr lang="en-US" sz="3000" b="1" dirty="0">
                <a:solidFill>
                  <a:srgbClr val="FFFFFF"/>
                </a:solidFill>
                <a:latin typeface="Malgun Gothic" pitchFamily="34" charset="0"/>
                <a:ea typeface="Malgun Gothic" pitchFamily="34" charset="-122"/>
                <a:cs typeface="Malgun Gothic" pitchFamily="34" charset="-120"/>
              </a:rPr>
              <a:t>할루시네이션이 발생할 수밖에 없는</a:t>
            </a:r>
            <a:endParaRPr lang="en-US" sz="3000" dirty="0"/>
          </a:p>
          <a:p>
            <a:pPr marL="0" indent="0">
              <a:lnSpc>
                <a:spcPct val="115000"/>
              </a:lnSpc>
              <a:buNone/>
            </a:pPr>
            <a:r>
              <a:rPr lang="en-US" sz="3000" b="1" dirty="0">
                <a:solidFill>
                  <a:srgbClr val="FFFFFF"/>
                </a:solidFill>
                <a:latin typeface="Malgun Gothic" pitchFamily="34" charset="0"/>
                <a:ea typeface="Malgun Gothic" pitchFamily="34" charset="-122"/>
                <a:cs typeface="Malgun Gothic" pitchFamily="34" charset="-120"/>
              </a:rPr>
              <a:t>LLM 원리</a:t>
            </a:r>
            <a:endParaRPr lang="en-US" sz="3000" dirty="0"/>
          </a:p>
        </p:txBody>
      </p:sp>
      <p:sp>
        <p:nvSpPr>
          <p:cNvPr id="4" name="Text 2"/>
          <p:cNvSpPr txBox="1"/>
          <p:nvPr/>
        </p:nvSpPr>
        <p:spPr>
          <a:xfrm>
            <a:off x="502920" y="3977640"/>
            <a:ext cx="8778240" cy="822960"/>
          </a:xfrm>
          <a:prstGeom prst="rect">
            <a:avLst/>
          </a:prstGeom>
          <a:noFill/>
          <a:ln/>
        </p:spPr>
        <p:txBody>
          <a:bodyPr wrap="square" lIns="0" tIns="0" rIns="0" bIns="0" rtlCol="0" anchor="t"/>
          <a:lstStyle/>
          <a:p>
            <a:pPr marL="0" indent="0">
              <a:lnSpc>
                <a:spcPct val="120000"/>
              </a:lnSpc>
              <a:buNone/>
            </a:pPr>
            <a:r>
              <a:rPr lang="ko-KR" sz="1400" dirty="0">
                <a:solidFill>
                  <a:srgbClr val="D4CEC0"/>
                </a:solidFill>
                <a:latin typeface="Malgun Gothic" pitchFamily="34" charset="0"/>
                <a:ea typeface="Malgun Gothic" pitchFamily="34" charset="-122"/>
                <a:cs typeface="Malgun Gothic" pitchFamily="34" charset="-120"/>
              </a:rPr>
              <a:t xml:space="preserve">할루시네이션(환각)이 왜 구조적인지 — 확률로 답을 '생성'하는 원리와 '맞히기' 중심의 학습</a:t>
            </a:r>
            <a:endParaRPr lang="ko-KR" sz="1400" dirty="0"/>
          </a:p>
        </p:txBody>
      </p:sp>
      <p:sp>
        <p:nvSpPr>
          <p:cNvPr id="5" name="Shape 3"/>
          <p:cNvSpPr/>
          <p:nvPr/>
        </p:nvSpPr>
        <p:spPr>
          <a:xfrm>
            <a:off x="502920" y="2057400"/>
            <a:ext cx="566928" cy="50292"/>
          </a:xfrm>
          <a:prstGeom prst="rect">
            <a:avLst/>
          </a:prstGeom>
          <a:solidFill>
            <a:srgbClr val="FFD733"/>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LLM(대규모 언어 모델)은 사실을 '검색'하지 않고 '생성'</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en-US" sz="1350" dirty="0">
                <a:solidFill>
                  <a:srgbClr val="F5F1E4"/>
                </a:solidFill>
                <a:latin typeface="Malgun Gothic" pitchFamily="34" charset="0"/>
                <a:ea typeface="Malgun Gothic" pitchFamily="34" charset="-122"/>
                <a:cs typeface="Malgun Gothic" pitchFamily="34" charset="-120"/>
              </a:rPr>
              <a:t>다음 단어를 확률로 고르는 통계 머신 — 빈칸을 두지 못하고, 드물거나 최신인 사실은 지어냄</a:t>
            </a:r>
            <a:endParaRPr lang="en-US" sz="1350" dirty="0"/>
          </a:p>
        </p:txBody>
      </p:sp>
      <p:sp>
        <p:nvSpPr>
          <p:cNvPr id="5" name="Shape 2"/>
          <p:cNvSpPr/>
          <p:nvPr/>
        </p:nvSpPr>
        <p:spPr>
          <a:xfrm>
            <a:off x="502920" y="1481328"/>
            <a:ext cx="5577840" cy="4160520"/>
          </a:xfrm>
          <a:prstGeom prst="roundRect">
            <a:avLst>
              <a:gd name="adj" fmla="val 989"/>
            </a:avLst>
          </a:prstGeom>
          <a:solidFill>
            <a:srgbClr val="232016"/>
          </a:solidFill>
          <a:ln w="12700">
            <a:solidFill>
              <a:srgbClr val="4A4430"/>
            </a:solidFill>
            <a:prstDash val="solid"/>
          </a:ln>
        </p:spPr>
      </p:sp>
      <p:sp>
        <p:nvSpPr>
          <p:cNvPr id="6" name="Text 3"/>
          <p:cNvSpPr txBox="1"/>
          <p:nvPr/>
        </p:nvSpPr>
        <p:spPr>
          <a:xfrm>
            <a:off x="731520" y="1627632"/>
            <a:ext cx="5120640" cy="310896"/>
          </a:xfrm>
          <a:prstGeom prst="rect">
            <a:avLst/>
          </a:prstGeom>
          <a:noFill/>
          <a:ln/>
        </p:spPr>
        <p:txBody>
          <a:bodyPr wrap="square" lIns="0" tIns="0" rIns="0" bIns="0" rtlCol="0" anchor="ctr"/>
          <a:lstStyle/>
          <a:p>
            <a:pPr marL="0" indent="0">
              <a:buNone/>
            </a:pPr>
            <a:r>
              <a:rPr lang="en-US" sz="1350" b="1" dirty="0">
                <a:solidFill>
                  <a:srgbClr val="FFFFFF"/>
                </a:solidFill>
                <a:latin typeface="Malgun Gothic" pitchFamily="34" charset="0"/>
                <a:ea typeface="Malgun Gothic" pitchFamily="34" charset="-122"/>
                <a:cs typeface="Malgun Gothic" pitchFamily="34" charset="-120"/>
              </a:rPr>
              <a:t>“세종대왕이 만든 것은 ___”</a:t>
            </a:r>
            <a:r>
              <a:rPr lang="en-US" sz="1350" dirty="0">
                <a:solidFill>
                  <a:srgbClr val="D4CEC0"/>
                </a:solidFill>
                <a:latin typeface="Malgun Gothic" pitchFamily="34" charset="0"/>
                <a:ea typeface="Malgun Gothic" pitchFamily="34" charset="-122"/>
                <a:cs typeface="Malgun Gothic" pitchFamily="34" charset="-120"/>
              </a:rPr>
              <a:t xml:space="preserve">  다음 단어 확률 (예시)</a:t>
            </a:r>
            <a:endParaRPr lang="en-US" sz="1350" dirty="0"/>
          </a:p>
        </p:txBody>
      </p:sp>
      <p:graphicFrame>
        <p:nvGraphicFramePr>
          <p:cNvPr id="7" name="Chart 0"/>
          <p:cNvGraphicFramePr/>
          <p:nvPr/>
        </p:nvGraphicFramePr>
        <p:xfrm>
          <a:off x="685800" y="2103120"/>
          <a:ext cx="521208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4"/>
          <p:cNvSpPr/>
          <p:nvPr/>
        </p:nvSpPr>
        <p:spPr>
          <a:xfrm>
            <a:off x="6355080" y="1481328"/>
            <a:ext cx="5330952" cy="1115568"/>
          </a:xfrm>
          <a:prstGeom prst="roundRect">
            <a:avLst>
              <a:gd name="adj" fmla="val 3169"/>
            </a:avLst>
          </a:prstGeom>
          <a:solidFill>
            <a:srgbClr val="232016"/>
          </a:solidFill>
          <a:ln w="12700">
            <a:solidFill>
              <a:srgbClr val="4A4430"/>
            </a:solidFill>
            <a:prstDash val="solid"/>
          </a:ln>
        </p:spPr>
      </p:sp>
      <p:sp>
        <p:nvSpPr>
          <p:cNvPr id="9" name="Text 5"/>
          <p:cNvSpPr txBox="1"/>
          <p:nvPr/>
        </p:nvSpPr>
        <p:spPr>
          <a:xfrm>
            <a:off x="6556248" y="1609344"/>
            <a:ext cx="640080" cy="365760"/>
          </a:xfrm>
          <a:prstGeom prst="rect">
            <a:avLst/>
          </a:prstGeom>
          <a:noFill/>
          <a:ln/>
        </p:spPr>
        <p:txBody>
          <a:bodyPr wrap="square" lIns="0" tIns="0" rIns="0" bIns="0" rtlCol="0" anchor="ctr"/>
          <a:lstStyle/>
          <a:p>
            <a:pPr marL="0" indent="0">
              <a:buNone/>
            </a:pPr>
            <a:r>
              <a:rPr lang="en-US" sz="1500" b="1" dirty="0">
                <a:solidFill>
                  <a:srgbClr val="FFD733"/>
                </a:solidFill>
                <a:latin typeface="Malgun Gothic" pitchFamily="34" charset="0"/>
                <a:ea typeface="Malgun Gothic" pitchFamily="34" charset="-122"/>
                <a:cs typeface="Malgun Gothic" pitchFamily="34" charset="-120"/>
              </a:rPr>
              <a:t>01</a:t>
            </a:r>
            <a:endParaRPr lang="en-US" sz="1500" dirty="0"/>
          </a:p>
        </p:txBody>
      </p:sp>
      <p:sp>
        <p:nvSpPr>
          <p:cNvPr id="10" name="Text 6"/>
          <p:cNvSpPr txBox="1"/>
          <p:nvPr/>
        </p:nvSpPr>
        <p:spPr>
          <a:xfrm>
            <a:off x="7132320" y="1609344"/>
            <a:ext cx="4325112" cy="365760"/>
          </a:xfrm>
          <a:prstGeom prst="rect">
            <a:avLst/>
          </a:prstGeom>
          <a:noFill/>
          <a:ln/>
        </p:spPr>
        <p:txBody>
          <a:bodyPr wrap="square" lIns="0" tIns="0" rIns="0" bIns="0" rtlCol="0" anchor="ctr"/>
          <a:lstStyle/>
          <a:p>
            <a:pPr marL="0" indent="0">
              <a:buNone/>
            </a:pPr>
            <a:r>
              <a:rPr lang="en-US" sz="1400" b="1" dirty="0">
                <a:solidFill>
                  <a:srgbClr val="FFFFFF"/>
                </a:solidFill>
                <a:latin typeface="Malgun Gothic" pitchFamily="34" charset="0"/>
                <a:ea typeface="Malgun Gothic" pitchFamily="34" charset="-122"/>
                <a:cs typeface="Malgun Gothic" pitchFamily="34" charset="-120"/>
              </a:rPr>
              <a:t>확률형 출력</a:t>
            </a:r>
            <a:endParaRPr lang="en-US" sz="1400" dirty="0"/>
          </a:p>
        </p:txBody>
      </p:sp>
      <p:sp>
        <p:nvSpPr>
          <p:cNvPr id="11" name="Text 7"/>
          <p:cNvSpPr txBox="1"/>
          <p:nvPr/>
        </p:nvSpPr>
        <p:spPr>
          <a:xfrm>
            <a:off x="6556248" y="2029968"/>
            <a:ext cx="4928616" cy="502920"/>
          </a:xfrm>
          <a:prstGeom prst="rect">
            <a:avLst/>
          </a:prstGeom>
          <a:noFill/>
          <a:ln/>
        </p:spPr>
        <p:txBody>
          <a:bodyPr wrap="square" lIns="0" tIns="0" rIns="0" bIns="0" rtlCol="0" anchor="t"/>
          <a:lstStyle/>
          <a:p>
            <a:pPr marL="0" indent="0">
              <a:lnSpc>
                <a:spcPct val="115000"/>
              </a:lnSpc>
              <a:buNone/>
            </a:pPr>
            <a:r>
              <a:rPr lang="ko-KR" sz="1300" dirty="0">
                <a:solidFill>
                  <a:srgbClr val="F5F1E4"/>
                </a:solidFill>
                <a:latin typeface="Malgun Gothic" pitchFamily="34" charset="0"/>
                <a:ea typeface="Malgun Gothic" pitchFamily="34" charset="-122"/>
                <a:cs typeface="Malgun Gothic" pitchFamily="34" charset="-120"/>
              </a:rPr>
              <a:t xml:space="preserve">정답 여부가 아니라 확률로 선택 — '거북선' 같은 틀린 단어도 뽑힐 수 있음</a:t>
            </a:r>
            <a:endParaRPr lang="ko-KR" sz="1300" dirty="0"/>
          </a:p>
        </p:txBody>
      </p:sp>
      <p:sp>
        <p:nvSpPr>
          <p:cNvPr id="12" name="Shape 8"/>
          <p:cNvSpPr/>
          <p:nvPr/>
        </p:nvSpPr>
        <p:spPr>
          <a:xfrm>
            <a:off x="6355080" y="2743200"/>
            <a:ext cx="5330952" cy="1115568"/>
          </a:xfrm>
          <a:prstGeom prst="roundRect">
            <a:avLst>
              <a:gd name="adj" fmla="val 3169"/>
            </a:avLst>
          </a:prstGeom>
          <a:solidFill>
            <a:srgbClr val="232016"/>
          </a:solidFill>
          <a:ln w="12700">
            <a:solidFill>
              <a:srgbClr val="4A4430"/>
            </a:solidFill>
            <a:prstDash val="solid"/>
          </a:ln>
        </p:spPr>
      </p:sp>
      <p:sp>
        <p:nvSpPr>
          <p:cNvPr id="13" name="Text 9"/>
          <p:cNvSpPr txBox="1"/>
          <p:nvPr/>
        </p:nvSpPr>
        <p:spPr>
          <a:xfrm>
            <a:off x="6556248" y="2871216"/>
            <a:ext cx="640080" cy="365760"/>
          </a:xfrm>
          <a:prstGeom prst="rect">
            <a:avLst/>
          </a:prstGeom>
          <a:noFill/>
          <a:ln/>
        </p:spPr>
        <p:txBody>
          <a:bodyPr wrap="square" lIns="0" tIns="0" rIns="0" bIns="0" rtlCol="0" anchor="ctr"/>
          <a:lstStyle/>
          <a:p>
            <a:pPr marL="0" indent="0">
              <a:buNone/>
            </a:pPr>
            <a:r>
              <a:rPr lang="en-US" sz="1500" b="1" dirty="0">
                <a:solidFill>
                  <a:srgbClr val="FFD733"/>
                </a:solidFill>
                <a:latin typeface="Malgun Gothic" pitchFamily="34" charset="0"/>
                <a:ea typeface="Malgun Gothic" pitchFamily="34" charset="-122"/>
                <a:cs typeface="Malgun Gothic" pitchFamily="34" charset="-120"/>
              </a:rPr>
              <a:t>02</a:t>
            </a:r>
            <a:endParaRPr lang="en-US" sz="1500" dirty="0"/>
          </a:p>
        </p:txBody>
      </p:sp>
      <p:sp>
        <p:nvSpPr>
          <p:cNvPr id="14" name="Text 10"/>
          <p:cNvSpPr txBox="1"/>
          <p:nvPr/>
        </p:nvSpPr>
        <p:spPr>
          <a:xfrm>
            <a:off x="7132320" y="2871216"/>
            <a:ext cx="4325112" cy="365760"/>
          </a:xfrm>
          <a:prstGeom prst="rect">
            <a:avLst/>
          </a:prstGeom>
          <a:noFill/>
          <a:ln/>
        </p:spPr>
        <p:txBody>
          <a:bodyPr wrap="square" lIns="0" tIns="0" rIns="0" bIns="0" rtlCol="0" anchor="ctr"/>
          <a:lstStyle/>
          <a:p>
            <a:pPr marL="0" indent="0">
              <a:buNone/>
            </a:pPr>
            <a:r>
              <a:rPr lang="en-US" sz="1400" b="1" dirty="0">
                <a:solidFill>
                  <a:srgbClr val="FFFFFF"/>
                </a:solidFill>
                <a:latin typeface="Malgun Gothic" pitchFamily="34" charset="0"/>
                <a:ea typeface="Malgun Gothic" pitchFamily="34" charset="-122"/>
                <a:cs typeface="Malgun Gothic" pitchFamily="34" charset="-120"/>
              </a:rPr>
              <a:t>약한 패턴</a:t>
            </a:r>
            <a:endParaRPr lang="en-US" sz="1400" dirty="0"/>
          </a:p>
        </p:txBody>
      </p:sp>
      <p:sp>
        <p:nvSpPr>
          <p:cNvPr id="15" name="Text 11"/>
          <p:cNvSpPr txBox="1"/>
          <p:nvPr/>
        </p:nvSpPr>
        <p:spPr>
          <a:xfrm>
            <a:off x="6556248" y="3291840"/>
            <a:ext cx="4928616" cy="502920"/>
          </a:xfrm>
          <a:prstGeom prst="rect">
            <a:avLst/>
          </a:prstGeom>
          <a:noFill/>
          <a:ln/>
        </p:spPr>
        <p:txBody>
          <a:bodyPr wrap="square" lIns="0" tIns="0" rIns="0" bIns="0" rtlCol="0" anchor="t"/>
          <a:lstStyle/>
          <a:p>
            <a:pPr marL="0" indent="0">
              <a:lnSpc>
                <a:spcPct val="115000"/>
              </a:lnSpc>
              <a:buNone/>
            </a:pPr>
            <a:r>
              <a:rPr lang="en-US" sz="1300" dirty="0">
                <a:solidFill>
                  <a:srgbClr val="F5F1E4"/>
                </a:solidFill>
                <a:latin typeface="Malgun Gothic" pitchFamily="34" charset="0"/>
                <a:ea typeface="Malgun Gothic" pitchFamily="34" charset="-122"/>
                <a:cs typeface="Malgun Gothic" pitchFamily="34" charset="-120"/>
              </a:rPr>
              <a:t>드물거나 최신인 사실은 패턴이 약해 지어냄</a:t>
            </a:r>
            <a:endParaRPr lang="en-US" sz="1300" dirty="0"/>
          </a:p>
        </p:txBody>
      </p:sp>
      <p:sp>
        <p:nvSpPr>
          <p:cNvPr id="16" name="Shape 12"/>
          <p:cNvSpPr/>
          <p:nvPr/>
        </p:nvSpPr>
        <p:spPr>
          <a:xfrm>
            <a:off x="6355080" y="4005072"/>
            <a:ext cx="5330952" cy="1115568"/>
          </a:xfrm>
          <a:prstGeom prst="roundRect">
            <a:avLst>
              <a:gd name="adj" fmla="val 3169"/>
            </a:avLst>
          </a:prstGeom>
          <a:solidFill>
            <a:srgbClr val="232016"/>
          </a:solidFill>
          <a:ln w="12700">
            <a:solidFill>
              <a:srgbClr val="4A4430"/>
            </a:solidFill>
            <a:prstDash val="solid"/>
          </a:ln>
        </p:spPr>
      </p:sp>
      <p:sp>
        <p:nvSpPr>
          <p:cNvPr id="17" name="Text 13"/>
          <p:cNvSpPr txBox="1"/>
          <p:nvPr/>
        </p:nvSpPr>
        <p:spPr>
          <a:xfrm>
            <a:off x="6556248" y="4133088"/>
            <a:ext cx="640080" cy="365760"/>
          </a:xfrm>
          <a:prstGeom prst="rect">
            <a:avLst/>
          </a:prstGeom>
          <a:noFill/>
          <a:ln/>
        </p:spPr>
        <p:txBody>
          <a:bodyPr wrap="square" lIns="0" tIns="0" rIns="0" bIns="0" rtlCol="0" anchor="ctr"/>
          <a:lstStyle/>
          <a:p>
            <a:pPr marL="0" indent="0">
              <a:buNone/>
            </a:pPr>
            <a:r>
              <a:rPr lang="en-US" sz="1500" b="1" dirty="0">
                <a:solidFill>
                  <a:srgbClr val="FFD733"/>
                </a:solidFill>
                <a:latin typeface="Malgun Gothic" pitchFamily="34" charset="0"/>
                <a:ea typeface="Malgun Gothic" pitchFamily="34" charset="-122"/>
                <a:cs typeface="Malgun Gothic" pitchFamily="34" charset="-120"/>
              </a:rPr>
              <a:t>03</a:t>
            </a:r>
            <a:endParaRPr lang="en-US" sz="1500" dirty="0"/>
          </a:p>
        </p:txBody>
      </p:sp>
      <p:sp>
        <p:nvSpPr>
          <p:cNvPr id="18" name="Text 14"/>
          <p:cNvSpPr txBox="1"/>
          <p:nvPr/>
        </p:nvSpPr>
        <p:spPr>
          <a:xfrm>
            <a:off x="7132320" y="4133088"/>
            <a:ext cx="4325112" cy="365760"/>
          </a:xfrm>
          <a:prstGeom prst="rect">
            <a:avLst/>
          </a:prstGeom>
          <a:noFill/>
          <a:ln/>
        </p:spPr>
        <p:txBody>
          <a:bodyPr wrap="square" lIns="0" tIns="0" rIns="0" bIns="0" rtlCol="0" anchor="ctr"/>
          <a:lstStyle/>
          <a:p>
            <a:pPr marL="0" indent="0">
              <a:buNone/>
            </a:pPr>
            <a:r>
              <a:rPr lang="en-US" sz="1400" b="1" dirty="0">
                <a:solidFill>
                  <a:srgbClr val="FFFFFF"/>
                </a:solidFill>
                <a:latin typeface="Malgun Gothic" pitchFamily="34" charset="0"/>
                <a:ea typeface="Malgun Gothic" pitchFamily="34" charset="-122"/>
                <a:cs typeface="Malgun Gothic" pitchFamily="34" charset="-120"/>
              </a:rPr>
              <a:t>빈칸 불가</a:t>
            </a:r>
            <a:endParaRPr lang="en-US" sz="1400" dirty="0"/>
          </a:p>
        </p:txBody>
      </p:sp>
      <p:sp>
        <p:nvSpPr>
          <p:cNvPr id="19" name="Text 15"/>
          <p:cNvSpPr txBox="1"/>
          <p:nvPr/>
        </p:nvSpPr>
        <p:spPr>
          <a:xfrm>
            <a:off x="6556248" y="4553712"/>
            <a:ext cx="4928616" cy="502920"/>
          </a:xfrm>
          <a:prstGeom prst="rect">
            <a:avLst/>
          </a:prstGeom>
          <a:noFill/>
          <a:ln/>
        </p:spPr>
        <p:txBody>
          <a:bodyPr wrap="square" lIns="0" tIns="0" rIns="0" bIns="0" rtlCol="0" anchor="t"/>
          <a:lstStyle/>
          <a:p>
            <a:pPr marL="0" indent="0">
              <a:lnSpc>
                <a:spcPct val="115000"/>
              </a:lnSpc>
              <a:buNone/>
            </a:pPr>
            <a:r>
              <a:rPr lang="en-US" sz="1300" dirty="0">
                <a:solidFill>
                  <a:srgbClr val="F5F1E4"/>
                </a:solidFill>
                <a:latin typeface="Malgun Gothic" pitchFamily="34" charset="0"/>
                <a:ea typeface="Malgun Gothic" pitchFamily="34" charset="-122"/>
                <a:cs typeface="Malgun Gothic" pitchFamily="34" charset="-120"/>
              </a:rPr>
              <a:t>'빈칸으로 두기'라는 선택지가 모델엔 없음</a:t>
            </a:r>
            <a:endParaRPr lang="en-US" sz="1300" dirty="0"/>
          </a:p>
        </p:txBody>
      </p:sp>
      <p:sp>
        <p:nvSpPr>
          <p:cNvPr id="20" name="Shape 16"/>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21" name="Text 17"/>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이 단순한 원리에서 세 가지 환각이 발생</a:t>
            </a:r>
            <a:endParaRPr lang="en-US" sz="1350" dirty="0"/>
          </a:p>
        </p:txBody>
      </p:sp>
      <p:sp>
        <p:nvSpPr>
          <p:cNvPr id="22" name="Note search"/>
          <p:cNvSpPr txBox="1"/>
          <p:nvPr/>
        </p:nvSpPr>
        <p:spPr>
          <a:xfrm>
            <a:off x="6355080" y="5212080"/>
            <a:ext cx="5330952" cy="457200"/>
          </a:xfrm>
          <a:prstGeom prst="rect">
            <a:avLst/>
          </a:prstGeom>
          <a:noFill/>
          <a:ln/>
        </p:spPr>
        <p:txBody>
          <a:bodyPr wrap="square" lIns="0" tIns="0" rIns="0" bIns="0" rtlCol="0" anchor="t"/>
          <a:lstStyle/>
          <a:p>
            <a:pPr marL="0" indent="0">
              <a:lnSpc>
                <a:spcPct val="118000"/>
              </a:lnSpc>
              <a:buNone/>
            </a:pPr>
            <a:r>
              <a:rPr lang="ko-KR" sz="1200" dirty="0">
                <a:solidFill>
                  <a:srgbClr val="D4CEC0"/>
                </a:solidFill>
                <a:latin typeface="Malgun Gothic" pitchFamily="34" charset="0"/>
                <a:ea typeface="Malgun Gothic" pitchFamily="34" charset="-122"/>
                <a:cs typeface="Malgun Gothic" pitchFamily="34" charset="-120"/>
              </a:rPr>
              <a:t xml:space="preserve">※ 앱의 웹 검색은 모델 위에 붙인 도구 — 찾은 자료를 근거로 넣어 줄 뿐, 모델 자체는 여전히 '생성'</a:t>
            </a:r>
            <a:endParaRPr lang="ko-KR"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LLM 학습은 '맞히기' 중심으로 보상 — '모른다'는 점수를 받기 어려운 구조</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ko-KR" sz="1350" dirty="0">
                <a:solidFill>
                  <a:srgbClr val="F5F1E4"/>
                </a:solidFill>
                <a:latin typeface="Malgun Gothic" pitchFamily="34" charset="0"/>
                <a:ea typeface="Malgun Gothic" pitchFamily="34" charset="-122"/>
                <a:cs typeface="Malgun Gothic" pitchFamily="34" charset="-120"/>
              </a:rPr>
              <a:t xml:space="preserve">4단계 모두 정답·선호 답 중심으로 보상 — 정답만 채점하면 빈칸 0점 시험의 학생처럼 '찍기'가 유리 (OpenAI, 2025.9)</a:t>
            </a:r>
            <a:endParaRPr lang="ko-KR" sz="1350" dirty="0"/>
          </a:p>
        </p:txBody>
      </p:sp>
      <p:sp>
        <p:nvSpPr>
          <p:cNvPr id="5" name="Shape 2"/>
          <p:cNvSpPr/>
          <p:nvPr/>
        </p:nvSpPr>
        <p:spPr>
          <a:xfrm>
            <a:off x="502920" y="1481328"/>
            <a:ext cx="2590038" cy="4114800"/>
          </a:xfrm>
          <a:prstGeom prst="roundRect">
            <a:avLst>
              <a:gd name="adj" fmla="val 1589"/>
            </a:avLst>
          </a:prstGeom>
          <a:solidFill>
            <a:srgbClr val="232016"/>
          </a:solidFill>
          <a:ln w="12700">
            <a:solidFill>
              <a:srgbClr val="4A4430"/>
            </a:solidFill>
            <a:prstDash val="solid"/>
          </a:ln>
        </p:spPr>
      </p:sp>
      <p:sp>
        <p:nvSpPr>
          <p:cNvPr id="6" name="Text 3"/>
          <p:cNvSpPr txBox="1"/>
          <p:nvPr/>
        </p:nvSpPr>
        <p:spPr>
          <a:xfrm>
            <a:off x="667512" y="1645920"/>
            <a:ext cx="2260854" cy="384048"/>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① 사전학습</a:t>
            </a:r>
            <a:endParaRPr lang="en-US" sz="1400" dirty="0"/>
          </a:p>
        </p:txBody>
      </p:sp>
      <p:sp>
        <p:nvSpPr>
          <p:cNvPr id="7" name="Text 4"/>
          <p:cNvSpPr txBox="1"/>
          <p:nvPr/>
        </p:nvSpPr>
        <p:spPr>
          <a:xfrm>
            <a:off x="667512" y="2121408"/>
            <a:ext cx="2260854" cy="1097280"/>
          </a:xfrm>
          <a:prstGeom prst="rect">
            <a:avLst/>
          </a:prstGeom>
          <a:noFill/>
          <a:ln/>
        </p:spPr>
        <p:txBody>
          <a:bodyPr wrap="square" lIns="0" tIns="0" rIns="0" bIns="0" rtlCol="0" anchor="t"/>
          <a:lstStyle/>
          <a:p>
            <a:pPr marL="0" indent="0">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예측 확률 높이기</a:t>
            </a:r>
            <a:endParaRPr lang="en-US" sz="1350" dirty="0"/>
          </a:p>
        </p:txBody>
      </p:sp>
      <p:sp>
        <p:nvSpPr>
          <p:cNvPr id="8" name="Text 5"/>
          <p:cNvSpPr txBox="1"/>
          <p:nvPr/>
        </p:nvSpPr>
        <p:spPr>
          <a:xfrm>
            <a:off x="667512" y="3310128"/>
            <a:ext cx="2260854" cy="2103120"/>
          </a:xfrm>
          <a:prstGeom prst="rect">
            <a:avLst/>
          </a:prstGeom>
          <a:noFill/>
          <a:ln/>
        </p:spPr>
        <p:txBody>
          <a:bodyPr wrap="square" lIns="0" tIns="0" rIns="0" bIns="0" rtlCol="0" anchor="t"/>
          <a:lstStyle/>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인터넷·책·논문으로 '다음 단어 맞히기'를 수조 번 반복</a:t>
            </a:r>
            <a:endParaRPr lang="en-US" sz="1300" dirty="0"/>
          </a:p>
        </p:txBody>
      </p:sp>
      <p:sp>
        <p:nvSpPr>
          <p:cNvPr id="9" name="Shape 6"/>
          <p:cNvSpPr/>
          <p:nvPr/>
        </p:nvSpPr>
        <p:spPr>
          <a:xfrm>
            <a:off x="3367278" y="1481328"/>
            <a:ext cx="2590038" cy="4114800"/>
          </a:xfrm>
          <a:prstGeom prst="roundRect">
            <a:avLst>
              <a:gd name="adj" fmla="val 1589"/>
            </a:avLst>
          </a:prstGeom>
          <a:solidFill>
            <a:srgbClr val="232016"/>
          </a:solidFill>
          <a:ln w="12700">
            <a:solidFill>
              <a:srgbClr val="4A4430"/>
            </a:solidFill>
            <a:prstDash val="solid"/>
          </a:ln>
        </p:spPr>
      </p:sp>
      <p:sp>
        <p:nvSpPr>
          <p:cNvPr id="10" name="Text 7"/>
          <p:cNvSpPr txBox="1"/>
          <p:nvPr/>
        </p:nvSpPr>
        <p:spPr>
          <a:xfrm>
            <a:off x="3531870" y="1645920"/>
            <a:ext cx="2260854" cy="384048"/>
          </a:xfrm>
          <a:prstGeom prst="rect">
            <a:avLst/>
          </a:prstGeom>
          <a:noFill/>
          <a:ln/>
        </p:spPr>
        <p:txBody>
          <a:bodyPr wrap="square" lIns="0" tIns="0" rIns="0" bIns="0" rtlCol="0" anchor="ctr"/>
          <a:lstStyle/>
          <a:p>
            <a:pPr marL="0" indent="0">
              <a:buNone/>
            </a:pPr>
            <a:r>
              <a:rPr lang="ko-KR" sz="1400" b="1" dirty="0">
                <a:solidFill>
                  <a:srgbClr val="FFD733"/>
                </a:solidFill>
                <a:latin typeface="Malgun Gothic" pitchFamily="34" charset="0"/>
                <a:ea typeface="Malgun Gothic" pitchFamily="34" charset="-122"/>
                <a:cs typeface="Malgun Gothic" pitchFamily="34" charset="-120"/>
              </a:rPr>
              <a:t xml:space="preserve">② 지도학습(SFT)</a:t>
            </a:r>
            <a:endParaRPr lang="ko-KR" sz="1400" dirty="0"/>
          </a:p>
        </p:txBody>
      </p:sp>
      <p:sp>
        <p:nvSpPr>
          <p:cNvPr id="11" name="Text 8"/>
          <p:cNvSpPr txBox="1"/>
          <p:nvPr/>
        </p:nvSpPr>
        <p:spPr>
          <a:xfrm>
            <a:off x="3531870" y="2121408"/>
            <a:ext cx="2260854" cy="1097280"/>
          </a:xfrm>
          <a:prstGeom prst="rect">
            <a:avLst/>
          </a:prstGeom>
          <a:noFill/>
          <a:ln/>
        </p:spPr>
        <p:txBody>
          <a:bodyPr wrap="square" lIns="0" tIns="0" rIns="0" bIns="0" rtlCol="0" anchor="t"/>
          <a:lstStyle/>
          <a:p>
            <a:pPr marL="0" indent="0">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지식의 한계선 학습 못함</a:t>
            </a:r>
            <a:endParaRPr lang="en-US" sz="1350" dirty="0"/>
          </a:p>
        </p:txBody>
      </p:sp>
      <p:sp>
        <p:nvSpPr>
          <p:cNvPr id="12" name="Text 9"/>
          <p:cNvSpPr txBox="1"/>
          <p:nvPr/>
        </p:nvSpPr>
        <p:spPr>
          <a:xfrm>
            <a:off x="3531870" y="3310128"/>
            <a:ext cx="2260854" cy="2103120"/>
          </a:xfrm>
          <a:prstGeom prst="rect">
            <a:avLst/>
          </a:prstGeom>
          <a:noFill/>
          <a:ln/>
        </p:spPr>
        <p:txBody>
          <a:bodyPr wrap="square" lIns="0" tIns="0" rIns="0" bIns="0" rtlCol="0" anchor="t"/>
          <a:lstStyle/>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사람이 쓴 모범 답안을 따라함. 모범 답안은 늘 자신 있게 답하는 형태라 '내가 모른다'가 없음</a:t>
            </a:r>
            <a:endParaRPr lang="en-US" sz="1300" dirty="0"/>
          </a:p>
        </p:txBody>
      </p:sp>
      <p:sp>
        <p:nvSpPr>
          <p:cNvPr id="13" name="Shape 10"/>
          <p:cNvSpPr/>
          <p:nvPr/>
        </p:nvSpPr>
        <p:spPr>
          <a:xfrm>
            <a:off x="6231636" y="1481328"/>
            <a:ext cx="2590038" cy="4114800"/>
          </a:xfrm>
          <a:prstGeom prst="roundRect">
            <a:avLst>
              <a:gd name="adj" fmla="val 1589"/>
            </a:avLst>
          </a:prstGeom>
          <a:solidFill>
            <a:srgbClr val="232016"/>
          </a:solidFill>
          <a:ln w="12700">
            <a:solidFill>
              <a:srgbClr val="4A4430"/>
            </a:solidFill>
            <a:prstDash val="solid"/>
          </a:ln>
        </p:spPr>
      </p:sp>
      <p:sp>
        <p:nvSpPr>
          <p:cNvPr id="14" name="Text 11"/>
          <p:cNvSpPr txBox="1"/>
          <p:nvPr/>
        </p:nvSpPr>
        <p:spPr>
          <a:xfrm>
            <a:off x="6396228" y="1645920"/>
            <a:ext cx="2260854" cy="384048"/>
          </a:xfrm>
          <a:prstGeom prst="rect">
            <a:avLst/>
          </a:prstGeom>
          <a:noFill/>
          <a:ln/>
        </p:spPr>
        <p:txBody>
          <a:bodyPr wrap="square" lIns="0" tIns="0" rIns="0" bIns="0" rtlCol="0" anchor="ctr"/>
          <a:lstStyle/>
          <a:p>
            <a:pPr marL="0" indent="0">
              <a:buNone/>
            </a:pPr>
            <a:r>
              <a:rPr lang="ko-KR" sz="1400" b="1" dirty="0">
                <a:solidFill>
                  <a:srgbClr val="FFD733"/>
                </a:solidFill>
                <a:latin typeface="Malgun Gothic" pitchFamily="34" charset="0"/>
                <a:ea typeface="Malgun Gothic" pitchFamily="34" charset="-122"/>
                <a:cs typeface="Malgun Gothic" pitchFamily="34" charset="-120"/>
              </a:rPr>
              <a:t xml:space="preserve">③ 인간 피드백(RLHF)</a:t>
            </a:r>
            <a:endParaRPr lang="ko-KR" sz="1400" dirty="0"/>
          </a:p>
        </p:txBody>
      </p:sp>
      <p:sp>
        <p:nvSpPr>
          <p:cNvPr id="15" name="Text 12"/>
          <p:cNvSpPr txBox="1"/>
          <p:nvPr/>
        </p:nvSpPr>
        <p:spPr>
          <a:xfrm>
            <a:off x="6396228" y="2121408"/>
            <a:ext cx="2260854" cy="1097280"/>
          </a:xfrm>
          <a:prstGeom prst="rect">
            <a:avLst/>
          </a:prstGeom>
          <a:noFill/>
          <a:ln/>
        </p:spPr>
        <p:txBody>
          <a:bodyPr wrap="square" lIns="0" tIns="0" rIns="0" bIns="0" rtlCol="0" anchor="t"/>
          <a:lstStyle/>
          <a:p>
            <a:pPr marL="0" indent="0">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당당한 어조에 더 높은 보상</a:t>
            </a:r>
            <a:endParaRPr lang="en-US" sz="1350" dirty="0"/>
          </a:p>
        </p:txBody>
      </p:sp>
      <p:sp>
        <p:nvSpPr>
          <p:cNvPr id="16" name="Text 13"/>
          <p:cNvSpPr txBox="1"/>
          <p:nvPr/>
        </p:nvSpPr>
        <p:spPr>
          <a:xfrm>
            <a:off x="6396228" y="3310128"/>
            <a:ext cx="2260854" cy="2103120"/>
          </a:xfrm>
          <a:prstGeom prst="rect">
            <a:avLst/>
          </a:prstGeom>
          <a:noFill/>
          <a:ln/>
        </p:spPr>
        <p:txBody>
          <a:bodyPr wrap="square" lIns="0" tIns="0" rIns="0" bIns="0" rtlCol="0" anchor="t"/>
          <a:lstStyle/>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사람이 더 좋아하는 답에 보상. 사람은 단정적이고 그럴듯한 답을 선호</a:t>
            </a:r>
            <a:endParaRPr lang="en-US" sz="1300" dirty="0"/>
          </a:p>
        </p:txBody>
      </p:sp>
      <p:sp>
        <p:nvSpPr>
          <p:cNvPr id="17" name="Shape 14"/>
          <p:cNvSpPr/>
          <p:nvPr/>
        </p:nvSpPr>
        <p:spPr>
          <a:xfrm>
            <a:off x="9095994" y="1481328"/>
            <a:ext cx="2590038" cy="4114800"/>
          </a:xfrm>
          <a:prstGeom prst="roundRect">
            <a:avLst>
              <a:gd name="adj" fmla="val 1589"/>
            </a:avLst>
          </a:prstGeom>
          <a:solidFill>
            <a:srgbClr val="232016"/>
          </a:solidFill>
          <a:ln w="12700">
            <a:solidFill>
              <a:srgbClr val="4A4430"/>
            </a:solidFill>
            <a:prstDash val="solid"/>
          </a:ln>
        </p:spPr>
      </p:sp>
      <p:sp>
        <p:nvSpPr>
          <p:cNvPr id="18" name="Text 15"/>
          <p:cNvSpPr txBox="1"/>
          <p:nvPr/>
        </p:nvSpPr>
        <p:spPr>
          <a:xfrm>
            <a:off x="9260586" y="1645920"/>
            <a:ext cx="2260854" cy="384048"/>
          </a:xfrm>
          <a:prstGeom prst="rect">
            <a:avLst/>
          </a:prstGeom>
          <a:noFill/>
          <a:ln/>
        </p:spPr>
        <p:txBody>
          <a:bodyPr wrap="square" lIns="0" tIns="0" rIns="0" bIns="0" rtlCol="0" anchor="ctr"/>
          <a:lstStyle/>
          <a:p>
            <a:pPr marL="0" indent="0">
              <a:buNone/>
            </a:pPr>
            <a:r>
              <a:rPr lang="ko-KR" sz="1400" b="1" dirty="0">
                <a:solidFill>
                  <a:srgbClr val="FFD733"/>
                </a:solidFill>
                <a:latin typeface="Malgun Gothic" pitchFamily="34" charset="0"/>
                <a:ea typeface="Malgun Gothic" pitchFamily="34" charset="-122"/>
                <a:cs typeface="Malgun Gothic" pitchFamily="34" charset="-120"/>
              </a:rPr>
              <a:t xml:space="preserve">④ 검증 가능 보상(RLVR)</a:t>
            </a:r>
            <a:endParaRPr lang="ko-KR" sz="1400" dirty="0"/>
          </a:p>
        </p:txBody>
      </p:sp>
      <p:sp>
        <p:nvSpPr>
          <p:cNvPr id="19" name="Text 16"/>
          <p:cNvSpPr txBox="1"/>
          <p:nvPr/>
        </p:nvSpPr>
        <p:spPr>
          <a:xfrm>
            <a:off x="9260586" y="2121408"/>
            <a:ext cx="2260854" cy="1097280"/>
          </a:xfrm>
          <a:prstGeom prst="rect">
            <a:avLst/>
          </a:prstGeom>
          <a:noFill/>
          <a:ln/>
        </p:spPr>
        <p:txBody>
          <a:bodyPr wrap="square" lIns="0" tIns="0" rIns="0" bIns="0" rtlCol="0" anchor="t"/>
          <a:lstStyle/>
          <a:p>
            <a:pPr marL="0" indent="0">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'정답 맞히기'만 보상, '모른다'는 보상 없음</a:t>
            </a:r>
            <a:endParaRPr lang="en-US" sz="1350" dirty="0"/>
          </a:p>
        </p:txBody>
      </p:sp>
      <p:sp>
        <p:nvSpPr>
          <p:cNvPr id="20" name="Text 17"/>
          <p:cNvSpPr txBox="1"/>
          <p:nvPr/>
        </p:nvSpPr>
        <p:spPr>
          <a:xfrm>
            <a:off x="9260586" y="3310128"/>
            <a:ext cx="2260854" cy="2103120"/>
          </a:xfrm>
          <a:prstGeom prst="rect">
            <a:avLst/>
          </a:prstGeom>
          <a:noFill/>
          <a:ln/>
        </p:spPr>
        <p:txBody>
          <a:bodyPr wrap="square" lIns="0" tIns="0" rIns="0" bIns="0" rtlCol="0" anchor="t"/>
          <a:lstStyle/>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수학·코드처럼 자동 채점되는 문제에서 정답에만 보상</a:t>
            </a:r>
            <a:endParaRPr lang="en-US" sz="1300" dirty="0"/>
          </a:p>
        </p:txBody>
      </p:sp>
      <p:sp>
        <p:nvSpPr>
          <p:cNvPr id="21" name="Shape 18"/>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22" name="Text 19"/>
          <p:cNvSpPr txBox="1"/>
          <p:nvPr/>
        </p:nvSpPr>
        <p:spPr>
          <a:xfrm>
            <a:off x="758952" y="5779008"/>
            <a:ext cx="10671048" cy="566928"/>
          </a:xfrm>
          <a:prstGeom prst="rect">
            <a:avLst/>
          </a:prstGeom>
          <a:noFill/>
          <a:ln/>
        </p:spPr>
        <p:txBody>
          <a:bodyPr wrap="square" lIns="0" tIns="0" rIns="0" bIns="0" rtlCol="0" anchor="ctr"/>
          <a:lstStyle/>
          <a:p>
            <a:pPr marL="0" indent="0">
              <a:buNone/>
            </a:pPr>
            <a:r>
              <a:rPr lang="ko-KR" sz="1350" b="1" dirty="0">
                <a:solidFill>
                  <a:srgbClr val="FFDF57"/>
                </a:solidFill>
                <a:latin typeface="Malgun Gothic" pitchFamily="34" charset="0"/>
                <a:ea typeface="Malgun Gothic" pitchFamily="34" charset="-122"/>
                <a:cs typeface="Malgun Gothic" pitchFamily="34" charset="-120"/>
              </a:rPr>
              <a:t xml:space="preserve">환각은 지능이 아니라 인센티브의 문제 — 채점 규칙을 바꾸면 감소 (AI 개발사는 학습·평가로, 사용자는 프롬프트로)</a:t>
            </a:r>
            <a:endParaRPr lang="ko-KR"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en-US" sz="2100" b="1" dirty="0">
                <a:solidFill>
                  <a:srgbClr val="FFDF57"/>
                </a:solidFill>
                <a:latin typeface="Malgun Gothic" pitchFamily="34" charset="0"/>
                <a:ea typeface="Malgun Gothic" pitchFamily="34" charset="-122"/>
                <a:cs typeface="Malgun Gothic" pitchFamily="34" charset="-120"/>
              </a:rPr>
              <a:t>환각의 세 가지 카테고리</a:t>
            </a:r>
            <a:endParaRPr lang="en-US"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en-US" sz="1350" dirty="0">
                <a:solidFill>
                  <a:srgbClr val="F5F1E4"/>
                </a:solidFill>
                <a:latin typeface="Malgun Gothic" pitchFamily="34" charset="0"/>
                <a:ea typeface="Malgun Gothic" pitchFamily="34" charset="-122"/>
                <a:cs typeface="Malgun Gothic" pitchFamily="34" charset="-120"/>
              </a:rPr>
              <a:t>사실 날조 · 출처 날조 · 맥락 이탈</a:t>
            </a:r>
            <a:endParaRPr lang="en-US" sz="1350" dirty="0"/>
          </a:p>
        </p:txBody>
      </p:sp>
      <p:sp>
        <p:nvSpPr>
          <p:cNvPr id="5" name="Shape 2"/>
          <p:cNvSpPr/>
          <p:nvPr/>
        </p:nvSpPr>
        <p:spPr>
          <a:xfrm>
            <a:off x="502920" y="1481328"/>
            <a:ext cx="3544824" cy="4114800"/>
          </a:xfrm>
          <a:prstGeom prst="roundRect">
            <a:avLst>
              <a:gd name="adj" fmla="val 1161"/>
            </a:avLst>
          </a:prstGeom>
          <a:solidFill>
            <a:srgbClr val="232016"/>
          </a:solidFill>
          <a:ln w="12700">
            <a:solidFill>
              <a:srgbClr val="4A4430"/>
            </a:solidFill>
            <a:prstDash val="solid"/>
          </a:ln>
        </p:spPr>
      </p:sp>
      <p:sp>
        <p:nvSpPr>
          <p:cNvPr id="6" name="Text 3"/>
          <p:cNvSpPr txBox="1"/>
          <p:nvPr/>
        </p:nvSpPr>
        <p:spPr>
          <a:xfrm>
            <a:off x="704088" y="1645920"/>
            <a:ext cx="3142488" cy="384048"/>
          </a:xfrm>
          <a:prstGeom prst="rect">
            <a:avLst/>
          </a:prstGeom>
          <a:noFill/>
          <a:ln/>
        </p:spPr>
        <p:txBody>
          <a:bodyPr wrap="square" lIns="0" tIns="0" rIns="0" bIns="0" rtlCol="0" anchor="ctr"/>
          <a:lstStyle/>
          <a:p>
            <a:pPr marL="0" indent="0">
              <a:buNone/>
            </a:pPr>
            <a:r>
              <a:rPr lang="en-US" sz="1600" b="1" dirty="0">
                <a:solidFill>
                  <a:srgbClr val="FFFFFF"/>
                </a:solidFill>
                <a:latin typeface="Malgun Gothic" pitchFamily="34" charset="0"/>
                <a:ea typeface="Malgun Gothic" pitchFamily="34" charset="-122"/>
                <a:cs typeface="Malgun Gothic" pitchFamily="34" charset="-120"/>
              </a:rPr>
              <a:t>사실 날조</a:t>
            </a:r>
            <a:endParaRPr lang="en-US" sz="1600" dirty="0"/>
          </a:p>
        </p:txBody>
      </p:sp>
      <p:sp>
        <p:nvSpPr>
          <p:cNvPr id="7" name="Text 4"/>
          <p:cNvSpPr txBox="1"/>
          <p:nvPr/>
        </p:nvSpPr>
        <p:spPr>
          <a:xfrm>
            <a:off x="704088" y="2048256"/>
            <a:ext cx="3142488" cy="329184"/>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Factual Fabrication</a:t>
            </a:r>
            <a:endParaRPr lang="en-US" sz="1300" dirty="0"/>
          </a:p>
        </p:txBody>
      </p:sp>
      <p:sp>
        <p:nvSpPr>
          <p:cNvPr id="8" name="Shape 5"/>
          <p:cNvSpPr/>
          <p:nvPr/>
        </p:nvSpPr>
        <p:spPr>
          <a:xfrm>
            <a:off x="704088" y="2523744"/>
            <a:ext cx="3142488" cy="1371600"/>
          </a:xfrm>
          <a:prstGeom prst="roundRect">
            <a:avLst>
              <a:gd name="adj" fmla="val 3000"/>
            </a:avLst>
          </a:prstGeom>
          <a:solidFill>
            <a:srgbClr val="1A1810"/>
          </a:solidFill>
          <a:ln w="12700">
            <a:solidFill>
              <a:srgbClr val="4A4430"/>
            </a:solidFill>
            <a:prstDash val="solid"/>
          </a:ln>
        </p:spPr>
      </p:sp>
      <p:sp>
        <p:nvSpPr>
          <p:cNvPr id="9" name="Text 6"/>
          <p:cNvSpPr txBox="1"/>
          <p:nvPr/>
        </p:nvSpPr>
        <p:spPr>
          <a:xfrm>
            <a:off x="868680" y="2651760"/>
            <a:ext cx="2813304" cy="1133856"/>
          </a:xfrm>
          <a:prstGeom prst="rect">
            <a:avLst/>
          </a:prstGeom>
          <a:noFill/>
          <a:ln/>
        </p:spPr>
        <p:txBody>
          <a:bodyPr wrap="square" lIns="0" tIns="0" rIns="0" bIns="0" rtlCol="0" anchor="t"/>
          <a:lstStyle/>
          <a:p>
            <a:pPr marL="0" indent="0">
              <a:lnSpc>
                <a:spcPct val="120000"/>
              </a:lnSpc>
              <a:buNone/>
            </a:pPr>
            <a:r>
              <a:rPr lang="en-US" sz="1300" dirty="0">
                <a:solidFill>
                  <a:srgbClr val="D4CEC0"/>
                </a:solidFill>
                <a:latin typeface="Malgun Gothic" pitchFamily="34" charset="0"/>
                <a:ea typeface="Malgun Gothic" pitchFamily="34" charset="-122"/>
                <a:cs typeface="Malgun Gothic" pitchFamily="34" charset="-120"/>
              </a:rPr>
              <a:t>“2023년 KISTI 노벨상 수상”</a:t>
            </a:r>
            <a:endParaRPr lang="en-US" sz="1300" dirty="0"/>
          </a:p>
          <a:p>
            <a:pPr marL="0" indent="0">
              <a:lnSpc>
                <a:spcPct val="120000"/>
              </a:lnSpc>
              <a:buNone/>
            </a:pPr>
            <a:r>
              <a:rPr lang="en-US" sz="1300" dirty="0">
                <a:solidFill>
                  <a:srgbClr val="D4CEC0"/>
                </a:solidFill>
                <a:latin typeface="Malgun Gothic" pitchFamily="34" charset="0"/>
                <a:ea typeface="Malgun Gothic" pitchFamily="34" charset="-122"/>
                <a:cs typeface="Malgun Gothic" pitchFamily="34" charset="-120"/>
              </a:rPr>
              <a:t>“슈퍼컴 정확히 1,247대”</a:t>
            </a:r>
            <a:endParaRPr lang="en-US" sz="1300" dirty="0"/>
          </a:p>
        </p:txBody>
      </p:sp>
      <p:sp>
        <p:nvSpPr>
          <p:cNvPr id="10" name="Text 7"/>
          <p:cNvSpPr txBox="1"/>
          <p:nvPr/>
        </p:nvSpPr>
        <p:spPr>
          <a:xfrm>
            <a:off x="704088" y="4059936"/>
            <a:ext cx="3142488" cy="1371600"/>
          </a:xfrm>
          <a:prstGeom prst="rect">
            <a:avLst/>
          </a:prstGeom>
          <a:noFill/>
          <a:ln/>
        </p:spPr>
        <p:txBody>
          <a:bodyPr wrap="square" lIns="0" tIns="0" rIns="0" bIns="0" rtlCol="0" anchor="t"/>
          <a:lstStyle/>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없는 통계·사건·인물을 그럴듯하게 만들어냄</a:t>
            </a:r>
            <a:endParaRPr lang="en-US" sz="1300" dirty="0"/>
          </a:p>
        </p:txBody>
      </p:sp>
      <p:sp>
        <p:nvSpPr>
          <p:cNvPr id="11" name="Shape 8"/>
          <p:cNvSpPr/>
          <p:nvPr/>
        </p:nvSpPr>
        <p:spPr>
          <a:xfrm>
            <a:off x="4322064" y="1481328"/>
            <a:ext cx="3544824" cy="4114800"/>
          </a:xfrm>
          <a:prstGeom prst="roundRect">
            <a:avLst>
              <a:gd name="adj" fmla="val 1161"/>
            </a:avLst>
          </a:prstGeom>
          <a:solidFill>
            <a:srgbClr val="232016"/>
          </a:solidFill>
          <a:ln w="12700">
            <a:solidFill>
              <a:srgbClr val="4A4430"/>
            </a:solidFill>
            <a:prstDash val="solid"/>
          </a:ln>
        </p:spPr>
      </p:sp>
      <p:sp>
        <p:nvSpPr>
          <p:cNvPr id="12" name="Text 9"/>
          <p:cNvSpPr txBox="1"/>
          <p:nvPr/>
        </p:nvSpPr>
        <p:spPr>
          <a:xfrm>
            <a:off x="4523232" y="1645920"/>
            <a:ext cx="3142488" cy="384048"/>
          </a:xfrm>
          <a:prstGeom prst="rect">
            <a:avLst/>
          </a:prstGeom>
          <a:noFill/>
          <a:ln/>
        </p:spPr>
        <p:txBody>
          <a:bodyPr wrap="square" lIns="0" tIns="0" rIns="0" bIns="0" rtlCol="0" anchor="ctr"/>
          <a:lstStyle/>
          <a:p>
            <a:pPr marL="0" indent="0">
              <a:buNone/>
            </a:pPr>
            <a:r>
              <a:rPr lang="en-US" sz="1600" b="1" dirty="0">
                <a:solidFill>
                  <a:srgbClr val="FF9B8A"/>
                </a:solidFill>
                <a:latin typeface="Malgun Gothic" pitchFamily="34" charset="0"/>
                <a:ea typeface="Malgun Gothic" pitchFamily="34" charset="-122"/>
                <a:cs typeface="Malgun Gothic" pitchFamily="34" charset="-120"/>
              </a:rPr>
              <a:t>출처 날조</a:t>
            </a:r>
            <a:endParaRPr lang="en-US" sz="1600" dirty="0"/>
          </a:p>
        </p:txBody>
      </p:sp>
      <p:sp>
        <p:nvSpPr>
          <p:cNvPr id="13" name="Text 10"/>
          <p:cNvSpPr txBox="1"/>
          <p:nvPr/>
        </p:nvSpPr>
        <p:spPr>
          <a:xfrm>
            <a:off x="4523232" y="2048256"/>
            <a:ext cx="3142488" cy="329184"/>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Citation · 가장 위험</a:t>
            </a:r>
            <a:endParaRPr lang="en-US" sz="1300" dirty="0"/>
          </a:p>
        </p:txBody>
      </p:sp>
      <p:sp>
        <p:nvSpPr>
          <p:cNvPr id="14" name="Shape 11"/>
          <p:cNvSpPr/>
          <p:nvPr/>
        </p:nvSpPr>
        <p:spPr>
          <a:xfrm>
            <a:off x="4523232" y="2523744"/>
            <a:ext cx="3142488" cy="1371600"/>
          </a:xfrm>
          <a:prstGeom prst="roundRect">
            <a:avLst>
              <a:gd name="adj" fmla="val 3000"/>
            </a:avLst>
          </a:prstGeom>
          <a:solidFill>
            <a:srgbClr val="1A1810"/>
          </a:solidFill>
          <a:ln w="12700">
            <a:solidFill>
              <a:srgbClr val="4A4430"/>
            </a:solidFill>
            <a:prstDash val="solid"/>
          </a:ln>
        </p:spPr>
      </p:sp>
      <p:sp>
        <p:nvSpPr>
          <p:cNvPr id="15" name="Text 12"/>
          <p:cNvSpPr txBox="1"/>
          <p:nvPr/>
        </p:nvSpPr>
        <p:spPr>
          <a:xfrm>
            <a:off x="4687824" y="2651760"/>
            <a:ext cx="2813304" cy="1133856"/>
          </a:xfrm>
          <a:prstGeom prst="rect">
            <a:avLst/>
          </a:prstGeom>
          <a:noFill/>
          <a:ln/>
        </p:spPr>
        <p:txBody>
          <a:bodyPr wrap="square" lIns="0" tIns="0" rIns="0" bIns="0" rtlCol="0" anchor="t"/>
          <a:lstStyle/>
          <a:p>
            <a:pPr marL="0" indent="0">
              <a:lnSpc>
                <a:spcPct val="120000"/>
              </a:lnSpc>
              <a:buNone/>
            </a:pPr>
            <a:r>
              <a:rPr lang="en-US" sz="1300" dirty="0">
                <a:solidFill>
                  <a:srgbClr val="D4CEC0"/>
                </a:solidFill>
                <a:latin typeface="Malgun Gothic" pitchFamily="34" charset="0"/>
                <a:ea typeface="Malgun Gothic" pitchFamily="34" charset="-122"/>
                <a:cs typeface="Malgun Gothic" pitchFamily="34" charset="-120"/>
              </a:rPr>
              <a:t>“Kim et al.(2021),</a:t>
            </a:r>
            <a:endParaRPr lang="en-US" sz="1300" dirty="0"/>
          </a:p>
          <a:p>
            <a:pPr marL="0" indent="0">
              <a:lnSpc>
                <a:spcPct val="120000"/>
              </a:lnSpc>
              <a:buNone/>
            </a:pPr>
            <a:r>
              <a:rPr lang="en-US" sz="1300" dirty="0">
                <a:solidFill>
                  <a:srgbClr val="D4CEC0"/>
                </a:solidFill>
                <a:latin typeface="Malgun Gothic" pitchFamily="34" charset="0"/>
                <a:ea typeface="Malgun Gothic" pitchFamily="34" charset="-122"/>
                <a:cs typeface="Malgun Gothic" pitchFamily="34" charset="-120"/>
              </a:rPr>
              <a:t>Nature 599:142”  (실재 X)</a:t>
            </a:r>
            <a:endParaRPr lang="en-US" sz="1300" dirty="0"/>
          </a:p>
        </p:txBody>
      </p:sp>
      <p:sp>
        <p:nvSpPr>
          <p:cNvPr id="16" name="Text 13"/>
          <p:cNvSpPr txBox="1"/>
          <p:nvPr/>
        </p:nvSpPr>
        <p:spPr>
          <a:xfrm>
            <a:off x="4523232" y="4059936"/>
            <a:ext cx="3142488" cy="1371600"/>
          </a:xfrm>
          <a:prstGeom prst="rect">
            <a:avLst/>
          </a:prstGeom>
          <a:noFill/>
          <a:ln/>
        </p:spPr>
        <p:txBody>
          <a:bodyPr wrap="square" lIns="0" tIns="0" rIns="0" bIns="0" rtlCol="0" anchor="t"/>
          <a:lstStyle/>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있지도 않은 논문·URL·저자를 만들어 인용</a:t>
            </a:r>
            <a:endParaRPr lang="en-US" sz="1300" dirty="0"/>
          </a:p>
        </p:txBody>
      </p:sp>
      <p:sp>
        <p:nvSpPr>
          <p:cNvPr id="17" name="Shape 14"/>
          <p:cNvSpPr/>
          <p:nvPr/>
        </p:nvSpPr>
        <p:spPr>
          <a:xfrm>
            <a:off x="8141208" y="1481328"/>
            <a:ext cx="3544824" cy="4114800"/>
          </a:xfrm>
          <a:prstGeom prst="roundRect">
            <a:avLst>
              <a:gd name="adj" fmla="val 1161"/>
            </a:avLst>
          </a:prstGeom>
          <a:solidFill>
            <a:srgbClr val="232016"/>
          </a:solidFill>
          <a:ln w="12700">
            <a:solidFill>
              <a:srgbClr val="4A4430"/>
            </a:solidFill>
            <a:prstDash val="solid"/>
          </a:ln>
        </p:spPr>
      </p:sp>
      <p:sp>
        <p:nvSpPr>
          <p:cNvPr id="18" name="Text 15"/>
          <p:cNvSpPr txBox="1"/>
          <p:nvPr/>
        </p:nvSpPr>
        <p:spPr>
          <a:xfrm>
            <a:off x="8342376" y="1645920"/>
            <a:ext cx="3142488" cy="384048"/>
          </a:xfrm>
          <a:prstGeom prst="rect">
            <a:avLst/>
          </a:prstGeom>
          <a:noFill/>
          <a:ln/>
        </p:spPr>
        <p:txBody>
          <a:bodyPr wrap="square" lIns="0" tIns="0" rIns="0" bIns="0" rtlCol="0" anchor="ctr"/>
          <a:lstStyle/>
          <a:p>
            <a:pPr marL="0" indent="0">
              <a:buNone/>
            </a:pPr>
            <a:r>
              <a:rPr lang="en-US" sz="1600" b="1" dirty="0">
                <a:solidFill>
                  <a:srgbClr val="FFFFFF"/>
                </a:solidFill>
                <a:latin typeface="Malgun Gothic" pitchFamily="34" charset="0"/>
                <a:ea typeface="Malgun Gothic" pitchFamily="34" charset="-122"/>
                <a:cs typeface="Malgun Gothic" pitchFamily="34" charset="-120"/>
              </a:rPr>
              <a:t>맥락 이탈</a:t>
            </a:r>
            <a:endParaRPr lang="en-US" sz="1600" dirty="0"/>
          </a:p>
        </p:txBody>
      </p:sp>
      <p:sp>
        <p:nvSpPr>
          <p:cNvPr id="19" name="Text 16"/>
          <p:cNvSpPr txBox="1"/>
          <p:nvPr/>
        </p:nvSpPr>
        <p:spPr>
          <a:xfrm>
            <a:off x="8342376" y="2048256"/>
            <a:ext cx="3142488" cy="329184"/>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Context Drift</a:t>
            </a:r>
            <a:endParaRPr lang="en-US" sz="1300" dirty="0"/>
          </a:p>
        </p:txBody>
      </p:sp>
      <p:sp>
        <p:nvSpPr>
          <p:cNvPr id="20" name="Shape 17"/>
          <p:cNvSpPr/>
          <p:nvPr/>
        </p:nvSpPr>
        <p:spPr>
          <a:xfrm>
            <a:off x="8342376" y="2523744"/>
            <a:ext cx="3142488" cy="1371600"/>
          </a:xfrm>
          <a:prstGeom prst="roundRect">
            <a:avLst>
              <a:gd name="adj" fmla="val 3000"/>
            </a:avLst>
          </a:prstGeom>
          <a:solidFill>
            <a:srgbClr val="1A1810"/>
          </a:solidFill>
          <a:ln w="12700">
            <a:solidFill>
              <a:srgbClr val="4A4430"/>
            </a:solidFill>
            <a:prstDash val="solid"/>
          </a:ln>
        </p:spPr>
      </p:sp>
      <p:sp>
        <p:nvSpPr>
          <p:cNvPr id="21" name="Text 18"/>
          <p:cNvSpPr txBox="1"/>
          <p:nvPr/>
        </p:nvSpPr>
        <p:spPr>
          <a:xfrm>
            <a:off x="8506968" y="2651760"/>
            <a:ext cx="2813304" cy="1133856"/>
          </a:xfrm>
          <a:prstGeom prst="rect">
            <a:avLst/>
          </a:prstGeom>
          <a:noFill/>
          <a:ln/>
        </p:spPr>
        <p:txBody>
          <a:bodyPr wrap="square" lIns="0" tIns="0" rIns="0" bIns="0" rtlCol="0" anchor="t"/>
          <a:lstStyle/>
          <a:p>
            <a:pPr marL="0" indent="0">
              <a:lnSpc>
                <a:spcPct val="120000"/>
              </a:lnSpc>
              <a:buNone/>
            </a:pPr>
            <a:r>
              <a:rPr lang="en-US" sz="1300" dirty="0">
                <a:solidFill>
                  <a:srgbClr val="D4CEC0"/>
                </a:solidFill>
                <a:latin typeface="Malgun Gothic" pitchFamily="34" charset="0"/>
                <a:ea typeface="Malgun Gothic" pitchFamily="34" charset="-122"/>
                <a:cs typeface="Malgun Gothic" pitchFamily="34" charset="-120"/>
              </a:rPr>
              <a:t>원문 '추가 연구 필요'</a:t>
            </a:r>
            <a:endParaRPr lang="en-US" sz="1300" dirty="0"/>
          </a:p>
          <a:p>
            <a:pPr marL="0" indent="0">
              <a:lnSpc>
                <a:spcPct val="120000"/>
              </a:lnSpc>
              <a:buNone/>
            </a:pPr>
            <a:r>
              <a:rPr lang="en-US" sz="1300" dirty="0">
                <a:solidFill>
                  <a:srgbClr val="D4CEC0"/>
                </a:solidFill>
                <a:latin typeface="Malgun Gothic" pitchFamily="34" charset="0"/>
                <a:ea typeface="Malgun Gothic" pitchFamily="34" charset="-122"/>
                <a:cs typeface="Malgun Gothic" pitchFamily="34" charset="-120"/>
              </a:rPr>
              <a:t>→ 요약 '도입 시급' 단정</a:t>
            </a:r>
            <a:endParaRPr lang="en-US" sz="1300" dirty="0"/>
          </a:p>
        </p:txBody>
      </p:sp>
      <p:sp>
        <p:nvSpPr>
          <p:cNvPr id="22" name="Text 19"/>
          <p:cNvSpPr txBox="1"/>
          <p:nvPr/>
        </p:nvSpPr>
        <p:spPr>
          <a:xfrm>
            <a:off x="8342376" y="4059936"/>
            <a:ext cx="3142488" cy="1371600"/>
          </a:xfrm>
          <a:prstGeom prst="rect">
            <a:avLst/>
          </a:prstGeom>
          <a:noFill/>
          <a:ln/>
        </p:spPr>
        <p:txBody>
          <a:bodyPr wrap="square" lIns="0" tIns="0" rIns="0" bIns="0" rtlCol="0" anchor="t"/>
          <a:lstStyle/>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제공한 문서에 없는 내용을 덧붙이거나 왜곡</a:t>
            </a:r>
            <a:endParaRPr lang="en-US" sz="1300" dirty="0"/>
          </a:p>
        </p:txBody>
      </p:sp>
      <p:sp>
        <p:nvSpPr>
          <p:cNvPr id="23" name="Shape 20"/>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24" name="Text 21"/>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연구직은 출처 날조를, 행정직은 맥락 이탈을 특히 경계</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8229600" y="1005840"/>
            <a:ext cx="3474720" cy="4754880"/>
          </a:xfrm>
          <a:prstGeom prst="rect">
            <a:avLst/>
          </a:prstGeom>
          <a:noFill/>
          <a:ln/>
        </p:spPr>
        <p:txBody>
          <a:bodyPr wrap="square" lIns="0" tIns="0" rIns="0" bIns="0" rtlCol="0" anchor="ctr"/>
          <a:lstStyle/>
          <a:p>
            <a:pPr marL="0" indent="0" algn="r">
              <a:buNone/>
            </a:pPr>
            <a:r>
              <a:rPr lang="en-US" sz="26000" b="1" dirty="0">
                <a:solidFill>
                  <a:srgbClr val="26221A"/>
                </a:solidFill>
                <a:latin typeface="Malgun Gothic" pitchFamily="34" charset="0"/>
                <a:ea typeface="Malgun Gothic" pitchFamily="34" charset="-122"/>
                <a:cs typeface="Malgun Gothic" pitchFamily="34" charset="-120"/>
              </a:rPr>
              <a:t>2</a:t>
            </a:r>
            <a:endParaRPr lang="en-US" sz="26000" dirty="0"/>
          </a:p>
        </p:txBody>
      </p:sp>
      <p:sp>
        <p:nvSpPr>
          <p:cNvPr id="3" name="Text 1"/>
          <p:cNvSpPr txBox="1"/>
          <p:nvPr/>
        </p:nvSpPr>
        <p:spPr>
          <a:xfrm>
            <a:off x="502920" y="2331720"/>
            <a:ext cx="8778240" cy="1554480"/>
          </a:xfrm>
          <a:prstGeom prst="rect">
            <a:avLst/>
          </a:prstGeom>
          <a:noFill/>
          <a:ln/>
        </p:spPr>
        <p:txBody>
          <a:bodyPr wrap="square" lIns="0" tIns="0" rIns="0" bIns="0" rtlCol="0" anchor="ctr"/>
          <a:lstStyle/>
          <a:p>
            <a:pPr marL="0" indent="0">
              <a:lnSpc>
                <a:spcPct val="115000"/>
              </a:lnSpc>
              <a:buNone/>
            </a:pPr>
            <a:r>
              <a:rPr lang="en-US" sz="3000" b="1" dirty="0">
                <a:solidFill>
                  <a:srgbClr val="FFFFFF"/>
                </a:solidFill>
                <a:latin typeface="Malgun Gothic" pitchFamily="34" charset="0"/>
                <a:ea typeface="Malgun Gothic" pitchFamily="34" charset="-122"/>
                <a:cs typeface="Malgun Gothic" pitchFamily="34" charset="-120"/>
              </a:rPr>
              <a:t>핵심: 환각을 줄이는 프롬프트의</a:t>
            </a:r>
            <a:endParaRPr lang="en-US" sz="3000" dirty="0"/>
          </a:p>
          <a:p>
            <a:pPr marL="0" indent="0">
              <a:lnSpc>
                <a:spcPct val="115000"/>
              </a:lnSpc>
              <a:buNone/>
            </a:pPr>
            <a:r>
              <a:rPr lang="en-US" sz="3000" b="1" dirty="0">
                <a:solidFill>
                  <a:srgbClr val="FFFFFF"/>
                </a:solidFill>
                <a:latin typeface="Malgun Gothic" pitchFamily="34" charset="0"/>
                <a:ea typeface="Malgun Gothic" pitchFamily="34" charset="-122"/>
                <a:cs typeface="Malgun Gothic" pitchFamily="34" charset="-120"/>
              </a:rPr>
              <a:t>네 가지 요소</a:t>
            </a:r>
            <a:endParaRPr lang="en-US" sz="3000" dirty="0"/>
          </a:p>
        </p:txBody>
      </p:sp>
      <p:sp>
        <p:nvSpPr>
          <p:cNvPr id="4" name="Shape 2"/>
          <p:cNvSpPr/>
          <p:nvPr/>
        </p:nvSpPr>
        <p:spPr>
          <a:xfrm>
            <a:off x="502920" y="2057400"/>
            <a:ext cx="566928" cy="50292"/>
          </a:xfrm>
          <a:prstGeom prst="rect">
            <a:avLst/>
          </a:prstGeom>
          <a:solidFill>
            <a:srgbClr val="FFD733"/>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환각을 줄이는 프롬프트의 4요소</a:t>
            </a:r>
            <a:endParaRPr lang="ko-KR" sz="2100" dirty="0"/>
          </a:p>
        </p:txBody>
      </p:sp>
      <p:sp>
        <p:nvSpPr>
          <p:cNvPr id="4" name="Shape 1"/>
          <p:cNvSpPr/>
          <p:nvPr/>
        </p:nvSpPr>
        <p:spPr>
          <a:xfrm>
            <a:off x="502920" y="1325880"/>
            <a:ext cx="2590038" cy="4251960"/>
          </a:xfrm>
          <a:prstGeom prst="roundRect">
            <a:avLst>
              <a:gd name="adj" fmla="val 1589"/>
            </a:avLst>
          </a:prstGeom>
          <a:solidFill>
            <a:srgbClr val="2B2719"/>
          </a:solidFill>
          <a:ln w="19050">
            <a:solidFill>
              <a:srgbClr val="FFD733"/>
            </a:solidFill>
            <a:prstDash val="solid"/>
          </a:ln>
        </p:spPr>
      </p:sp>
      <p:sp>
        <p:nvSpPr>
          <p:cNvPr id="5" name="Text 2"/>
          <p:cNvSpPr txBox="1"/>
          <p:nvPr/>
        </p:nvSpPr>
        <p:spPr>
          <a:xfrm>
            <a:off x="685800" y="1517904"/>
            <a:ext cx="2224278" cy="685800"/>
          </a:xfrm>
          <a:prstGeom prst="rect">
            <a:avLst/>
          </a:prstGeom>
          <a:noFill/>
          <a:ln/>
        </p:spPr>
        <p:txBody>
          <a:bodyPr wrap="square" lIns="0" tIns="0" rIns="0" bIns="0" rtlCol="0" anchor="ctr"/>
          <a:lstStyle/>
          <a:p>
            <a:pPr marL="0" indent="0">
              <a:buNone/>
            </a:pPr>
            <a:r>
              <a:rPr lang="en-US" sz="4000" b="1" dirty="0">
                <a:solidFill>
                  <a:srgbClr val="FFD733"/>
                </a:solidFill>
                <a:latin typeface="Malgun Gothic" pitchFamily="34" charset="0"/>
                <a:ea typeface="Malgun Gothic" pitchFamily="34" charset="-122"/>
                <a:cs typeface="Malgun Gothic" pitchFamily="34" charset="-120"/>
              </a:rPr>
              <a:t>1</a:t>
            </a:r>
            <a:endParaRPr lang="en-US" sz="4000" dirty="0"/>
          </a:p>
        </p:txBody>
      </p:sp>
      <p:sp>
        <p:nvSpPr>
          <p:cNvPr id="6" name="Text 3"/>
          <p:cNvSpPr txBox="1"/>
          <p:nvPr/>
        </p:nvSpPr>
        <p:spPr>
          <a:xfrm>
            <a:off x="685800" y="2304288"/>
            <a:ext cx="2224278" cy="402336"/>
          </a:xfrm>
          <a:prstGeom prst="rect">
            <a:avLst/>
          </a:prstGeom>
          <a:noFill/>
          <a:ln/>
        </p:spPr>
        <p:txBody>
          <a:bodyPr wrap="square" lIns="0" tIns="0" rIns="0" bIns="0" rtlCol="0" anchor="ctr"/>
          <a:lstStyle/>
          <a:p>
            <a:pPr marL="0" indent="0">
              <a:buNone/>
            </a:pPr>
            <a:r>
              <a:rPr lang="en-US" sz="1700" b="1" dirty="0">
                <a:solidFill>
                  <a:srgbClr val="FFFFFF"/>
                </a:solidFill>
                <a:latin typeface="Malgun Gothic" pitchFamily="34" charset="0"/>
                <a:ea typeface="Malgun Gothic" pitchFamily="34" charset="-122"/>
                <a:cs typeface="Malgun Gothic" pitchFamily="34" charset="-120"/>
              </a:rPr>
              <a:t>근거</a:t>
            </a:r>
            <a:endParaRPr lang="en-US" sz="1700" dirty="0"/>
          </a:p>
        </p:txBody>
      </p:sp>
      <p:sp>
        <p:nvSpPr>
          <p:cNvPr id="7" name="Text 4"/>
          <p:cNvSpPr txBox="1"/>
          <p:nvPr/>
        </p:nvSpPr>
        <p:spPr>
          <a:xfrm>
            <a:off x="685800" y="2724912"/>
            <a:ext cx="2224278" cy="329184"/>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Grounding</a:t>
            </a:r>
            <a:endParaRPr lang="en-US" sz="1300" dirty="0"/>
          </a:p>
        </p:txBody>
      </p:sp>
      <p:sp>
        <p:nvSpPr>
          <p:cNvPr id="8" name="Text 5"/>
          <p:cNvSpPr txBox="1"/>
          <p:nvPr/>
        </p:nvSpPr>
        <p:spPr>
          <a:xfrm>
            <a:off x="685800" y="3200400"/>
            <a:ext cx="2224278" cy="1554480"/>
          </a:xfrm>
          <a:prstGeom prst="rect">
            <a:avLst/>
          </a:prstGeom>
          <a:noFill/>
          <a:ln/>
        </p:spPr>
        <p:txBody>
          <a:bodyPr wrap="square" lIns="0" tIns="0" rIns="0" bIns="0" rtlCol="0" anchor="t"/>
          <a:lstStyle/>
          <a:p>
            <a:pPr marL="0" indent="0">
              <a:lnSpc>
                <a:spcPct val="120000"/>
              </a:lnSpc>
              <a:buNone/>
            </a:pPr>
            <a:r>
              <a:rPr lang="en-US" sz="1300" dirty="0">
                <a:solidFill>
                  <a:srgbClr val="F5F1E4"/>
                </a:solidFill>
                <a:latin typeface="Malgun Gothic" pitchFamily="34" charset="0"/>
                <a:ea typeface="Malgun Gothic" pitchFamily="34" charset="-122"/>
                <a:cs typeface="Malgun Gothic" pitchFamily="34" charset="-120"/>
              </a:rPr>
              <a:t>무엇을 보고 답하게 할 것인가. 답의 재료가 될 자료를 직접 제공</a:t>
            </a:r>
            <a:endParaRPr lang="en-US" sz="1300" dirty="0"/>
          </a:p>
        </p:txBody>
      </p:sp>
      <p:sp>
        <p:nvSpPr>
          <p:cNvPr id="9" name="Shape 6"/>
          <p:cNvSpPr/>
          <p:nvPr/>
        </p:nvSpPr>
        <p:spPr>
          <a:xfrm>
            <a:off x="3367278" y="1325880"/>
            <a:ext cx="2590038" cy="4251960"/>
          </a:xfrm>
          <a:prstGeom prst="roundRect">
            <a:avLst>
              <a:gd name="adj" fmla="val 1589"/>
            </a:avLst>
          </a:prstGeom>
          <a:solidFill>
            <a:srgbClr val="232016"/>
          </a:solidFill>
          <a:ln w="12700">
            <a:solidFill>
              <a:srgbClr val="4A4430"/>
            </a:solidFill>
            <a:prstDash val="solid"/>
          </a:ln>
        </p:spPr>
      </p:sp>
      <p:sp>
        <p:nvSpPr>
          <p:cNvPr id="10" name="Text 7"/>
          <p:cNvSpPr txBox="1"/>
          <p:nvPr/>
        </p:nvSpPr>
        <p:spPr>
          <a:xfrm>
            <a:off x="3550158" y="1517904"/>
            <a:ext cx="2224278" cy="685800"/>
          </a:xfrm>
          <a:prstGeom prst="rect">
            <a:avLst/>
          </a:prstGeom>
          <a:noFill/>
          <a:ln/>
        </p:spPr>
        <p:txBody>
          <a:bodyPr wrap="square" lIns="0" tIns="0" rIns="0" bIns="0" rtlCol="0" anchor="ctr"/>
          <a:lstStyle/>
          <a:p>
            <a:pPr marL="0" indent="0">
              <a:buNone/>
            </a:pPr>
            <a:r>
              <a:rPr lang="en-US" sz="4000" b="1" dirty="0">
                <a:solidFill>
                  <a:srgbClr val="D4CEC0"/>
                </a:solidFill>
                <a:latin typeface="Malgun Gothic" pitchFamily="34" charset="0"/>
                <a:ea typeface="Malgun Gothic" pitchFamily="34" charset="-122"/>
                <a:cs typeface="Malgun Gothic" pitchFamily="34" charset="-120"/>
              </a:rPr>
              <a:t>2</a:t>
            </a:r>
            <a:endParaRPr lang="en-US" sz="4000" dirty="0"/>
          </a:p>
        </p:txBody>
      </p:sp>
      <p:sp>
        <p:nvSpPr>
          <p:cNvPr id="11" name="Text 8"/>
          <p:cNvSpPr txBox="1"/>
          <p:nvPr/>
        </p:nvSpPr>
        <p:spPr>
          <a:xfrm>
            <a:off x="3550158" y="2304288"/>
            <a:ext cx="2224278" cy="402336"/>
          </a:xfrm>
          <a:prstGeom prst="rect">
            <a:avLst/>
          </a:prstGeom>
          <a:noFill/>
          <a:ln/>
        </p:spPr>
        <p:txBody>
          <a:bodyPr wrap="square" lIns="0" tIns="0" rIns="0" bIns="0" rtlCol="0" anchor="ctr"/>
          <a:lstStyle/>
          <a:p>
            <a:pPr marL="0" indent="0">
              <a:buNone/>
            </a:pPr>
            <a:r>
              <a:rPr lang="en-US" sz="1700" b="1" dirty="0">
                <a:solidFill>
                  <a:srgbClr val="FFFFFF"/>
                </a:solidFill>
                <a:latin typeface="Malgun Gothic" pitchFamily="34" charset="0"/>
                <a:ea typeface="Malgun Gothic" pitchFamily="34" charset="-122"/>
                <a:cs typeface="Malgun Gothic" pitchFamily="34" charset="-120"/>
              </a:rPr>
              <a:t>검증</a:t>
            </a:r>
            <a:endParaRPr lang="en-US" sz="1700" dirty="0"/>
          </a:p>
        </p:txBody>
      </p:sp>
      <p:sp>
        <p:nvSpPr>
          <p:cNvPr id="12" name="Text 9"/>
          <p:cNvSpPr txBox="1"/>
          <p:nvPr/>
        </p:nvSpPr>
        <p:spPr>
          <a:xfrm>
            <a:off x="3550158" y="2724912"/>
            <a:ext cx="2224278" cy="329184"/>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Verify</a:t>
            </a:r>
            <a:endParaRPr lang="en-US" sz="1300" dirty="0"/>
          </a:p>
        </p:txBody>
      </p:sp>
      <p:sp>
        <p:nvSpPr>
          <p:cNvPr id="13" name="Text 10"/>
          <p:cNvSpPr txBox="1"/>
          <p:nvPr/>
        </p:nvSpPr>
        <p:spPr>
          <a:xfrm>
            <a:off x="3550158" y="3200400"/>
            <a:ext cx="2224278" cy="1554480"/>
          </a:xfrm>
          <a:prstGeom prst="rect">
            <a:avLst/>
          </a:prstGeom>
          <a:noFill/>
          <a:ln/>
        </p:spPr>
        <p:txBody>
          <a:bodyPr wrap="square" lIns="0" tIns="0" rIns="0" bIns="0" rtlCol="0" anchor="t"/>
          <a:lstStyle/>
          <a:p>
            <a:pPr marL="0" indent="0">
              <a:lnSpc>
                <a:spcPct val="120000"/>
              </a:lnSpc>
              <a:buNone/>
            </a:pPr>
            <a:r>
              <a:rPr lang="en-US" sz="1300" dirty="0">
                <a:solidFill>
                  <a:srgbClr val="F5F1E4"/>
                </a:solidFill>
                <a:latin typeface="Malgun Gothic" pitchFamily="34" charset="0"/>
                <a:ea typeface="Malgun Gothic" pitchFamily="34" charset="-122"/>
                <a:cs typeface="Malgun Gothic" pitchFamily="34" charset="-120"/>
              </a:rPr>
              <a:t>자료에 없는 부분의 처리 방식. '모른다' 허용 + 근거 없으면 삭제</a:t>
            </a:r>
            <a:endParaRPr lang="en-US" sz="1300" dirty="0"/>
          </a:p>
        </p:txBody>
      </p:sp>
      <p:sp>
        <p:nvSpPr>
          <p:cNvPr id="14" name="Shape 11"/>
          <p:cNvSpPr/>
          <p:nvPr/>
        </p:nvSpPr>
        <p:spPr>
          <a:xfrm>
            <a:off x="6231636" y="1325880"/>
            <a:ext cx="2590038" cy="4251960"/>
          </a:xfrm>
          <a:prstGeom prst="roundRect">
            <a:avLst>
              <a:gd name="adj" fmla="val 1589"/>
            </a:avLst>
          </a:prstGeom>
          <a:solidFill>
            <a:srgbClr val="232016"/>
          </a:solidFill>
          <a:ln w="12700">
            <a:solidFill>
              <a:srgbClr val="4A4430"/>
            </a:solidFill>
            <a:prstDash val="solid"/>
          </a:ln>
        </p:spPr>
      </p:sp>
      <p:sp>
        <p:nvSpPr>
          <p:cNvPr id="15" name="Text 12"/>
          <p:cNvSpPr txBox="1"/>
          <p:nvPr/>
        </p:nvSpPr>
        <p:spPr>
          <a:xfrm>
            <a:off x="6414516" y="1517904"/>
            <a:ext cx="2224278" cy="685800"/>
          </a:xfrm>
          <a:prstGeom prst="rect">
            <a:avLst/>
          </a:prstGeom>
          <a:noFill/>
          <a:ln/>
        </p:spPr>
        <p:txBody>
          <a:bodyPr wrap="square" lIns="0" tIns="0" rIns="0" bIns="0" rtlCol="0" anchor="ctr"/>
          <a:lstStyle/>
          <a:p>
            <a:pPr marL="0" indent="0">
              <a:buNone/>
            </a:pPr>
            <a:r>
              <a:rPr lang="en-US" sz="4000" b="1" dirty="0">
                <a:solidFill>
                  <a:srgbClr val="D4CEC0"/>
                </a:solidFill>
                <a:latin typeface="Malgun Gothic" pitchFamily="34" charset="0"/>
                <a:ea typeface="Malgun Gothic" pitchFamily="34" charset="-122"/>
                <a:cs typeface="Malgun Gothic" pitchFamily="34" charset="-120"/>
              </a:rPr>
              <a:t>3</a:t>
            </a:r>
            <a:endParaRPr lang="en-US" sz="4000" dirty="0"/>
          </a:p>
        </p:txBody>
      </p:sp>
      <p:sp>
        <p:nvSpPr>
          <p:cNvPr id="16" name="Text 13"/>
          <p:cNvSpPr txBox="1"/>
          <p:nvPr/>
        </p:nvSpPr>
        <p:spPr>
          <a:xfrm>
            <a:off x="6414516" y="2304288"/>
            <a:ext cx="2224278" cy="402336"/>
          </a:xfrm>
          <a:prstGeom prst="rect">
            <a:avLst/>
          </a:prstGeom>
          <a:noFill/>
          <a:ln/>
        </p:spPr>
        <p:txBody>
          <a:bodyPr wrap="square" lIns="0" tIns="0" rIns="0" bIns="0" rtlCol="0" anchor="ctr"/>
          <a:lstStyle/>
          <a:p>
            <a:pPr marL="0" indent="0">
              <a:buNone/>
            </a:pPr>
            <a:r>
              <a:rPr lang="en-US" sz="1700" b="1" dirty="0">
                <a:solidFill>
                  <a:srgbClr val="FFFFFF"/>
                </a:solidFill>
                <a:latin typeface="Malgun Gothic" pitchFamily="34" charset="0"/>
                <a:ea typeface="Malgun Gothic" pitchFamily="34" charset="-122"/>
                <a:cs typeface="Malgun Gothic" pitchFamily="34" charset="-120"/>
              </a:rPr>
              <a:t>형식</a:t>
            </a:r>
            <a:endParaRPr lang="en-US" sz="1700" dirty="0"/>
          </a:p>
        </p:txBody>
      </p:sp>
      <p:sp>
        <p:nvSpPr>
          <p:cNvPr id="17" name="Text 14"/>
          <p:cNvSpPr txBox="1"/>
          <p:nvPr/>
        </p:nvSpPr>
        <p:spPr>
          <a:xfrm>
            <a:off x="6414516" y="2724912"/>
            <a:ext cx="2224278" cy="329184"/>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Format</a:t>
            </a:r>
            <a:endParaRPr lang="en-US" sz="1300" dirty="0"/>
          </a:p>
        </p:txBody>
      </p:sp>
      <p:sp>
        <p:nvSpPr>
          <p:cNvPr id="18" name="Text 15"/>
          <p:cNvSpPr txBox="1"/>
          <p:nvPr/>
        </p:nvSpPr>
        <p:spPr>
          <a:xfrm>
            <a:off x="6414516" y="3200400"/>
            <a:ext cx="2224278" cy="1554480"/>
          </a:xfrm>
          <a:prstGeom prst="rect">
            <a:avLst/>
          </a:prstGeom>
          <a:noFill/>
          <a:ln/>
        </p:spPr>
        <p:txBody>
          <a:bodyPr wrap="square" lIns="0" tIns="0" rIns="0" bIns="0" rtlCol="0" anchor="t"/>
          <a:lstStyle/>
          <a:p>
            <a:pPr marL="0" indent="0">
              <a:lnSpc>
                <a:spcPct val="120000"/>
              </a:lnSpc>
              <a:buNone/>
            </a:pPr>
            <a:r>
              <a:rPr lang="en-US" sz="1300" dirty="0">
                <a:solidFill>
                  <a:srgbClr val="F5F1E4"/>
                </a:solidFill>
                <a:latin typeface="Malgun Gothic" pitchFamily="34" charset="0"/>
                <a:ea typeface="Malgun Gothic" pitchFamily="34" charset="-122"/>
                <a:cs typeface="Malgun Gothic" pitchFamily="34" charset="-120"/>
              </a:rPr>
              <a:t>출력 형식을 미리 지정. 긴 문서에선 '근거부터 뽑고 결론은 맨 나중에'로 순서를 강제</a:t>
            </a:r>
            <a:endParaRPr lang="en-US" sz="1300" dirty="0"/>
          </a:p>
        </p:txBody>
      </p:sp>
      <p:sp>
        <p:nvSpPr>
          <p:cNvPr id="19" name="Shape 16"/>
          <p:cNvSpPr/>
          <p:nvPr/>
        </p:nvSpPr>
        <p:spPr>
          <a:xfrm>
            <a:off x="9095994" y="1325880"/>
            <a:ext cx="2590038" cy="4251960"/>
          </a:xfrm>
          <a:prstGeom prst="roundRect">
            <a:avLst>
              <a:gd name="adj" fmla="val 1589"/>
            </a:avLst>
          </a:prstGeom>
          <a:solidFill>
            <a:srgbClr val="232016"/>
          </a:solidFill>
          <a:ln w="12700">
            <a:solidFill>
              <a:srgbClr val="4A4430"/>
            </a:solidFill>
            <a:prstDash val="solid"/>
          </a:ln>
        </p:spPr>
      </p:sp>
      <p:sp>
        <p:nvSpPr>
          <p:cNvPr id="20" name="Text 17"/>
          <p:cNvSpPr txBox="1"/>
          <p:nvPr/>
        </p:nvSpPr>
        <p:spPr>
          <a:xfrm>
            <a:off x="9278874" y="1517904"/>
            <a:ext cx="2224278" cy="685800"/>
          </a:xfrm>
          <a:prstGeom prst="rect">
            <a:avLst/>
          </a:prstGeom>
          <a:noFill/>
          <a:ln/>
        </p:spPr>
        <p:txBody>
          <a:bodyPr wrap="square" lIns="0" tIns="0" rIns="0" bIns="0" rtlCol="0" anchor="ctr"/>
          <a:lstStyle/>
          <a:p>
            <a:pPr marL="0" indent="0">
              <a:buNone/>
            </a:pPr>
            <a:r>
              <a:rPr lang="en-US" sz="4000" b="1" dirty="0">
                <a:solidFill>
                  <a:srgbClr val="D4CEC0"/>
                </a:solidFill>
                <a:latin typeface="Malgun Gothic" pitchFamily="34" charset="0"/>
                <a:ea typeface="Malgun Gothic" pitchFamily="34" charset="-122"/>
                <a:cs typeface="Malgun Gothic" pitchFamily="34" charset="-120"/>
              </a:rPr>
              <a:t>4</a:t>
            </a:r>
            <a:endParaRPr lang="en-US" sz="4000" dirty="0"/>
          </a:p>
        </p:txBody>
      </p:sp>
      <p:sp>
        <p:nvSpPr>
          <p:cNvPr id="21" name="Text 18"/>
          <p:cNvSpPr txBox="1"/>
          <p:nvPr/>
        </p:nvSpPr>
        <p:spPr>
          <a:xfrm>
            <a:off x="9278874" y="2304288"/>
            <a:ext cx="2224278" cy="402336"/>
          </a:xfrm>
          <a:prstGeom prst="rect">
            <a:avLst/>
          </a:prstGeom>
          <a:noFill/>
          <a:ln/>
        </p:spPr>
        <p:txBody>
          <a:bodyPr wrap="square" lIns="0" tIns="0" rIns="0" bIns="0" rtlCol="0" anchor="ctr"/>
          <a:lstStyle/>
          <a:p>
            <a:pPr marL="0" indent="0">
              <a:buNone/>
            </a:pPr>
            <a:r>
              <a:rPr lang="en-US" sz="1700" b="1" dirty="0">
                <a:solidFill>
                  <a:srgbClr val="FFFFFF"/>
                </a:solidFill>
                <a:latin typeface="Malgun Gothic" pitchFamily="34" charset="0"/>
                <a:ea typeface="Malgun Gothic" pitchFamily="34" charset="-122"/>
                <a:cs typeface="Malgun Gothic" pitchFamily="34" charset="-120"/>
              </a:rPr>
              <a:t>역할</a:t>
            </a:r>
            <a:endParaRPr lang="en-US" sz="1700" dirty="0"/>
          </a:p>
        </p:txBody>
      </p:sp>
      <p:sp>
        <p:nvSpPr>
          <p:cNvPr id="22" name="Text 19"/>
          <p:cNvSpPr txBox="1"/>
          <p:nvPr/>
        </p:nvSpPr>
        <p:spPr>
          <a:xfrm>
            <a:off x="9278874" y="2724912"/>
            <a:ext cx="2224278" cy="329184"/>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Role</a:t>
            </a:r>
            <a:endParaRPr lang="en-US" sz="1300" dirty="0"/>
          </a:p>
        </p:txBody>
      </p:sp>
      <p:sp>
        <p:nvSpPr>
          <p:cNvPr id="23" name="Text 20"/>
          <p:cNvSpPr txBox="1"/>
          <p:nvPr/>
        </p:nvSpPr>
        <p:spPr>
          <a:xfrm>
            <a:off x="9278874" y="3200400"/>
            <a:ext cx="2224278" cy="1554480"/>
          </a:xfrm>
          <a:prstGeom prst="rect">
            <a:avLst/>
          </a:prstGeom>
          <a:noFill/>
          <a:ln/>
        </p:spPr>
        <p:txBody>
          <a:bodyPr wrap="square" lIns="0" tIns="0" rIns="0" bIns="0" rtlCol="0" anchor="t"/>
          <a:lstStyle/>
          <a:p>
            <a:pPr marL="0" indent="0">
              <a:lnSpc>
                <a:spcPct val="120000"/>
              </a:lnSpc>
              <a:buNone/>
            </a:pPr>
            <a:r>
              <a:rPr lang="en-US" sz="1300" dirty="0">
                <a:solidFill>
                  <a:srgbClr val="F5F1E4"/>
                </a:solidFill>
                <a:latin typeface="Malgun Gothic" pitchFamily="34" charset="0"/>
                <a:ea typeface="Malgun Gothic" pitchFamily="34" charset="-122"/>
                <a:cs typeface="Malgun Gothic" pitchFamily="34" charset="-120"/>
              </a:rPr>
              <a:t>어떤 입장에서 말하게 할 것인가. 어조와 신중함을 조정</a:t>
            </a:r>
            <a:endParaRPr lang="en-US" sz="1300" dirty="0"/>
          </a:p>
        </p:txBody>
      </p:sp>
      <p:sp>
        <p:nvSpPr>
          <p:cNvPr id="24" name="Shape 21"/>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25" name="Text 22"/>
          <p:cNvSpPr txBox="1"/>
          <p:nvPr/>
        </p:nvSpPr>
        <p:spPr>
          <a:xfrm>
            <a:off x="758952" y="5779008"/>
            <a:ext cx="10671048" cy="566928"/>
          </a:xfrm>
          <a:prstGeom prst="rect">
            <a:avLst/>
          </a:prstGeom>
          <a:noFill/>
          <a:ln/>
        </p:spPr>
        <p:txBody>
          <a:bodyPr wrap="square" lIns="0" tIns="0" rIns="0" bIns="0" rtlCol="0" anchor="ctr"/>
          <a:lstStyle/>
          <a:p>
            <a:pPr marL="0" indent="0">
              <a:buNone/>
            </a:pPr>
            <a:r>
              <a:rPr lang="ko-KR" sz="1350" b="1" dirty="0">
                <a:solidFill>
                  <a:srgbClr val="FFDF57"/>
                </a:solidFill>
                <a:latin typeface="Malgun Gothic" pitchFamily="34" charset="0"/>
                <a:ea typeface="Malgun Gothic" pitchFamily="34" charset="-122"/>
                <a:cs typeface="Malgun Gothic" pitchFamily="34" charset="-120"/>
              </a:rPr>
              <a:t xml:space="preserve">우선순위: 근거 &gt; 검증 &gt; 형식 &gt; 역할 — 앞의 요소부터 먼저 챙길 것</a:t>
            </a:r>
            <a:endParaRPr lang="ko-KR" sz="1350" dirty="0"/>
          </a:p>
        </p:txBody>
      </p:sp>
      <p:sp>
        <p:nvSpPr>
          <p:cNvPr id="26" name="Target 1"/>
          <p:cNvSpPr txBox="1"/>
          <p:nvPr/>
        </p:nvSpPr>
        <p:spPr>
          <a:xfrm>
            <a:off x="685800" y="4754880"/>
            <a:ext cx="2221992" cy="658368"/>
          </a:xfrm>
          <a:prstGeom prst="rect">
            <a:avLst/>
          </a:prstGeom>
          <a:noFill/>
          <a:ln/>
        </p:spPr>
        <p:txBody>
          <a:bodyPr wrap="square" lIns="0" tIns="0" rIns="0" bIns="0" rtlCol="0" anchor="t"/>
          <a:lstStyle/>
          <a:p>
            <a:pPr marL="0" indent="0">
              <a:lnSpc>
                <a:spcPct val="110000"/>
              </a:lnSpc>
              <a:buNone/>
            </a:pPr>
            <a:r>
              <a:rPr lang="ko-KR" sz="1200" dirty="0">
                <a:solidFill>
                  <a:srgbClr val="D4CEC0"/>
                </a:solidFill>
                <a:latin typeface="Malgun Gothic" pitchFamily="34" charset="0"/>
                <a:ea typeface="Malgun Gothic" pitchFamily="34" charset="-122"/>
                <a:cs typeface="Malgun Gothic" pitchFamily="34" charset="-120"/>
              </a:rPr>
              <a:t xml:space="preserve">주로 막는 환각</a:t>
            </a:r>
            <a:endParaRPr lang="ko-KR" sz="1200" dirty="0"/>
          </a:p>
          <a:p>
            <a:pPr marL="0" indent="0">
              <a:lnSpc>
                <a:spcPct val="110000"/>
              </a:lnSpc>
              <a:buNone/>
            </a:pPr>
            <a:r>
              <a:rPr lang="ko-KR" sz="1400" b="1" dirty="0">
                <a:solidFill>
                  <a:srgbClr val="FFD733"/>
                </a:solidFill>
                <a:latin typeface="Malgun Gothic" pitchFamily="34" charset="0"/>
                <a:ea typeface="Malgun Gothic" pitchFamily="34" charset="-122"/>
                <a:cs typeface="Malgun Gothic" pitchFamily="34" charset="-120"/>
              </a:rPr>
              <a:t xml:space="preserve">사실 날조</a:t>
            </a:r>
            <a:endParaRPr lang="ko-KR" sz="1400" dirty="0"/>
          </a:p>
        </p:txBody>
      </p:sp>
      <p:sp>
        <p:nvSpPr>
          <p:cNvPr id="27" name="Target 2"/>
          <p:cNvSpPr txBox="1"/>
          <p:nvPr/>
        </p:nvSpPr>
        <p:spPr>
          <a:xfrm>
            <a:off x="3547872" y="4754880"/>
            <a:ext cx="2221992" cy="658368"/>
          </a:xfrm>
          <a:prstGeom prst="rect">
            <a:avLst/>
          </a:prstGeom>
          <a:noFill/>
          <a:ln/>
        </p:spPr>
        <p:txBody>
          <a:bodyPr wrap="square" lIns="0" tIns="0" rIns="0" bIns="0" rtlCol="0" anchor="t"/>
          <a:lstStyle/>
          <a:p>
            <a:pPr marL="0" indent="0">
              <a:lnSpc>
                <a:spcPct val="110000"/>
              </a:lnSpc>
              <a:buNone/>
            </a:pPr>
            <a:r>
              <a:rPr lang="ko-KR" sz="1200" dirty="0">
                <a:solidFill>
                  <a:srgbClr val="D4CEC0"/>
                </a:solidFill>
                <a:latin typeface="Malgun Gothic" pitchFamily="34" charset="0"/>
                <a:ea typeface="Malgun Gothic" pitchFamily="34" charset="-122"/>
                <a:cs typeface="Malgun Gothic" pitchFamily="34" charset="-120"/>
              </a:rPr>
              <a:t xml:space="preserve">주로 막는 환각</a:t>
            </a:r>
            <a:endParaRPr lang="ko-KR" sz="1200" dirty="0"/>
          </a:p>
          <a:p>
            <a:pPr marL="0" indent="0">
              <a:lnSpc>
                <a:spcPct val="110000"/>
              </a:lnSpc>
              <a:buNone/>
            </a:pPr>
            <a:r>
              <a:rPr lang="ko-KR" sz="1400" b="1" dirty="0">
                <a:solidFill>
                  <a:srgbClr val="FFD733"/>
                </a:solidFill>
                <a:latin typeface="Malgun Gothic" pitchFamily="34" charset="0"/>
                <a:ea typeface="Malgun Gothic" pitchFamily="34" charset="-122"/>
                <a:cs typeface="Malgun Gothic" pitchFamily="34" charset="-120"/>
              </a:rPr>
              <a:t xml:space="preserve">출처 날조</a:t>
            </a:r>
            <a:endParaRPr lang="ko-KR" sz="1400" dirty="0"/>
          </a:p>
        </p:txBody>
      </p:sp>
      <p:sp>
        <p:nvSpPr>
          <p:cNvPr id="28" name="Target 3"/>
          <p:cNvSpPr txBox="1"/>
          <p:nvPr/>
        </p:nvSpPr>
        <p:spPr>
          <a:xfrm>
            <a:off x="6409944" y="4754880"/>
            <a:ext cx="2221992" cy="658368"/>
          </a:xfrm>
          <a:prstGeom prst="rect">
            <a:avLst/>
          </a:prstGeom>
          <a:noFill/>
          <a:ln/>
        </p:spPr>
        <p:txBody>
          <a:bodyPr wrap="square" lIns="0" tIns="0" rIns="0" bIns="0" rtlCol="0" anchor="t"/>
          <a:lstStyle/>
          <a:p>
            <a:pPr marL="0" indent="0">
              <a:lnSpc>
                <a:spcPct val="110000"/>
              </a:lnSpc>
              <a:buNone/>
            </a:pPr>
            <a:r>
              <a:rPr lang="ko-KR" sz="1200" dirty="0">
                <a:solidFill>
                  <a:srgbClr val="D4CEC0"/>
                </a:solidFill>
                <a:latin typeface="Malgun Gothic" pitchFamily="34" charset="0"/>
                <a:ea typeface="Malgun Gothic" pitchFamily="34" charset="-122"/>
                <a:cs typeface="Malgun Gothic" pitchFamily="34" charset="-120"/>
              </a:rPr>
              <a:t xml:space="preserve">주로 막는 환각</a:t>
            </a:r>
            <a:endParaRPr lang="ko-KR" sz="1200" dirty="0"/>
          </a:p>
          <a:p>
            <a:pPr marL="0" indent="0">
              <a:lnSpc>
                <a:spcPct val="110000"/>
              </a:lnSpc>
              <a:buNone/>
            </a:pPr>
            <a:r>
              <a:rPr lang="ko-KR" sz="1400" b="1" dirty="0">
                <a:solidFill>
                  <a:srgbClr val="FFD733"/>
                </a:solidFill>
                <a:latin typeface="Malgun Gothic" pitchFamily="34" charset="0"/>
                <a:ea typeface="Malgun Gothic" pitchFamily="34" charset="-122"/>
                <a:cs typeface="Malgun Gothic" pitchFamily="34" charset="-120"/>
              </a:rPr>
              <a:t xml:space="preserve">맥락 이탈</a:t>
            </a:r>
            <a:endParaRPr lang="ko-KR" sz="1400" dirty="0"/>
          </a:p>
        </p:txBody>
      </p:sp>
      <p:sp>
        <p:nvSpPr>
          <p:cNvPr id="29" name="Target 4"/>
          <p:cNvSpPr txBox="1"/>
          <p:nvPr/>
        </p:nvSpPr>
        <p:spPr>
          <a:xfrm>
            <a:off x="9281160" y="4754880"/>
            <a:ext cx="2221992" cy="658368"/>
          </a:xfrm>
          <a:prstGeom prst="rect">
            <a:avLst/>
          </a:prstGeom>
          <a:noFill/>
          <a:ln/>
        </p:spPr>
        <p:txBody>
          <a:bodyPr wrap="square" lIns="0" tIns="0" rIns="0" bIns="0" rtlCol="0" anchor="t"/>
          <a:lstStyle/>
          <a:p>
            <a:pPr marL="0" indent="0">
              <a:lnSpc>
                <a:spcPct val="110000"/>
              </a:lnSpc>
              <a:buNone/>
            </a:pPr>
            <a:r>
              <a:rPr lang="ko-KR" sz="1200" dirty="0">
                <a:solidFill>
                  <a:srgbClr val="D4CEC0"/>
                </a:solidFill>
                <a:latin typeface="Malgun Gothic" pitchFamily="34" charset="0"/>
                <a:ea typeface="Malgun Gothic" pitchFamily="34" charset="-122"/>
                <a:cs typeface="Malgun Gothic" pitchFamily="34" charset="-120"/>
              </a:rPr>
              <a:t xml:space="preserve">환각 감소는 보조</a:t>
            </a:r>
            <a:endParaRPr lang="ko-KR" sz="1200" dirty="0"/>
          </a:p>
          <a:p>
            <a:pPr marL="0" indent="0">
              <a:lnSpc>
                <a:spcPct val="110000"/>
              </a:lnSpc>
              <a:buNone/>
            </a:pPr>
            <a:r>
              <a:rPr lang="ko-KR" sz="1400" b="1" dirty="0">
                <a:solidFill>
                  <a:srgbClr val="FFD733"/>
                </a:solidFill>
                <a:latin typeface="Malgun Gothic" pitchFamily="34" charset="0"/>
                <a:ea typeface="Malgun Gothic" pitchFamily="34" charset="-122"/>
                <a:cs typeface="Malgun Gothic" pitchFamily="34" charset="-120"/>
              </a:rPr>
              <a:t xml:space="preserve">어조·신중함 조정</a:t>
            </a:r>
            <a:endParaRPr lang="ko-KR"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1 근거 — 자료를 주면 LLM이 지어낼 여지가 크게 줄어듦</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en-US" sz="1350" dirty="0">
                <a:solidFill>
                  <a:srgbClr val="F5F1E4"/>
                </a:solidFill>
                <a:latin typeface="Malgun Gothic" pitchFamily="34" charset="0"/>
                <a:ea typeface="Malgun Gothic" pitchFamily="34" charset="-122"/>
                <a:cs typeface="Malgun Gothic" pitchFamily="34" charset="-120"/>
              </a:rPr>
              <a:t>질문만 던지면 지어낼 수 있으나, 자료를 함께 주면 그 안에서만 답변 — 가장 효과가 큰 기법</a:t>
            </a:r>
            <a:endParaRPr lang="en-US" sz="1350" dirty="0"/>
          </a:p>
        </p:txBody>
      </p:sp>
      <p:sp>
        <p:nvSpPr>
          <p:cNvPr id="5" name="Shape 2"/>
          <p:cNvSpPr/>
          <p:nvPr/>
        </p:nvSpPr>
        <p:spPr>
          <a:xfrm>
            <a:off x="502920" y="1481328"/>
            <a:ext cx="5408676" cy="4114800"/>
          </a:xfrm>
          <a:prstGeom prst="roundRect">
            <a:avLst>
              <a:gd name="adj" fmla="val 1000"/>
            </a:avLst>
          </a:prstGeom>
          <a:solidFill>
            <a:srgbClr val="232016"/>
          </a:solidFill>
          <a:ln w="12700">
            <a:solidFill>
              <a:srgbClr val="FF9B8A"/>
            </a:solidFill>
            <a:prstDash val="solid"/>
          </a:ln>
        </p:spPr>
      </p:sp>
      <p:sp>
        <p:nvSpPr>
          <p:cNvPr id="6" name="Text 3"/>
          <p:cNvSpPr txBox="1"/>
          <p:nvPr/>
        </p:nvSpPr>
        <p:spPr>
          <a:xfrm>
            <a:off x="722376" y="1645920"/>
            <a:ext cx="4969764" cy="365760"/>
          </a:xfrm>
          <a:prstGeom prst="rect">
            <a:avLst/>
          </a:prstGeom>
          <a:noFill/>
          <a:ln/>
        </p:spPr>
        <p:txBody>
          <a:bodyPr wrap="square" lIns="0" tIns="0" rIns="0" bIns="0" rtlCol="0" anchor="ctr"/>
          <a:lstStyle/>
          <a:p>
            <a:pPr marL="0" indent="0">
              <a:buNone/>
            </a:pPr>
            <a:r>
              <a:rPr lang="en-US" sz="1450" b="1" dirty="0">
                <a:solidFill>
                  <a:srgbClr val="FF9B8A"/>
                </a:solidFill>
                <a:latin typeface="Malgun Gothic" pitchFamily="34" charset="0"/>
                <a:ea typeface="Malgun Gothic" pitchFamily="34" charset="-122"/>
                <a:cs typeface="Malgun Gothic" pitchFamily="34" charset="-120"/>
              </a:rPr>
              <a:t>Before · 위험한 프롬프트</a:t>
            </a:r>
            <a:endParaRPr lang="en-US" sz="1450" dirty="0"/>
          </a:p>
        </p:txBody>
      </p:sp>
      <p:sp>
        <p:nvSpPr>
          <p:cNvPr id="7" name="Shape 4"/>
          <p:cNvSpPr/>
          <p:nvPr/>
        </p:nvSpPr>
        <p:spPr>
          <a:xfrm>
            <a:off x="722376" y="2103120"/>
            <a:ext cx="4969764" cy="777240"/>
          </a:xfrm>
          <a:prstGeom prst="roundRect">
            <a:avLst>
              <a:gd name="adj" fmla="val 5294"/>
            </a:avLst>
          </a:prstGeom>
          <a:solidFill>
            <a:srgbClr val="1A1810"/>
          </a:solidFill>
          <a:ln w="12700">
            <a:solidFill>
              <a:srgbClr val="4A4430"/>
            </a:solidFill>
            <a:prstDash val="solid"/>
          </a:ln>
        </p:spPr>
      </p:sp>
      <p:sp>
        <p:nvSpPr>
          <p:cNvPr id="8" name="Text 5"/>
          <p:cNvSpPr txBox="1"/>
          <p:nvPr/>
        </p:nvSpPr>
        <p:spPr>
          <a:xfrm>
            <a:off x="886968" y="2103120"/>
            <a:ext cx="4640580" cy="777240"/>
          </a:xfrm>
          <a:prstGeom prst="rect">
            <a:avLst/>
          </a:prstGeom>
          <a:noFill/>
          <a:ln/>
        </p:spPr>
        <p:txBody>
          <a:bodyPr wrap="square" lIns="0" tIns="0" rIns="0" bIns="0" rtlCol="0" anchor="ctr"/>
          <a:lstStyle/>
          <a:p>
            <a:pPr marL="0" indent="0">
              <a:buNone/>
            </a:pPr>
            <a:r>
              <a:rPr lang="en-US" sz="1350" dirty="0">
                <a:solidFill>
                  <a:srgbClr val="F5F1E4"/>
                </a:solidFill>
                <a:latin typeface="Malgun Gothic" pitchFamily="34" charset="0"/>
                <a:ea typeface="Malgun Gothic" pitchFamily="34" charset="-122"/>
                <a:cs typeface="Malgun Gothic" pitchFamily="34" charset="-120"/>
              </a:rPr>
              <a:t>KISTI의 2024년 주요 연구성과를 알려줘.</a:t>
            </a:r>
            <a:endParaRPr lang="en-US" sz="1350" dirty="0"/>
          </a:p>
        </p:txBody>
      </p:sp>
      <p:sp>
        <p:nvSpPr>
          <p:cNvPr id="9" name="Text 6"/>
          <p:cNvSpPr txBox="1"/>
          <p:nvPr/>
        </p:nvSpPr>
        <p:spPr>
          <a:xfrm>
            <a:off x="722376" y="3063240"/>
            <a:ext cx="4969764" cy="365760"/>
          </a:xfrm>
          <a:prstGeom prst="rect">
            <a:avLst/>
          </a:prstGeom>
          <a:noFill/>
          <a:ln/>
        </p:spPr>
        <p:txBody>
          <a:bodyPr wrap="square" lIns="0" tIns="0" rIns="0" bIns="0" rtlCol="0" anchor="ctr"/>
          <a:lstStyle/>
          <a:p>
            <a:pPr marL="0" indent="0">
              <a:buNone/>
            </a:pPr>
            <a:r>
              <a:rPr lang="en-US" sz="1300" dirty="0">
                <a:solidFill>
                  <a:srgbClr val="D4CEC0"/>
                </a:solidFill>
                <a:latin typeface="Malgun Gothic" pitchFamily="34" charset="0"/>
                <a:ea typeface="Malgun Gothic" pitchFamily="34" charset="-122"/>
                <a:cs typeface="Malgun Gothic" pitchFamily="34" charset="-120"/>
              </a:rPr>
              <a:t>→ 빈칸을 두지 못해 그럴듯한 거짓을 날조:</a:t>
            </a:r>
            <a:endParaRPr lang="en-US" sz="1300" dirty="0"/>
          </a:p>
        </p:txBody>
      </p:sp>
      <p:sp>
        <p:nvSpPr>
          <p:cNvPr id="10" name="Text 7"/>
          <p:cNvSpPr txBox="1"/>
          <p:nvPr/>
        </p:nvSpPr>
        <p:spPr>
          <a:xfrm>
            <a:off x="722376" y="3493008"/>
            <a:ext cx="4969764" cy="822960"/>
          </a:xfrm>
          <a:prstGeom prst="rect">
            <a:avLst/>
          </a:prstGeom>
          <a:noFill/>
          <a:ln/>
        </p:spPr>
        <p:txBody>
          <a:bodyPr wrap="square" lIns="0" tIns="0" rIns="0" bIns="0" rtlCol="0" anchor="t"/>
          <a:lstStyle/>
          <a:p>
            <a:pPr marL="0" indent="0">
              <a:lnSpc>
                <a:spcPct val="120000"/>
              </a:lnSpc>
              <a:buNone/>
            </a:pPr>
            <a:r>
              <a:rPr lang="en-US" sz="1400" b="1" dirty="0">
                <a:solidFill>
                  <a:srgbClr val="FF9B8A"/>
                </a:solidFill>
                <a:latin typeface="Malgun Gothic" pitchFamily="34" charset="0"/>
                <a:ea typeface="Malgun Gothic" pitchFamily="34" charset="-122"/>
                <a:cs typeface="Malgun Gothic" pitchFamily="34" charset="-120"/>
              </a:rPr>
              <a:t>“2024년 양자컴퓨터 K-Q1을 공개했습니다”</a:t>
            </a:r>
            <a:endParaRPr lang="en-US" sz="1400" dirty="0"/>
          </a:p>
        </p:txBody>
      </p:sp>
      <p:sp>
        <p:nvSpPr>
          <p:cNvPr id="11" name="Shape 8"/>
          <p:cNvSpPr/>
          <p:nvPr/>
        </p:nvSpPr>
        <p:spPr>
          <a:xfrm>
            <a:off x="6277356" y="1481328"/>
            <a:ext cx="5408676" cy="4114800"/>
          </a:xfrm>
          <a:prstGeom prst="roundRect">
            <a:avLst>
              <a:gd name="adj" fmla="val 1000"/>
            </a:avLst>
          </a:prstGeom>
          <a:solidFill>
            <a:srgbClr val="232016"/>
          </a:solidFill>
          <a:ln w="12700">
            <a:solidFill>
              <a:srgbClr val="8FDDA4"/>
            </a:solidFill>
            <a:prstDash val="solid"/>
          </a:ln>
        </p:spPr>
      </p:sp>
      <p:sp>
        <p:nvSpPr>
          <p:cNvPr id="12" name="Text 9"/>
          <p:cNvSpPr txBox="1"/>
          <p:nvPr/>
        </p:nvSpPr>
        <p:spPr>
          <a:xfrm>
            <a:off x="6496812" y="1645920"/>
            <a:ext cx="4969764" cy="365760"/>
          </a:xfrm>
          <a:prstGeom prst="rect">
            <a:avLst/>
          </a:prstGeom>
          <a:noFill/>
          <a:ln/>
        </p:spPr>
        <p:txBody>
          <a:bodyPr wrap="square" lIns="0" tIns="0" rIns="0" bIns="0" rtlCol="0" anchor="ctr"/>
          <a:lstStyle/>
          <a:p>
            <a:pPr marL="0" indent="0">
              <a:buNone/>
            </a:pPr>
            <a:r>
              <a:rPr lang="en-US" sz="1450" b="1" dirty="0">
                <a:solidFill>
                  <a:srgbClr val="8FDDA4"/>
                </a:solidFill>
                <a:latin typeface="Malgun Gothic" pitchFamily="34" charset="0"/>
                <a:ea typeface="Malgun Gothic" pitchFamily="34" charset="-122"/>
                <a:cs typeface="Malgun Gothic" pitchFamily="34" charset="-120"/>
              </a:rPr>
              <a:t>After · 근거를 손에 쥐여주기</a:t>
            </a:r>
            <a:endParaRPr lang="en-US" sz="1450" dirty="0"/>
          </a:p>
        </p:txBody>
      </p:sp>
      <p:sp>
        <p:nvSpPr>
          <p:cNvPr id="13" name="Shape 10"/>
          <p:cNvSpPr/>
          <p:nvPr/>
        </p:nvSpPr>
        <p:spPr>
          <a:xfrm>
            <a:off x="6496812" y="2103120"/>
            <a:ext cx="4969764" cy="1051560"/>
          </a:xfrm>
          <a:prstGeom prst="roundRect">
            <a:avLst>
              <a:gd name="adj" fmla="val 3913"/>
            </a:avLst>
          </a:prstGeom>
          <a:solidFill>
            <a:srgbClr val="1A1810"/>
          </a:solidFill>
          <a:ln w="12700">
            <a:solidFill>
              <a:srgbClr val="4A4430"/>
            </a:solidFill>
            <a:prstDash val="solid"/>
          </a:ln>
        </p:spPr>
      </p:sp>
      <p:sp>
        <p:nvSpPr>
          <p:cNvPr id="14" name="Text 11"/>
          <p:cNvSpPr txBox="1"/>
          <p:nvPr/>
        </p:nvSpPr>
        <p:spPr>
          <a:xfrm>
            <a:off x="6661404" y="2212848"/>
            <a:ext cx="4640580" cy="868680"/>
          </a:xfrm>
          <a:prstGeom prst="rect">
            <a:avLst/>
          </a:prstGeom>
          <a:noFill/>
          <a:ln/>
        </p:spPr>
        <p:txBody>
          <a:bodyPr wrap="square" lIns="0" tIns="0" rIns="0" bIns="0" rtlCol="0" anchor="t"/>
          <a:lstStyle/>
          <a:p>
            <a:pPr marL="0" indent="0">
              <a:lnSpc>
                <a:spcPct val="120000"/>
              </a:lnSpc>
              <a:buNone/>
            </a:pPr>
            <a:r>
              <a:rPr lang="ko-KR" sz="1350" dirty="0">
                <a:solidFill>
                  <a:srgbClr val="F5F1E4"/>
                </a:solidFill>
                <a:latin typeface="Malgun Gothic" pitchFamily="34" charset="0"/>
                <a:ea typeface="Malgun Gothic" pitchFamily="34" charset="-122"/>
                <a:cs typeface="Malgun Gothic" pitchFamily="34" charset="-120"/>
              </a:rPr>
              <a:t xml:space="preserve">붙임 보도자료만 근거로 KISTI의 2024년 주요 연구성과를 알려줘.</a:t>
            </a:r>
            <a:endParaRPr lang="ko-KR" sz="1350" dirty="0"/>
          </a:p>
          <a:p>
            <a:pPr marL="0" indent="0">
              <a:lnSpc>
                <a:spcPct val="120000"/>
              </a:lnSpc>
              <a:buNone/>
            </a:pPr>
            <a:r>
              <a:rPr lang="ko-KR" sz="1350" dirty="0">
                <a:solidFill>
                  <a:srgbClr val="F5F1E4"/>
                </a:solidFill>
                <a:latin typeface="Malgun Gothic" pitchFamily="34" charset="0"/>
                <a:ea typeface="Malgun Gothic" pitchFamily="34" charset="-122"/>
                <a:cs typeface="Malgun Gothic" pitchFamily="34" charset="-120"/>
              </a:rPr>
              <a:t xml:space="preserve">자료에 없으면 '자료에 없음'이라고 답해.</a:t>
            </a:r>
            <a:endParaRPr lang="ko-KR" sz="1350" dirty="0"/>
          </a:p>
        </p:txBody>
      </p:sp>
      <p:sp>
        <p:nvSpPr>
          <p:cNvPr id="15" name="Text 12"/>
          <p:cNvSpPr txBox="1"/>
          <p:nvPr/>
        </p:nvSpPr>
        <p:spPr>
          <a:xfrm>
            <a:off x="6496812" y="3310128"/>
            <a:ext cx="4969764" cy="365760"/>
          </a:xfrm>
          <a:prstGeom prst="rect">
            <a:avLst/>
          </a:prstGeom>
          <a:noFill/>
          <a:ln/>
        </p:spPr>
        <p:txBody>
          <a:bodyPr wrap="square" lIns="0" tIns="0" rIns="0" bIns="0" rtlCol="0" anchor="ctr"/>
          <a:lstStyle/>
          <a:p>
            <a:pPr marL="0" indent="0">
              <a:buNone/>
            </a:pPr>
            <a:r>
              <a:rPr lang="en-US" sz="1300" dirty="0">
                <a:solidFill>
                  <a:srgbClr val="D4CEC0"/>
                </a:solidFill>
                <a:latin typeface="Malgun Gothic" pitchFamily="34" charset="0"/>
                <a:ea typeface="Malgun Gothic" pitchFamily="34" charset="-122"/>
                <a:cs typeface="Malgun Gothic" pitchFamily="34" charset="-120"/>
              </a:rPr>
              <a:t>→ 재료가 프롬프트 안에 있으니:</a:t>
            </a:r>
            <a:endParaRPr lang="en-US" sz="1300" dirty="0"/>
          </a:p>
        </p:txBody>
      </p:sp>
      <p:sp>
        <p:nvSpPr>
          <p:cNvPr id="16" name="Text 13"/>
          <p:cNvSpPr txBox="1"/>
          <p:nvPr/>
        </p:nvSpPr>
        <p:spPr>
          <a:xfrm>
            <a:off x="6496812" y="3730752"/>
            <a:ext cx="4969764" cy="868680"/>
          </a:xfrm>
          <a:prstGeom prst="rect">
            <a:avLst/>
          </a:prstGeom>
          <a:noFill/>
          <a:ln/>
        </p:spPr>
        <p:txBody>
          <a:bodyPr wrap="square" lIns="0" tIns="0" rIns="0" bIns="0" rtlCol="0" anchor="t"/>
          <a:lstStyle/>
          <a:p>
            <a:pPr marL="0" indent="0">
              <a:lnSpc>
                <a:spcPct val="120000"/>
              </a:lnSpc>
              <a:buNone/>
            </a:pPr>
            <a:r>
              <a:rPr lang="en-US" sz="1400" b="1" dirty="0">
                <a:solidFill>
                  <a:srgbClr val="8FDDA4"/>
                </a:solidFill>
                <a:latin typeface="Malgun Gothic" pitchFamily="34" charset="0"/>
                <a:ea typeface="Malgun Gothic" pitchFamily="34" charset="-122"/>
                <a:cs typeface="Malgun Gothic" pitchFamily="34" charset="-120"/>
              </a:rPr>
              <a:t>“붙임 자료에 따르면 ①…②… 그 외는 제공된 자료에 없습니다.”</a:t>
            </a:r>
            <a:endParaRPr lang="en-US" sz="1400" dirty="0"/>
          </a:p>
        </p:txBody>
      </p:sp>
      <p:sp>
        <p:nvSpPr>
          <p:cNvPr id="17" name="Shape 14"/>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8" name="Text 15"/>
          <p:cNvSpPr txBox="1"/>
          <p:nvPr/>
        </p:nvSpPr>
        <p:spPr>
          <a:xfrm>
            <a:off x="758952" y="5779008"/>
            <a:ext cx="10671048" cy="566928"/>
          </a:xfrm>
          <a:prstGeom prst="rect">
            <a:avLst/>
          </a:prstGeom>
          <a:noFill/>
          <a:ln/>
        </p:spPr>
        <p:txBody>
          <a:bodyPr wrap="square" lIns="0" tIns="0" rIns="0" bIns="0" rtlCol="0" anchor="ctr"/>
          <a:lstStyle/>
          <a:p>
            <a:pPr marL="0" indent="0">
              <a:buNone/>
            </a:pPr>
            <a:r>
              <a:rPr lang="ko-KR" sz="1350" b="1" dirty="0">
                <a:solidFill>
                  <a:srgbClr val="FFDF57"/>
                </a:solidFill>
                <a:latin typeface="Malgun Gothic" pitchFamily="34" charset="0"/>
                <a:ea typeface="Malgun Gothic" pitchFamily="34" charset="-122"/>
                <a:cs typeface="Malgun Gothic" pitchFamily="34" charset="-120"/>
              </a:rPr>
              <a:t xml:space="preserve">RAG(검색 증강 생성): 자료를 찾아 넣고 그 안에서 답하게 하는 방식 — 웹 검색·Deep Research가 이 과정을 자동화</a:t>
            </a:r>
            <a:endParaRPr lang="ko-KR"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en-US" sz="2100" b="1" dirty="0">
                <a:solidFill>
                  <a:srgbClr val="FFDF57"/>
                </a:solidFill>
                <a:latin typeface="Malgun Gothic" pitchFamily="34" charset="0"/>
                <a:ea typeface="Malgun Gothic" pitchFamily="34" charset="-122"/>
                <a:cs typeface="Malgun Gothic" pitchFamily="34" charset="-120"/>
              </a:rPr>
              <a:t>실습 1 · 근거 자료가 있을 때와 없을 때</a:t>
            </a:r>
            <a:endParaRPr lang="en-US"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ko-KR" sz="1350" dirty="0">
                <a:solidFill>
                  <a:srgbClr val="F5F1E4"/>
                </a:solidFill>
                <a:latin typeface="Malgun Gothic" pitchFamily="34" charset="0"/>
                <a:ea typeface="Malgun Gothic" pitchFamily="34" charset="-122"/>
                <a:cs typeface="Malgun Gothic" pitchFamily="34" charset="-120"/>
              </a:rPr>
              <a:t xml:space="preserve">강의자료의 DATA_INSIGHT_63호_1_10p.pdf 이용 · A는 웹 검색 없이 진행</a:t>
            </a:r>
            <a:endParaRPr lang="ko-KR" sz="1350" dirty="0"/>
          </a:p>
        </p:txBody>
      </p:sp>
      <p:sp>
        <p:nvSpPr>
          <p:cNvPr id="5" name="Shape 2"/>
          <p:cNvSpPr/>
          <p:nvPr/>
        </p:nvSpPr>
        <p:spPr>
          <a:xfrm>
            <a:off x="502920" y="1417320"/>
            <a:ext cx="11183112" cy="713232"/>
          </a:xfrm>
          <a:prstGeom prst="roundRect">
            <a:avLst>
              <a:gd name="adj" fmla="val 5769"/>
            </a:avLst>
          </a:prstGeom>
          <a:solidFill>
            <a:srgbClr val="2B2719"/>
          </a:solidFill>
          <a:ln w="12700">
            <a:solidFill>
              <a:srgbClr val="4A4430"/>
            </a:solidFill>
            <a:prstDash val="solid"/>
          </a:ln>
        </p:spPr>
      </p:sp>
      <p:sp>
        <p:nvSpPr>
          <p:cNvPr id="6" name="Text 3"/>
          <p:cNvSpPr txBox="1"/>
          <p:nvPr/>
        </p:nvSpPr>
        <p:spPr>
          <a:xfrm>
            <a:off x="740664" y="1417320"/>
            <a:ext cx="10707624" cy="713232"/>
          </a:xfrm>
          <a:prstGeom prst="rect">
            <a:avLst/>
          </a:prstGeom>
          <a:noFill/>
          <a:ln/>
        </p:spPr>
        <p:txBody>
          <a:bodyPr wrap="square" lIns="0" tIns="0" rIns="0" bIns="0" rtlCol="0" anchor="ctr"/>
          <a:lstStyle/>
          <a:p>
            <a:pPr marL="0" indent="0">
              <a:buNone/>
            </a:pPr>
            <a:r>
              <a:rPr lang="en-US" sz="1350" b="1" dirty="0">
                <a:solidFill>
                  <a:srgbClr val="FFD733"/>
                </a:solidFill>
                <a:latin typeface="Malgun Gothic" pitchFamily="34" charset="0"/>
                <a:ea typeface="Malgun Gothic" pitchFamily="34" charset="-122"/>
                <a:cs typeface="Malgun Gothic" pitchFamily="34" charset="-120"/>
              </a:rPr>
              <a:t>질문:  </a:t>
            </a:r>
            <a:r>
              <a:rPr lang="en-US" sz="1350" dirty="0">
                <a:solidFill>
                  <a:srgbClr val="F5F1E4"/>
                </a:solidFill>
                <a:latin typeface="Malgun Gothic" pitchFamily="34" charset="0"/>
                <a:ea typeface="Malgun Gothic" pitchFamily="34" charset="-122"/>
                <a:cs typeface="Malgun Gothic" pitchFamily="34" charset="-120"/>
              </a:rPr>
              <a:t>KISTI 데이터 인사이트 보고서에 따르면 동아시아의 고령화 진행 상황은 어떤 양상이야? 1줄로 대답해</a:t>
            </a:r>
            <a:endParaRPr lang="en-US" sz="1350" dirty="0"/>
          </a:p>
        </p:txBody>
      </p:sp>
      <p:sp>
        <p:nvSpPr>
          <p:cNvPr id="11" name="Shape 6"/>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2" name="Text 7"/>
          <p:cNvSpPr txBox="1"/>
          <p:nvPr/>
        </p:nvSpPr>
        <p:spPr>
          <a:xfrm>
            <a:off x="758952" y="5779008"/>
            <a:ext cx="10671048" cy="566928"/>
          </a:xfrm>
          <a:prstGeom prst="rect">
            <a:avLst/>
          </a:prstGeom>
          <a:noFill/>
          <a:ln/>
        </p:spPr>
        <p:txBody>
          <a:bodyPr wrap="square" lIns="0" tIns="0" rIns="0" bIns="0" rtlCol="0" anchor="ctr"/>
          <a:lstStyle/>
          <a:p>
            <a:pPr marL="0" indent="0">
              <a:buNone/>
            </a:pPr>
            <a:r>
              <a:rPr lang="ko-KR" sz="1350" b="1" dirty="0">
                <a:solidFill>
                  <a:srgbClr val="FFDF57"/>
                </a:solidFill>
                <a:latin typeface="Malgun Gothic" pitchFamily="34" charset="0"/>
                <a:ea typeface="Malgun Gothic" pitchFamily="34" charset="-122"/>
                <a:cs typeface="Malgun Gothic" pitchFamily="34" charset="-120"/>
              </a:rPr>
              <a:t xml:space="preserve">같은 질문이라도 자료를 주면 원문에 근거한 답, 안 주면 확인할 수 없는 그럴듯한 답</a:t>
            </a:r>
            <a:endParaRPr lang="ko-KR" sz="1350" dirty="0"/>
          </a:p>
        </p:txBody>
      </p:sp>
      <p:sp>
        <p:nvSpPr>
          <p:cNvPr id="13" name="A card"/>
          <p:cNvSpPr/>
          <p:nvPr/>
        </p:nvSpPr>
        <p:spPr>
          <a:xfrm>
            <a:off x="502920" y="2286000"/>
            <a:ext cx="5413248" cy="2651760"/>
          </a:xfrm>
          <a:prstGeom prst="roundRect">
            <a:avLst>
              <a:gd name="adj" fmla="val 1589"/>
            </a:avLst>
          </a:prstGeom>
          <a:solidFill>
            <a:srgbClr val="232016"/>
          </a:solidFill>
          <a:ln w="12700">
            <a:solidFill>
              <a:srgbClr val="FF9B8A"/>
            </a:solidFill>
            <a:prstDash val="solid"/>
          </a:ln>
        </p:spPr>
      </p:sp>
      <p:sp>
        <p:nvSpPr>
          <p:cNvPr id="14" name="A head"/>
          <p:cNvSpPr txBox="1"/>
          <p:nvPr/>
        </p:nvSpPr>
        <p:spPr>
          <a:xfrm>
            <a:off x="722376" y="2395728"/>
            <a:ext cx="4965192" cy="329184"/>
          </a:xfrm>
          <a:prstGeom prst="rect">
            <a:avLst/>
          </a:prstGeom>
          <a:noFill/>
          <a:ln/>
        </p:spPr>
        <p:txBody>
          <a:bodyPr wrap="square" lIns="0" tIns="0" rIns="0" bIns="0" rtlCol="0" anchor="ctr"/>
          <a:lstStyle/>
          <a:p>
            <a:pPr marL="0" indent="0">
              <a:buNone/>
            </a:pPr>
            <a:r>
              <a:rPr lang="ko-KR" sz="1400" b="1" dirty="0">
                <a:solidFill>
                  <a:srgbClr val="FF9B8A"/>
                </a:solidFill>
                <a:latin typeface="Malgun Gothic" pitchFamily="34" charset="0"/>
                <a:ea typeface="Malgun Gothic" pitchFamily="34" charset="-122"/>
                <a:cs typeface="Malgun Gothic" pitchFamily="34" charset="-120"/>
              </a:rPr>
              <a:t xml:space="preserve">A · 근거자료 없이 질문</a:t>
            </a:r>
            <a:endParaRPr lang="ko-KR" sz="1400" dirty="0"/>
          </a:p>
        </p:txBody>
      </p:sp>
      <p:sp>
        <p:nvSpPr>
          <p:cNvPr id="15" name="A body"/>
          <p:cNvSpPr txBox="1"/>
          <p:nvPr/>
        </p:nvSpPr>
        <p:spPr>
          <a:xfrm>
            <a:off x="722376" y="2761488"/>
            <a:ext cx="4965192" cy="1097280"/>
          </a:xfrm>
          <a:prstGeom prst="rect">
            <a:avLst/>
          </a:prstGeom>
          <a:noFill/>
          <a:ln/>
        </p:spPr>
        <p:txBody>
          <a:bodyPr wrap="square" lIns="0" tIns="0" rIns="0" bIns="0" rtlCol="0" anchor="t"/>
          <a:lstStyle/>
          <a:p>
            <a:pPr marL="0" indent="0">
              <a:lnSpc>
                <a:spcPct val="118000"/>
              </a:lnSpc>
              <a:buNone/>
            </a:pPr>
            <a:r>
              <a:rPr lang="ko-KR" sz="1250" dirty="0">
                <a:solidFill>
                  <a:srgbClr val="F5F1E4"/>
                </a:solidFill>
                <a:latin typeface="Malgun Gothic" pitchFamily="34" charset="0"/>
                <a:ea typeface="Malgun Gothic" pitchFamily="34" charset="-122"/>
                <a:cs typeface="Malgun Gothic" pitchFamily="34" charset="-120"/>
              </a:rPr>
              <a:t xml:space="preserve">① 새 대화 열기</a:t>
            </a:r>
            <a:endParaRPr lang="ko-KR" sz="1250" dirty="0"/>
          </a:p>
          <a:p>
            <a:pPr marL="0" indent="0">
              <a:lnSpc>
                <a:spcPct val="118000"/>
              </a:lnSpc>
              <a:buNone/>
            </a:pPr>
            <a:r>
              <a:rPr lang="ko-KR" sz="1250" dirty="0">
                <a:solidFill>
                  <a:srgbClr val="F5F1E4"/>
                </a:solidFill>
                <a:latin typeface="Malgun Gothic" pitchFamily="34" charset="0"/>
                <a:ea typeface="Malgun Gothic" pitchFamily="34" charset="-122"/>
                <a:cs typeface="Malgun Gothic" pitchFamily="34" charset="-120"/>
              </a:rPr>
              <a:t xml:space="preserve">② 질문 앞에 '웹 검색 없이 네 기억만으로 답해'를 붙여 입력</a:t>
            </a:r>
            <a:endParaRPr lang="ko-KR" sz="1250" dirty="0"/>
          </a:p>
          <a:p>
            <a:pPr marL="0" indent="0">
              <a:lnSpc>
                <a:spcPct val="118000"/>
              </a:lnSpc>
              <a:buNone/>
            </a:pPr>
            <a:r>
              <a:rPr lang="ko-KR" sz="1250" dirty="0">
                <a:solidFill>
                  <a:srgbClr val="F5F1E4"/>
                </a:solidFill>
                <a:latin typeface="Malgun Gothic" pitchFamily="34" charset="0"/>
                <a:ea typeface="Malgun Gothic" pitchFamily="34" charset="-122"/>
                <a:cs typeface="Malgun Gothic" pitchFamily="34" charset="-120"/>
              </a:rPr>
              <a:t xml:space="preserve">③ 확인할 것: 보고서에 없는 내용이 '보고서에 따르면'으로 나오는지</a:t>
            </a:r>
            <a:endParaRPr lang="ko-KR" sz="1250" dirty="0"/>
          </a:p>
        </p:txBody>
      </p:sp>
      <p:sp>
        <p:nvSpPr>
          <p:cNvPr id="16" name="A result"/>
          <p:cNvSpPr/>
          <p:nvPr/>
        </p:nvSpPr>
        <p:spPr>
          <a:xfrm>
            <a:off x="722376" y="3931920"/>
            <a:ext cx="4965192" cy="868680"/>
          </a:xfrm>
          <a:prstGeom prst="roundRect">
            <a:avLst>
              <a:gd name="adj" fmla="val 1589"/>
            </a:avLst>
          </a:prstGeom>
          <a:solidFill>
            <a:srgbClr val="1A1810"/>
          </a:solidFill>
          <a:ln w="12700">
            <a:solidFill>
              <a:srgbClr val="4A4430"/>
            </a:solidFill>
            <a:prstDash val="solid"/>
          </a:ln>
        </p:spPr>
      </p:sp>
      <p:sp>
        <p:nvSpPr>
          <p:cNvPr id="17" name="A result text"/>
          <p:cNvSpPr txBox="1"/>
          <p:nvPr/>
        </p:nvSpPr>
        <p:spPr>
          <a:xfrm>
            <a:off x="868680" y="3986784"/>
            <a:ext cx="4681728" cy="758952"/>
          </a:xfrm>
          <a:prstGeom prst="rect">
            <a:avLst/>
          </a:prstGeom>
          <a:noFill/>
          <a:ln/>
        </p:spPr>
        <p:txBody>
          <a:bodyPr wrap="square" lIns="0" tIns="0" rIns="0" bIns="0" rtlCol="0" anchor="ctr"/>
          <a:lstStyle/>
          <a:p>
            <a:pPr marL="0" indent="0">
              <a:lnSpc>
                <a:spcPct val="118000"/>
              </a:lnSpc>
              <a:buNone/>
            </a:pPr>
            <a:r>
              <a:rPr lang="ko-KR" sz="1200" b="1" dirty="0">
                <a:solidFill>
                  <a:srgbClr val="FF9B8A"/>
                </a:solidFill>
                <a:latin typeface="Malgun Gothic" pitchFamily="34" charset="0"/>
                <a:ea typeface="Malgun Gothic" pitchFamily="34" charset="-122"/>
                <a:cs typeface="Malgun Gothic" pitchFamily="34" charset="-120"/>
              </a:rPr>
              <a:t xml:space="preserve">2026년 10월 테스트(Claude)  </a:t>
            </a:r>
            <a:r>
              <a:rPr lang="ko-KR" sz="1200" dirty="0">
                <a:solidFill>
                  <a:srgbClr val="D4CEC0"/>
                </a:solidFill>
                <a:latin typeface="Malgun Gothic" pitchFamily="34" charset="0"/>
                <a:ea typeface="Malgun Gothic" pitchFamily="34" charset="-122"/>
                <a:cs typeface="Malgun Gothic" pitchFamily="34" charset="-120"/>
              </a:rPr>
              <a:t xml:space="preserve">'구체적 수치까지는 확신하기 어렵지만 … 양상으로 기억합니다' — 유보 표현을 붙이면서도 일반 지식을 보고서 내용처럼 제시</a:t>
            </a:r>
            <a:endParaRPr lang="ko-KR" sz="1200" dirty="0"/>
          </a:p>
        </p:txBody>
      </p:sp>
      <p:sp>
        <p:nvSpPr>
          <p:cNvPr id="18" name="B card"/>
          <p:cNvSpPr/>
          <p:nvPr/>
        </p:nvSpPr>
        <p:spPr>
          <a:xfrm>
            <a:off x="6281928" y="2286000"/>
            <a:ext cx="5413248" cy="2651760"/>
          </a:xfrm>
          <a:prstGeom prst="roundRect">
            <a:avLst>
              <a:gd name="adj" fmla="val 1589"/>
            </a:avLst>
          </a:prstGeom>
          <a:solidFill>
            <a:srgbClr val="232016"/>
          </a:solidFill>
          <a:ln w="12700">
            <a:solidFill>
              <a:srgbClr val="8FDDA4"/>
            </a:solidFill>
            <a:prstDash val="solid"/>
          </a:ln>
        </p:spPr>
      </p:sp>
      <p:sp>
        <p:nvSpPr>
          <p:cNvPr id="19" name="B head"/>
          <p:cNvSpPr txBox="1"/>
          <p:nvPr/>
        </p:nvSpPr>
        <p:spPr>
          <a:xfrm>
            <a:off x="6501384" y="2395728"/>
            <a:ext cx="4965192" cy="329184"/>
          </a:xfrm>
          <a:prstGeom prst="rect">
            <a:avLst/>
          </a:prstGeom>
          <a:noFill/>
          <a:ln/>
        </p:spPr>
        <p:txBody>
          <a:bodyPr wrap="square" lIns="0" tIns="0" rIns="0" bIns="0" rtlCol="0" anchor="ctr"/>
          <a:lstStyle/>
          <a:p>
            <a:pPr marL="0" indent="0">
              <a:buNone/>
            </a:pPr>
            <a:r>
              <a:rPr lang="ko-KR" sz="1400" b="1" dirty="0">
                <a:solidFill>
                  <a:srgbClr val="8FDDA4"/>
                </a:solidFill>
                <a:latin typeface="Malgun Gothic" pitchFamily="34" charset="0"/>
                <a:ea typeface="Malgun Gothic" pitchFamily="34" charset="-122"/>
                <a:cs typeface="Malgun Gothic" pitchFamily="34" charset="-120"/>
              </a:rPr>
              <a:t xml:space="preserve">B · 근거자료를 첨부하고 질문</a:t>
            </a:r>
            <a:endParaRPr lang="ko-KR" sz="1400" dirty="0"/>
          </a:p>
        </p:txBody>
      </p:sp>
      <p:sp>
        <p:nvSpPr>
          <p:cNvPr id="20" name="B body"/>
          <p:cNvSpPr txBox="1"/>
          <p:nvPr/>
        </p:nvSpPr>
        <p:spPr>
          <a:xfrm>
            <a:off x="6501384" y="2761488"/>
            <a:ext cx="4965192" cy="1097280"/>
          </a:xfrm>
          <a:prstGeom prst="rect">
            <a:avLst/>
          </a:prstGeom>
          <a:noFill/>
          <a:ln/>
        </p:spPr>
        <p:txBody>
          <a:bodyPr wrap="square" lIns="0" tIns="0" rIns="0" bIns="0" rtlCol="0" anchor="t"/>
          <a:lstStyle/>
          <a:p>
            <a:pPr marL="0" indent="0">
              <a:lnSpc>
                <a:spcPct val="118000"/>
              </a:lnSpc>
              <a:buNone/>
            </a:pPr>
            <a:r>
              <a:rPr lang="ko-KR" sz="1250" dirty="0">
                <a:solidFill>
                  <a:srgbClr val="F5F1E4"/>
                </a:solidFill>
                <a:latin typeface="Malgun Gothic" pitchFamily="34" charset="0"/>
                <a:ea typeface="Malgun Gothic" pitchFamily="34" charset="-122"/>
                <a:cs typeface="Malgun Gothic" pitchFamily="34" charset="-120"/>
              </a:rPr>
              <a:t xml:space="preserve">① 입력창의 + 버튼으로 PDF 첨부 (끌어다 놓아도 됨)</a:t>
            </a:r>
            <a:endParaRPr lang="ko-KR" sz="1250" dirty="0"/>
          </a:p>
          <a:p>
            <a:pPr marL="0" indent="0">
              <a:lnSpc>
                <a:spcPct val="118000"/>
              </a:lnSpc>
              <a:buNone/>
            </a:pPr>
            <a:r>
              <a:rPr lang="ko-KR" sz="1250" dirty="0">
                <a:solidFill>
                  <a:srgbClr val="F5F1E4"/>
                </a:solidFill>
                <a:latin typeface="Malgun Gothic" pitchFamily="34" charset="0"/>
                <a:ea typeface="Malgun Gothic" pitchFamily="34" charset="-122"/>
                <a:cs typeface="Malgun Gothic" pitchFamily="34" charset="-120"/>
              </a:rPr>
              <a:t xml:space="preserve">② 같은 질문 입력</a:t>
            </a:r>
            <a:endParaRPr lang="ko-KR" sz="1250" dirty="0"/>
          </a:p>
          <a:p>
            <a:pPr marL="0" indent="0">
              <a:lnSpc>
                <a:spcPct val="118000"/>
              </a:lnSpc>
              <a:buNone/>
            </a:pPr>
            <a:r>
              <a:rPr lang="ko-KR" sz="1250" dirty="0">
                <a:solidFill>
                  <a:srgbClr val="F5F1E4"/>
                </a:solidFill>
                <a:latin typeface="Malgun Gothic" pitchFamily="34" charset="0"/>
                <a:ea typeface="Malgun Gothic" pitchFamily="34" charset="-122"/>
                <a:cs typeface="Malgun Gothic" pitchFamily="34" charset="-120"/>
              </a:rPr>
              <a:t xml:space="preserve">③ 확인할 것: 보고서 원문 표현('압축형 고령화', 서구권과의 대비)이 답에 나오는지</a:t>
            </a:r>
            <a:endParaRPr lang="ko-KR" sz="1250" dirty="0"/>
          </a:p>
        </p:txBody>
      </p:sp>
      <p:sp>
        <p:nvSpPr>
          <p:cNvPr id="21" name="B result"/>
          <p:cNvSpPr/>
          <p:nvPr/>
        </p:nvSpPr>
        <p:spPr>
          <a:xfrm>
            <a:off x="6501384" y="3931920"/>
            <a:ext cx="4965192" cy="868680"/>
          </a:xfrm>
          <a:prstGeom prst="roundRect">
            <a:avLst>
              <a:gd name="adj" fmla="val 1589"/>
            </a:avLst>
          </a:prstGeom>
          <a:solidFill>
            <a:srgbClr val="1A1810"/>
          </a:solidFill>
          <a:ln w="12700">
            <a:solidFill>
              <a:srgbClr val="4A4430"/>
            </a:solidFill>
            <a:prstDash val="solid"/>
          </a:ln>
        </p:spPr>
      </p:sp>
      <p:sp>
        <p:nvSpPr>
          <p:cNvPr id="22" name="B result text"/>
          <p:cNvSpPr txBox="1"/>
          <p:nvPr/>
        </p:nvSpPr>
        <p:spPr>
          <a:xfrm>
            <a:off x="6647688" y="3986784"/>
            <a:ext cx="4681728" cy="758952"/>
          </a:xfrm>
          <a:prstGeom prst="rect">
            <a:avLst/>
          </a:prstGeom>
          <a:noFill/>
          <a:ln/>
        </p:spPr>
        <p:txBody>
          <a:bodyPr wrap="square" lIns="0" tIns="0" rIns="0" bIns="0" rtlCol="0" anchor="ctr"/>
          <a:lstStyle/>
          <a:p>
            <a:pPr marL="0" indent="0">
              <a:lnSpc>
                <a:spcPct val="118000"/>
              </a:lnSpc>
              <a:buNone/>
            </a:pPr>
            <a:r>
              <a:rPr lang="ko-KR" sz="1200" b="1" dirty="0">
                <a:solidFill>
                  <a:srgbClr val="8FDDA4"/>
                </a:solidFill>
                <a:latin typeface="Malgun Gothic" pitchFamily="34" charset="0"/>
                <a:ea typeface="Malgun Gothic" pitchFamily="34" charset="-122"/>
                <a:cs typeface="Malgun Gothic" pitchFamily="34" charset="-120"/>
              </a:rPr>
              <a:t xml:space="preserve">예시 답변  </a:t>
            </a:r>
            <a:r>
              <a:rPr lang="ko-KR" sz="1200" dirty="0">
                <a:solidFill>
                  <a:srgbClr val="D4CEC0"/>
                </a:solidFill>
                <a:latin typeface="Malgun Gothic" pitchFamily="34" charset="0"/>
                <a:ea typeface="Malgun Gothic" pitchFamily="34" charset="-122"/>
                <a:cs typeface="Malgun Gothic" pitchFamily="34" charset="-120"/>
              </a:rPr>
              <a:t xml:space="preserve">'첨부 자료에 따르면 서구권의 완만한 고령화와 달리 동아시아는 단기간에 고령 인구가 급증하는 압축형 고령화' — 첨부 자료 범위 안에서 답변</a:t>
            </a:r>
            <a:endParaRPr lang="ko-KR" sz="1200" dirty="0"/>
          </a:p>
        </p:txBody>
      </p:sp>
      <p:sp>
        <p:nvSpPr>
          <p:cNvPr id="23" name="Note bar"/>
          <p:cNvSpPr/>
          <p:nvPr/>
        </p:nvSpPr>
        <p:spPr>
          <a:xfrm>
            <a:off x="502920" y="5074920"/>
            <a:ext cx="11183112" cy="566928"/>
          </a:xfrm>
          <a:prstGeom prst="roundRect">
            <a:avLst>
              <a:gd name="adj" fmla="val 1589"/>
            </a:avLst>
          </a:prstGeom>
          <a:solidFill>
            <a:srgbClr val="2B2719"/>
          </a:solidFill>
          <a:ln w="12700">
            <a:solidFill>
              <a:srgbClr val="4A4430"/>
            </a:solidFill>
            <a:prstDash val="solid"/>
          </a:ln>
        </p:spPr>
      </p:sp>
      <p:sp>
        <p:nvSpPr>
          <p:cNvPr id="24" name="Note bar text"/>
          <p:cNvSpPr txBox="1"/>
          <p:nvPr/>
        </p:nvSpPr>
        <p:spPr>
          <a:xfrm>
            <a:off x="758952" y="5074920"/>
            <a:ext cx="10671048" cy="566928"/>
          </a:xfrm>
          <a:prstGeom prst="rect">
            <a:avLst/>
          </a:prstGeom>
          <a:noFill/>
          <a:ln/>
        </p:spPr>
        <p:txBody>
          <a:bodyPr wrap="square" lIns="0" tIns="0" rIns="0" bIns="0" rtlCol="0" anchor="ctr"/>
          <a:lstStyle/>
          <a:p>
            <a:pPr marL="0" indent="0">
              <a:buNone/>
            </a:pPr>
            <a:r>
              <a:rPr lang="ko-KR" sz="1300" dirty="0">
                <a:solidFill>
                  <a:srgbClr val="F5F1E4"/>
                </a:solidFill>
                <a:latin typeface="Malgun Gothic" pitchFamily="34" charset="0"/>
                <a:ea typeface="Malgun Gothic" pitchFamily="34" charset="-122"/>
                <a:cs typeface="Malgun Gothic" pitchFamily="34" charset="-120"/>
              </a:rPr>
              <a:t xml:space="preserve">검색이 켜져 있으면 모델이 스스로 보고서를 찾아 출처와 함께 답함 — 환각이 사라진 것이 아니라 앱이 근거를 대신 넣어 준 것</a:t>
            </a:r>
            <a:endParaRPr lang="ko-KR"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2 검증 — '모른다' 허용과 '근거 없는 문장 삭제'를 명시</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ko-KR" sz="1350" dirty="0">
                <a:solidFill>
                  <a:srgbClr val="F5F1E4"/>
                </a:solidFill>
                <a:latin typeface="Malgun Gothic" pitchFamily="34" charset="0"/>
                <a:ea typeface="Malgun Gothic" pitchFamily="34" charset="-122"/>
                <a:cs typeface="Malgun Gothic" pitchFamily="34" charset="-120"/>
              </a:rPr>
              <a:t xml:space="preserve">두 줄로 충분 — '모르면 확인 필요' + '근거 없는 문장 삭제' (Anthropic 공식 권장, ①은 Google도 권장)</a:t>
            </a:r>
            <a:endParaRPr lang="ko-KR" sz="1350" dirty="0"/>
          </a:p>
        </p:txBody>
      </p:sp>
      <p:sp>
        <p:nvSpPr>
          <p:cNvPr id="5" name="Shape 2"/>
          <p:cNvSpPr/>
          <p:nvPr/>
        </p:nvSpPr>
        <p:spPr>
          <a:xfrm>
            <a:off x="502920" y="1481328"/>
            <a:ext cx="5408676" cy="3429000"/>
          </a:xfrm>
          <a:prstGeom prst="roundRect">
            <a:avLst>
              <a:gd name="adj" fmla="val 1200"/>
            </a:avLst>
          </a:prstGeom>
          <a:solidFill>
            <a:srgbClr val="232016"/>
          </a:solidFill>
          <a:ln w="12700">
            <a:solidFill>
              <a:srgbClr val="4A4430"/>
            </a:solidFill>
            <a:prstDash val="solid"/>
          </a:ln>
        </p:spPr>
      </p:sp>
      <p:sp>
        <p:nvSpPr>
          <p:cNvPr id="6" name="Text 3"/>
          <p:cNvSpPr txBox="1"/>
          <p:nvPr/>
        </p:nvSpPr>
        <p:spPr>
          <a:xfrm>
            <a:off x="722376" y="1645920"/>
            <a:ext cx="4969764" cy="365760"/>
          </a:xfrm>
          <a:prstGeom prst="rect">
            <a:avLst/>
          </a:prstGeom>
          <a:noFill/>
          <a:ln/>
        </p:spPr>
        <p:txBody>
          <a:bodyPr wrap="square" lIns="0" tIns="0" rIns="0" bIns="0" rtlCol="0" anchor="ctr"/>
          <a:lstStyle/>
          <a:p>
            <a:pPr marL="0" indent="0">
              <a:buNone/>
            </a:pPr>
            <a:r>
              <a:rPr lang="ko-KR" sz="1450" b="1" dirty="0">
                <a:solidFill>
                  <a:srgbClr val="FFD733"/>
                </a:solidFill>
                <a:latin typeface="Malgun Gothic" pitchFamily="34" charset="0"/>
                <a:ea typeface="Malgun Gothic" pitchFamily="34" charset="-122"/>
                <a:cs typeface="Malgun Gothic" pitchFamily="34" charset="-120"/>
              </a:rPr>
              <a:t xml:space="preserve">① '모른다' 허용</a:t>
            </a:r>
            <a:endParaRPr lang="ko-KR" sz="1450" dirty="0"/>
          </a:p>
        </p:txBody>
      </p:sp>
      <p:sp>
        <p:nvSpPr>
          <p:cNvPr id="7" name="Shape 4"/>
          <p:cNvSpPr/>
          <p:nvPr/>
        </p:nvSpPr>
        <p:spPr>
          <a:xfrm>
            <a:off x="722376" y="2121408"/>
            <a:ext cx="4969764" cy="868680"/>
          </a:xfrm>
          <a:prstGeom prst="roundRect">
            <a:avLst>
              <a:gd name="adj" fmla="val 4737"/>
            </a:avLst>
          </a:prstGeom>
          <a:solidFill>
            <a:srgbClr val="1A1810"/>
          </a:solidFill>
          <a:ln w="12700">
            <a:solidFill>
              <a:srgbClr val="FFD733"/>
            </a:solidFill>
            <a:prstDash val="solid"/>
          </a:ln>
        </p:spPr>
      </p:sp>
      <p:sp>
        <p:nvSpPr>
          <p:cNvPr id="8" name="Text 5"/>
          <p:cNvSpPr txBox="1"/>
          <p:nvPr/>
        </p:nvSpPr>
        <p:spPr>
          <a:xfrm>
            <a:off x="886968" y="2212848"/>
            <a:ext cx="4640580" cy="685800"/>
          </a:xfrm>
          <a:prstGeom prst="rect">
            <a:avLst/>
          </a:prstGeom>
          <a:noFill/>
          <a:ln/>
        </p:spPr>
        <p:txBody>
          <a:bodyPr wrap="square" lIns="0" tIns="0" rIns="0" bIns="0" rtlCol="0" anchor="t"/>
          <a:lstStyle/>
          <a:p>
            <a:pPr marL="0" indent="0">
              <a:lnSpc>
                <a:spcPct val="120000"/>
              </a:lnSpc>
              <a:buNone/>
            </a:pPr>
            <a:r>
              <a:rPr lang="ko-KR" sz="1350" b="1" dirty="0">
                <a:solidFill>
                  <a:srgbClr val="FFFFFF"/>
                </a:solidFill>
                <a:latin typeface="Malgun Gothic" pitchFamily="34" charset="0"/>
                <a:ea typeface="Malgun Gothic" pitchFamily="34" charset="-122"/>
                <a:cs typeface="Malgun Gothic" pitchFamily="34" charset="-120"/>
              </a:rPr>
              <a:t xml:space="preserve">확실하지 않으면 추측하지 말고 '확인 필요'라고 표시해.</a:t>
            </a:r>
            <a:endParaRPr lang="ko-KR" sz="1350" dirty="0"/>
          </a:p>
        </p:txBody>
      </p:sp>
      <p:sp>
        <p:nvSpPr>
          <p:cNvPr id="9" name="Text 6"/>
          <p:cNvSpPr txBox="1"/>
          <p:nvPr/>
        </p:nvSpPr>
        <p:spPr>
          <a:xfrm>
            <a:off x="722376" y="3182112"/>
            <a:ext cx="4969764" cy="1600200"/>
          </a:xfrm>
          <a:prstGeom prst="rect">
            <a:avLst/>
          </a:prstGeom>
          <a:noFill/>
          <a:ln/>
        </p:spPr>
        <p:txBody>
          <a:bodyPr wrap="square" lIns="0" tIns="0" rIns="0" bIns="0" rtlCol="0" anchor="t"/>
          <a:lstStyle/>
          <a:p>
            <a:pPr marL="0" indent="0">
              <a:lnSpc>
                <a:spcPct val="120000"/>
              </a:lnSpc>
              <a:buNone/>
            </a:pPr>
            <a:r>
              <a:rPr lang="en-US" sz="1300" dirty="0">
                <a:solidFill>
                  <a:srgbClr val="F5F1E4"/>
                </a:solidFill>
                <a:latin typeface="Malgun Gothic" pitchFamily="34" charset="0"/>
                <a:ea typeface="Malgun Gothic" pitchFamily="34" charset="-122"/>
                <a:cs typeface="Malgun Gothic" pitchFamily="34" charset="-120"/>
              </a:rPr>
              <a:t>'찍는 학생'의 찍기 전략을 끄고, 유보를 정당한 선택지로 개방 → 허위정보 급감. 모델 입장에선 '빈칸을 둬도 0점이 아님'을 확인</a:t>
            </a:r>
            <a:endParaRPr lang="en-US" sz="1300" dirty="0"/>
          </a:p>
        </p:txBody>
      </p:sp>
      <p:sp>
        <p:nvSpPr>
          <p:cNvPr id="10" name="Shape 7"/>
          <p:cNvSpPr/>
          <p:nvPr/>
        </p:nvSpPr>
        <p:spPr>
          <a:xfrm>
            <a:off x="6277356" y="1481328"/>
            <a:ext cx="5408676" cy="3429000"/>
          </a:xfrm>
          <a:prstGeom prst="roundRect">
            <a:avLst>
              <a:gd name="adj" fmla="val 1200"/>
            </a:avLst>
          </a:prstGeom>
          <a:solidFill>
            <a:srgbClr val="232016"/>
          </a:solidFill>
          <a:ln w="12700">
            <a:solidFill>
              <a:srgbClr val="4A4430"/>
            </a:solidFill>
            <a:prstDash val="solid"/>
          </a:ln>
        </p:spPr>
      </p:sp>
      <p:sp>
        <p:nvSpPr>
          <p:cNvPr id="11" name="Text 8"/>
          <p:cNvSpPr txBox="1"/>
          <p:nvPr/>
        </p:nvSpPr>
        <p:spPr>
          <a:xfrm>
            <a:off x="6496812" y="1645920"/>
            <a:ext cx="4969764" cy="365760"/>
          </a:xfrm>
          <a:prstGeom prst="rect">
            <a:avLst/>
          </a:prstGeom>
          <a:noFill/>
          <a:ln/>
        </p:spPr>
        <p:txBody>
          <a:bodyPr wrap="square" lIns="0" tIns="0" rIns="0" bIns="0" rtlCol="0" anchor="ctr"/>
          <a:lstStyle/>
          <a:p>
            <a:pPr marL="0" indent="0">
              <a:buNone/>
            </a:pPr>
            <a:r>
              <a:rPr lang="ko-KR" sz="1450" b="1" dirty="0">
                <a:solidFill>
                  <a:srgbClr val="FFD733"/>
                </a:solidFill>
                <a:latin typeface="Malgun Gothic" pitchFamily="34" charset="0"/>
                <a:ea typeface="Malgun Gothic" pitchFamily="34" charset="-122"/>
                <a:cs typeface="Malgun Gothic" pitchFamily="34" charset="-120"/>
              </a:rPr>
              <a:t xml:space="preserve">② 주장마다 근거 구절 인용</a:t>
            </a:r>
            <a:endParaRPr lang="ko-KR" sz="1450" dirty="0"/>
          </a:p>
        </p:txBody>
      </p:sp>
      <p:sp>
        <p:nvSpPr>
          <p:cNvPr id="12" name="Shape 9"/>
          <p:cNvSpPr/>
          <p:nvPr/>
        </p:nvSpPr>
        <p:spPr>
          <a:xfrm>
            <a:off x="6496812" y="2121408"/>
            <a:ext cx="4969764" cy="868680"/>
          </a:xfrm>
          <a:prstGeom prst="roundRect">
            <a:avLst>
              <a:gd name="adj" fmla="val 4737"/>
            </a:avLst>
          </a:prstGeom>
          <a:solidFill>
            <a:srgbClr val="1A1810"/>
          </a:solidFill>
          <a:ln w="12700">
            <a:solidFill>
              <a:srgbClr val="FFD733"/>
            </a:solidFill>
            <a:prstDash val="solid"/>
          </a:ln>
        </p:spPr>
      </p:sp>
      <p:sp>
        <p:nvSpPr>
          <p:cNvPr id="13" name="Text 10"/>
          <p:cNvSpPr txBox="1"/>
          <p:nvPr/>
        </p:nvSpPr>
        <p:spPr>
          <a:xfrm>
            <a:off x="6661404" y="2212848"/>
            <a:ext cx="4640580" cy="685800"/>
          </a:xfrm>
          <a:prstGeom prst="rect">
            <a:avLst/>
          </a:prstGeom>
          <a:noFill/>
          <a:ln/>
        </p:spPr>
        <p:txBody>
          <a:bodyPr wrap="square" lIns="0" tIns="0" rIns="0" bIns="0" rtlCol="0" anchor="t"/>
          <a:lstStyle/>
          <a:p>
            <a:pPr marL="0" indent="0">
              <a:lnSpc>
                <a:spcPct val="120000"/>
              </a:lnSpc>
              <a:buNone/>
            </a:pPr>
            <a:r>
              <a:rPr lang="ko-KR" sz="1350" b="1" dirty="0">
                <a:solidFill>
                  <a:srgbClr val="FFFFFF"/>
                </a:solidFill>
                <a:latin typeface="Malgun Gothic" pitchFamily="34" charset="0"/>
                <a:ea typeface="Malgun Gothic" pitchFamily="34" charset="-122"/>
                <a:cs typeface="Malgun Gothic" pitchFamily="34" charset="-120"/>
              </a:rPr>
              <a:t xml:space="preserve">각 항목 뒤에 근거가 된 원문 구절을 인용하고, 근거 없는 문장은 삭제해.</a:t>
            </a:r>
            <a:endParaRPr lang="ko-KR" sz="1350" dirty="0"/>
          </a:p>
        </p:txBody>
      </p:sp>
      <p:sp>
        <p:nvSpPr>
          <p:cNvPr id="14" name="Text 11"/>
          <p:cNvSpPr txBox="1"/>
          <p:nvPr/>
        </p:nvSpPr>
        <p:spPr>
          <a:xfrm>
            <a:off x="6496812" y="3182112"/>
            <a:ext cx="4969764" cy="1600200"/>
          </a:xfrm>
          <a:prstGeom prst="rect">
            <a:avLst/>
          </a:prstGeom>
          <a:noFill/>
          <a:ln/>
        </p:spPr>
        <p:txBody>
          <a:bodyPr wrap="square" lIns="0" tIns="0" rIns="0" bIns="0" rtlCol="0" anchor="t"/>
          <a:lstStyle/>
          <a:p>
            <a:pPr marL="0" indent="0">
              <a:lnSpc>
                <a:spcPct val="120000"/>
              </a:lnSpc>
              <a:buNone/>
            </a:pPr>
            <a:r>
              <a:rPr lang="en-US" sz="1300" dirty="0">
                <a:solidFill>
                  <a:srgbClr val="F5F1E4"/>
                </a:solidFill>
                <a:latin typeface="Malgun Gothic" pitchFamily="34" charset="0"/>
                <a:ea typeface="Malgun Gothic" pitchFamily="34" charset="-122"/>
                <a:cs typeface="Malgun Gothic" pitchFamily="34" charset="-120"/>
              </a:rPr>
              <a:t>근거 없는 문장은 아예 못 쓰게 막아 날조를 원천 차단. 검토자도 인용만 대조하면 완료</a:t>
            </a:r>
            <a:endParaRPr lang="en-US" sz="1300" dirty="0"/>
          </a:p>
        </p:txBody>
      </p:sp>
      <p:sp>
        <p:nvSpPr>
          <p:cNvPr id="15" name="Shape 12"/>
          <p:cNvSpPr/>
          <p:nvPr/>
        </p:nvSpPr>
        <p:spPr>
          <a:xfrm>
            <a:off x="502920" y="5074920"/>
            <a:ext cx="11183112" cy="566928"/>
          </a:xfrm>
          <a:prstGeom prst="roundRect">
            <a:avLst>
              <a:gd name="adj" fmla="val 7258"/>
            </a:avLst>
          </a:prstGeom>
          <a:solidFill>
            <a:srgbClr val="2B2719"/>
          </a:solidFill>
          <a:ln w="12700">
            <a:solidFill>
              <a:srgbClr val="4A4430"/>
            </a:solidFill>
            <a:prstDash val="solid"/>
          </a:ln>
        </p:spPr>
      </p:sp>
      <p:sp>
        <p:nvSpPr>
          <p:cNvPr id="16" name="Text 13"/>
          <p:cNvSpPr txBox="1"/>
          <p:nvPr/>
        </p:nvSpPr>
        <p:spPr>
          <a:xfrm>
            <a:off x="758952" y="5074920"/>
            <a:ext cx="10671048" cy="566928"/>
          </a:xfrm>
          <a:prstGeom prst="rect">
            <a:avLst/>
          </a:prstGeom>
          <a:noFill/>
          <a:ln/>
        </p:spPr>
        <p:txBody>
          <a:bodyPr wrap="square" lIns="0" tIns="0" rIns="0" bIns="0" rtlCol="0" anchor="ctr"/>
          <a:lstStyle/>
          <a:p>
            <a:pPr marL="0" indent="0">
              <a:buNone/>
            </a:pPr>
            <a:r>
              <a:rPr lang="ko-KR" sz="1350" dirty="0">
                <a:solidFill>
                  <a:srgbClr val="F5F1E4"/>
                </a:solidFill>
                <a:latin typeface="Malgun Gothic" pitchFamily="34" charset="0"/>
                <a:ea typeface="Malgun Gothic" pitchFamily="34" charset="-122"/>
                <a:cs typeface="Malgun Gothic" pitchFamily="34" charset="-120"/>
              </a:rPr>
              <a:t xml:space="preserve">자료 없이 '출처를 대라'고만 하면 가짜 출처가 나오기 쉬움 → 해법은 '없으면 없다고 해'라는 출구 개방</a:t>
            </a:r>
            <a:endParaRPr lang="ko-KR" sz="1350" dirty="0"/>
          </a:p>
        </p:txBody>
      </p:sp>
      <p:sp>
        <p:nvSpPr>
          <p:cNvPr id="17" name="Shape 14"/>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8" name="Text 15"/>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두 줄의 역할 분담 — ①은 길 열기, ②는 강제</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실습 2 · '모른다' 허용과 '근거 구절 인용' 두 줄 추가</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ko-KR" sz="1350" dirty="0">
                <a:solidFill>
                  <a:srgbClr val="F5F1E4"/>
                </a:solidFill>
                <a:latin typeface="Malgun Gothic" pitchFamily="34" charset="0"/>
                <a:ea typeface="Malgun Gothic" pitchFamily="34" charset="-122"/>
                <a:cs typeface="Malgun Gothic" pitchFamily="34" charset="-120"/>
              </a:rPr>
              <a:t xml:space="preserve">실습 1-A 질문에 두 줄 추가 ('1줄로 대답해'는 빼고) — 답이 어떻게 달라지는지 확인</a:t>
            </a:r>
            <a:endParaRPr lang="ko-KR" sz="1350" dirty="0"/>
          </a:p>
        </p:txBody>
      </p:sp>
      <p:sp>
        <p:nvSpPr>
          <p:cNvPr id="5" name="Shape 2"/>
          <p:cNvSpPr/>
          <p:nvPr/>
        </p:nvSpPr>
        <p:spPr>
          <a:xfrm>
            <a:off x="502920" y="1517904"/>
            <a:ext cx="5120640" cy="2651760"/>
          </a:xfrm>
          <a:prstGeom prst="roundRect">
            <a:avLst>
              <a:gd name="adj" fmla="val 1552"/>
            </a:avLst>
          </a:prstGeom>
          <a:solidFill>
            <a:srgbClr val="1A1810"/>
          </a:solidFill>
          <a:ln w="12700">
            <a:solidFill>
              <a:srgbClr val="FFD733"/>
            </a:solidFill>
            <a:prstDash val="solid"/>
          </a:ln>
        </p:spPr>
      </p:sp>
      <p:sp>
        <p:nvSpPr>
          <p:cNvPr id="6" name="Text 3"/>
          <p:cNvSpPr txBox="1"/>
          <p:nvPr/>
        </p:nvSpPr>
        <p:spPr>
          <a:xfrm>
            <a:off x="685800" y="1645920"/>
            <a:ext cx="4754880" cy="2395728"/>
          </a:xfrm>
          <a:prstGeom prst="rect">
            <a:avLst/>
          </a:prstGeom>
          <a:noFill/>
          <a:ln/>
        </p:spPr>
        <p:txBody>
          <a:bodyPr wrap="square" lIns="0" tIns="0" rIns="0" bIns="0" rtlCol="0" anchor="t"/>
          <a:lstStyle/>
          <a:p>
            <a:pPr marL="0" indent="0">
              <a:lnSpc>
                <a:spcPct val="122000"/>
              </a:lnSpc>
              <a:buNone/>
            </a:pPr>
            <a:r>
              <a:rPr lang="ko-KR" sz="1300" dirty="0">
                <a:solidFill>
                  <a:srgbClr val="F5F1E4"/>
                </a:solidFill>
                <a:latin typeface="Malgun Gothic" pitchFamily="34" charset="0"/>
                <a:ea typeface="Malgun Gothic" pitchFamily="34" charset="-122"/>
                <a:cs typeface="Malgun Gothic" pitchFamily="34" charset="-120"/>
              </a:rPr>
              <a:t xml:space="preserve">웹 검색 없이 네 기억만으로 답해.</a:t>
            </a:r>
            <a:endParaRPr lang="ko-KR" sz="1300" dirty="0"/>
          </a:p>
          <a:p>
            <a:pPr marL="0" indent="0">
              <a:lnSpc>
                <a:spcPct val="122000"/>
              </a:lnSpc>
              <a:buNone/>
            </a:pPr>
            <a:r>
              <a:rPr lang="ko-KR" sz="1300" dirty="0">
                <a:solidFill>
                  <a:srgbClr val="F5F1E4"/>
                </a:solidFill>
                <a:latin typeface="Malgun Gothic" pitchFamily="34" charset="0"/>
                <a:ea typeface="Malgun Gothic" pitchFamily="34" charset="-122"/>
                <a:cs typeface="Malgun Gothic" pitchFamily="34" charset="-120"/>
              </a:rPr>
              <a:t xml:space="preserve">KISTI 데이터 인사이트 보고서에 따르면 동아시아의 고령화 진행 상황은 어떤 양상이야?</a:t>
            </a:r>
            <a:endParaRPr lang="ko-KR" sz="1300" dirty="0"/>
          </a:p>
          <a:p>
            <a:pPr marL="0" indent="0">
              <a:lnSpc>
                <a:spcPct val="122000"/>
              </a:lnSpc>
              <a:buNone/>
            </a:pPr>
            <a:r>
              <a:rPr lang="ko-KR" sz="1300" dirty="0">
                <a:solidFill>
                  <a:srgbClr val="F5F1E4"/>
                </a:solidFill>
                <a:latin typeface="Malgun Gothic" pitchFamily="34" charset="0"/>
                <a:ea typeface="Malgun Gothic" pitchFamily="34" charset="-122"/>
                <a:cs typeface="Malgun Gothic" pitchFamily="34" charset="-120"/>
              </a:rPr>
              <a:t xml:space="preserve"/>
            </a:r>
            <a:endParaRPr lang="ko-KR" sz="1300" dirty="0"/>
          </a:p>
          <a:p>
            <a:pPr marL="0" indent="0">
              <a:lnSpc>
                <a:spcPct val="122000"/>
              </a:lnSpc>
              <a:buNone/>
            </a:pPr>
            <a:r>
              <a:rPr lang="ko-KR" sz="1300" dirty="0">
                <a:solidFill>
                  <a:srgbClr val="F5F1E4"/>
                </a:solidFill>
                <a:latin typeface="Malgun Gothic" pitchFamily="34" charset="0"/>
                <a:ea typeface="Malgun Gothic" pitchFamily="34" charset="-122"/>
                <a:cs typeface="Malgun Gothic" pitchFamily="34" charset="-120"/>
              </a:rPr>
              <a:t xml:space="preserve">① 확실하지 않으면 추측하지 말고 '확인 필요'라고 표시해.</a:t>
            </a:r>
            <a:endParaRPr lang="ko-KR" sz="1300" dirty="0"/>
          </a:p>
          <a:p>
            <a:pPr marL="0" indent="0">
              <a:lnSpc>
                <a:spcPct val="122000"/>
              </a:lnSpc>
              <a:buNone/>
            </a:pPr>
            <a:r>
              <a:rPr lang="ko-KR" sz="1300" dirty="0">
                <a:solidFill>
                  <a:srgbClr val="F5F1E4"/>
                </a:solidFill>
                <a:latin typeface="Malgun Gothic" pitchFamily="34" charset="0"/>
                <a:ea typeface="Malgun Gothic" pitchFamily="34" charset="-122"/>
                <a:cs typeface="Malgun Gothic" pitchFamily="34" charset="-120"/>
              </a:rPr>
              <a:t xml:space="preserve">② 각 항목 뒤에 근거가 된 원문 구절을 인용하고, 근거 없는 문장은 삭제해.</a:t>
            </a:r>
            <a:endParaRPr lang="ko-KR" sz="1300" dirty="0"/>
          </a:p>
        </p:txBody>
      </p:sp>
      <p:sp>
        <p:nvSpPr>
          <p:cNvPr id="7" name="Text 4"/>
          <p:cNvSpPr txBox="1"/>
          <p:nvPr/>
        </p:nvSpPr>
        <p:spPr>
          <a:xfrm>
            <a:off x="502920" y="4315968"/>
            <a:ext cx="5120640" cy="457200"/>
          </a:xfrm>
          <a:prstGeom prst="rect">
            <a:avLst/>
          </a:prstGeom>
          <a:noFill/>
          <a:ln/>
        </p:spPr>
        <p:txBody>
          <a:bodyPr wrap="square" lIns="0" tIns="0" rIns="0" bIns="0" rtlCol="0" anchor="t"/>
          <a:lstStyle/>
          <a:p>
            <a:pPr marL="0" indent="0">
              <a:buNone/>
            </a:pPr>
            <a:r>
              <a:rPr lang="en-US" sz="1300" dirty="0">
                <a:solidFill>
                  <a:srgbClr val="D4CEC0"/>
                </a:solidFill>
                <a:latin typeface="Malgun Gothic" pitchFamily="34" charset="0"/>
                <a:ea typeface="Malgun Gothic" pitchFamily="34" charset="-122"/>
                <a:cs typeface="Malgun Gothic" pitchFamily="34" charset="-120"/>
              </a:rPr>
              <a:t>추가한 두 줄이 유보(확인 필요)와 인용을 강제</a:t>
            </a:r>
            <a:endParaRPr lang="en-US" sz="1300" dirty="0"/>
          </a:p>
        </p:txBody>
      </p:sp>
      <p:sp>
        <p:nvSpPr>
          <p:cNvPr id="9" name="Shape 5"/>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0" name="Text 6"/>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모델이 추측 대신 '확인 필요'를 선택 — 검증 두 줄의 효과를 직접 체감</a:t>
            </a:r>
            <a:endParaRPr lang="en-US" sz="1350" dirty="0"/>
          </a:p>
        </p:txBody>
      </p:sp>
      <p:sp>
        <p:nvSpPr>
          <p:cNvPr id="11" name="R card"/>
          <p:cNvSpPr/>
          <p:nvPr/>
        </p:nvSpPr>
        <p:spPr>
          <a:xfrm>
            <a:off x="5989320" y="1517904"/>
            <a:ext cx="5696712" cy="4069080"/>
          </a:xfrm>
          <a:prstGeom prst="roundRect">
            <a:avLst>
              <a:gd name="adj" fmla="val 1589"/>
            </a:avLst>
          </a:prstGeom>
          <a:solidFill>
            <a:srgbClr val="232016"/>
          </a:solidFill>
          <a:ln w="12700">
            <a:solidFill>
              <a:srgbClr val="4A4430"/>
            </a:solidFill>
            <a:prstDash val="solid"/>
          </a:ln>
        </p:spPr>
      </p:sp>
      <p:sp>
        <p:nvSpPr>
          <p:cNvPr id="12" name="R head"/>
          <p:cNvSpPr txBox="1"/>
          <p:nvPr/>
        </p:nvSpPr>
        <p:spPr>
          <a:xfrm>
            <a:off x="6208776" y="1645920"/>
            <a:ext cx="5257800" cy="347472"/>
          </a:xfrm>
          <a:prstGeom prst="rect">
            <a:avLst/>
          </a:prstGeom>
          <a:noFill/>
          <a:ln/>
        </p:spPr>
        <p:txBody>
          <a:bodyPr wrap="square" lIns="0" tIns="0" rIns="0" bIns="0" rtlCol="0" anchor="ctr"/>
          <a:lstStyle/>
          <a:p>
            <a:pPr marL="0" indent="0">
              <a:buNone/>
            </a:pPr>
            <a:r>
              <a:rPr lang="ko-KR" sz="1450" b="1" dirty="0">
                <a:solidFill>
                  <a:srgbClr val="FFD733"/>
                </a:solidFill>
                <a:latin typeface="Malgun Gothic" pitchFamily="34" charset="0"/>
                <a:ea typeface="Malgun Gothic" pitchFamily="34" charset="-122"/>
                <a:cs typeface="Malgun Gothic" pitchFamily="34" charset="-120"/>
              </a:rPr>
              <a:t xml:space="preserve">확인할 것</a:t>
            </a:r>
            <a:endParaRPr lang="ko-KR" sz="1450" dirty="0"/>
          </a:p>
        </p:txBody>
      </p:sp>
      <p:sp>
        <p:nvSpPr>
          <p:cNvPr id="14" name="R box"/>
          <p:cNvSpPr/>
          <p:nvPr/>
        </p:nvSpPr>
        <p:spPr>
          <a:xfrm>
            <a:off x="6208776" y="4553712"/>
            <a:ext cx="5257800" cy="896112"/>
          </a:xfrm>
          <a:prstGeom prst="roundRect">
            <a:avLst>
              <a:gd name="adj" fmla="val 1589"/>
            </a:avLst>
          </a:prstGeom>
          <a:solidFill>
            <a:srgbClr val="1A1810"/>
          </a:solidFill>
          <a:ln w="12700">
            <a:solidFill>
              <a:srgbClr val="FFD733"/>
            </a:solidFill>
            <a:prstDash val="solid"/>
          </a:ln>
        </p:spPr>
      </p:sp>
      <p:sp>
        <p:nvSpPr>
          <p:cNvPr id="15" name="R box text"/>
          <p:cNvSpPr txBox="1"/>
          <p:nvPr/>
        </p:nvSpPr>
        <p:spPr>
          <a:xfrm>
            <a:off x="6373368" y="4608576"/>
            <a:ext cx="4937760" cy="786384"/>
          </a:xfrm>
          <a:prstGeom prst="rect">
            <a:avLst/>
          </a:prstGeom>
          <a:noFill/>
          <a:ln/>
        </p:spPr>
        <p:txBody>
          <a:bodyPr wrap="square" lIns="0" tIns="0" rIns="0" bIns="0" rtlCol="0" anchor="ctr"/>
          <a:lstStyle/>
          <a:p>
            <a:pPr marL="0" indent="0">
              <a:lnSpc>
                <a:spcPct val="118000"/>
              </a:lnSpc>
              <a:buNone/>
            </a:pPr>
            <a:r>
              <a:rPr lang="ko-KR" sz="1250" b="1" dirty="0">
                <a:solidFill>
                  <a:srgbClr val="FFD733"/>
                </a:solidFill>
                <a:latin typeface="Malgun Gothic" pitchFamily="34" charset="0"/>
                <a:ea typeface="Malgun Gothic" pitchFamily="34" charset="-122"/>
                <a:cs typeface="Malgun Gothic" pitchFamily="34" charset="-120"/>
              </a:rPr>
              <a:t xml:space="preserve">비교  </a:t>
            </a:r>
            <a:r>
              <a:rPr lang="ko-KR" sz="1250" dirty="0">
                <a:solidFill>
                  <a:srgbClr val="D4CEC0"/>
                </a:solidFill>
                <a:latin typeface="Malgun Gothic" pitchFamily="34" charset="0"/>
                <a:ea typeface="Malgun Gothic" pitchFamily="34" charset="-122"/>
                <a:cs typeface="Malgun Gothic" pitchFamily="34" charset="-120"/>
              </a:rPr>
              <a:t xml:space="preserve">두 줄 없이 물었을 때(실습 1-A)는 '…양상으로 기억합니다'로 일반론을 보고서 내용처럼 답변 — 같은 모델, 같은 질문</a:t>
            </a:r>
            <a:endParaRPr lang="ko-KR" sz="1250" dirty="0"/>
          </a:p>
        </p:txBody>
      </p:sp>
      <p:sp>
        <p:nvSpPr>
          <p:cNvPr id="16" name="R caption"/>
          <p:cNvSpPr txBox="1"/>
          <p:nvPr/>
        </p:nvSpPr>
        <p:spPr>
          <a:xfrm>
            <a:off x="6208776" y="2011680"/>
            <a:ext cx="5257800" cy="274320"/>
          </a:xfrm>
          <a:prstGeom prst="rect">
            <a:avLst/>
          </a:prstGeom>
          <a:noFill/>
          <a:ln/>
        </p:spPr>
        <p:txBody>
          <a:bodyPr wrap="square" lIns="0" tIns="0" rIns="0" bIns="0" rtlCol="0" anchor="ctr"/>
          <a:lstStyle/>
          <a:p>
            <a:pPr marL="0" indent="0">
              <a:buNone/>
            </a:pPr>
            <a:r>
              <a:rPr lang="ko-KR" sz="1200" dirty="0">
                <a:solidFill>
                  <a:srgbClr val="D4CEC0"/>
                </a:solidFill>
                <a:latin typeface="Malgun Gothic" pitchFamily="34" charset="0"/>
                <a:ea typeface="Malgun Gothic" pitchFamily="34" charset="-122"/>
                <a:cs typeface="Malgun Gothic" pitchFamily="34" charset="-120"/>
              </a:rPr>
              <a:t xml:space="preserve">→ 뒤는 2026년 10월 테스트 결과 (Claude, 웹 검색 없이)</a:t>
            </a:r>
            <a:endParaRPr lang="ko-KR" sz="1200" dirty="0"/>
          </a:p>
        </p:txBody>
      </p:sp>
      <p:sp>
        <p:nvSpPr>
          <p:cNvPr id="17" name="R body"/>
          <p:cNvSpPr txBox="1"/>
          <p:nvPr/>
        </p:nvSpPr>
        <p:spPr>
          <a:xfrm>
            <a:off x="6208776" y="2377440"/>
            <a:ext cx="5257800" cy="2057400"/>
          </a:xfrm>
          <a:prstGeom prst="rect">
            <a:avLst/>
          </a:prstGeom>
          <a:noFill/>
          <a:ln/>
        </p:spPr>
        <p:txBody>
          <a:bodyPr wrap="square" lIns="0" tIns="0" rIns="0" bIns="0" rtlCol="0" anchor="t"/>
          <a:lstStyle/>
          <a:p>
            <a:pPr marL="0" indent="0">
              <a:lnSpc>
                <a:spcPct val="118000"/>
              </a:lnSpc>
              <a:spcAft>
                <a:spcPts val="800"/>
              </a:spcAft>
              <a:buNone/>
            </a:pPr>
            <a:r>
              <a:rPr lang="ko-KR" sz="1250" b="1" dirty="0">
                <a:solidFill>
                  <a:srgbClr val="FFFFFF"/>
                </a:solidFill>
                <a:latin typeface="Malgun Gothic" pitchFamily="34" charset="0"/>
                <a:ea typeface="Malgun Gothic" pitchFamily="34" charset="-122"/>
                <a:cs typeface="Malgun Gothic" pitchFamily="34" charset="-120"/>
              </a:rPr>
              <a:t xml:space="preserve">① '확인 필요'를 표시하는가 → </a:t>
            </a:r>
            <a:r>
              <a:rPr lang="ko-KR" sz="1250" dirty="0">
                <a:solidFill>
                  <a:srgbClr val="F5F1E4"/>
                </a:solidFill>
                <a:latin typeface="Malgun Gothic" pitchFamily="34" charset="0"/>
                <a:ea typeface="Malgun Gothic" pitchFamily="34" charset="-122"/>
                <a:cs typeface="Malgun Gothic" pitchFamily="34" charset="-120"/>
              </a:rPr>
              <a:t xml:space="preserve">답 첫머리에 표시, '원문 구절 단위로 신뢰할 만하게 기억하지 못한다'고 밝힘</a:t>
            </a:r>
            <a:endParaRPr lang="ko-KR" sz="1250" dirty="0"/>
          </a:p>
          <a:p>
            <a:pPr marL="0" indent="0">
              <a:lnSpc>
                <a:spcPct val="118000"/>
              </a:lnSpc>
              <a:spcAft>
                <a:spcPts val="800"/>
              </a:spcAft>
              <a:buNone/>
            </a:pPr>
            <a:r>
              <a:rPr lang="ko-KR" sz="1250" b="1" dirty="0">
                <a:solidFill>
                  <a:srgbClr val="FFFFFF"/>
                </a:solidFill>
                <a:latin typeface="Malgun Gothic" pitchFamily="34" charset="0"/>
                <a:ea typeface="Malgun Gothic" pitchFamily="34" charset="-122"/>
                <a:cs typeface="Malgun Gothic" pitchFamily="34" charset="-120"/>
              </a:rPr>
              <a:t xml:space="preserve">② 인용할 원문이 없을 때 지어내지 않는가 → </a:t>
            </a:r>
            <a:r>
              <a:rPr lang="ko-KR" sz="1250" dirty="0">
                <a:solidFill>
                  <a:srgbClr val="F5F1E4"/>
                </a:solidFill>
                <a:latin typeface="Malgun Gothic" pitchFamily="34" charset="0"/>
                <a:ea typeface="Malgun Gothic" pitchFamily="34" charset="-122"/>
                <a:cs typeface="Malgun Gothic" pitchFamily="34" charset="-120"/>
              </a:rPr>
              <a:t xml:space="preserve">'쓸 수 있는 항목이 하나도 남지 않는다'며 항목을 쓰지 않음</a:t>
            </a:r>
            <a:endParaRPr lang="ko-KR" sz="1250" dirty="0"/>
          </a:p>
          <a:p>
            <a:pPr marL="0" indent="0">
              <a:lnSpc>
                <a:spcPct val="118000"/>
              </a:lnSpc>
              <a:buNone/>
            </a:pPr>
            <a:r>
              <a:rPr lang="ko-KR" sz="1250" b="1" dirty="0">
                <a:solidFill>
                  <a:srgbClr val="FFFFFF"/>
                </a:solidFill>
                <a:latin typeface="Malgun Gothic" pitchFamily="34" charset="0"/>
                <a:ea typeface="Malgun Gothic" pitchFamily="34" charset="-122"/>
                <a:cs typeface="Malgun Gothic" pitchFamily="34" charset="-120"/>
              </a:rPr>
              <a:t xml:space="preserve">③ 확실한 것과 불확실한 것을 구분하는가 → </a:t>
            </a:r>
            <a:r>
              <a:rPr lang="ko-KR" sz="1250" dirty="0">
                <a:solidFill>
                  <a:srgbClr val="F5F1E4"/>
                </a:solidFill>
                <a:latin typeface="Malgun Gothic" pitchFamily="34" charset="0"/>
                <a:ea typeface="Malgun Gothic" pitchFamily="34" charset="-122"/>
                <a:cs typeface="Malgun Gothic" pitchFamily="34" charset="-120"/>
              </a:rPr>
              <a:t xml:space="preserve">시리즈 발간은 확실, 호수·수치는 '확인 필요'로 구분</a:t>
            </a:r>
            <a:endParaRPr lang="ko-KR"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3 형식 — 답변 형식을 고정하고, 긴 문서는 '인용 먼저, 답 나중'</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ko-KR" sz="1350" dirty="0">
                <a:solidFill>
                  <a:srgbClr val="F5F1E4"/>
                </a:solidFill>
                <a:latin typeface="Malgun Gothic" pitchFamily="34" charset="0"/>
                <a:ea typeface="Malgun Gothic" pitchFamily="34" charset="-122"/>
                <a:cs typeface="Malgun Gothic" pitchFamily="34" charset="-120"/>
              </a:rPr>
              <a:t xml:space="preserve">출력 모양을 정해 두면 일탈이 줄고, 긴 문서는 근거를 먼저 뽑아 두면 맥락 이탈이 크게 줄어듦</a:t>
            </a:r>
            <a:endParaRPr lang="ko-KR" sz="1350" dirty="0"/>
          </a:p>
        </p:txBody>
      </p:sp>
      <p:sp>
        <p:nvSpPr>
          <p:cNvPr id="5" name="Shape 2"/>
          <p:cNvSpPr/>
          <p:nvPr/>
        </p:nvSpPr>
        <p:spPr>
          <a:xfrm>
            <a:off x="502920" y="1481328"/>
            <a:ext cx="4846320" cy="4114800"/>
          </a:xfrm>
          <a:prstGeom prst="roundRect">
            <a:avLst>
              <a:gd name="adj" fmla="val 1000"/>
            </a:avLst>
          </a:prstGeom>
          <a:solidFill>
            <a:srgbClr val="232016"/>
          </a:solidFill>
          <a:ln w="12700">
            <a:solidFill>
              <a:srgbClr val="4A4430"/>
            </a:solidFill>
            <a:prstDash val="solid"/>
          </a:ln>
        </p:spPr>
      </p:sp>
      <p:sp>
        <p:nvSpPr>
          <p:cNvPr id="6" name="Text 3"/>
          <p:cNvSpPr txBox="1"/>
          <p:nvPr/>
        </p:nvSpPr>
        <p:spPr>
          <a:xfrm>
            <a:off x="722376" y="1645920"/>
            <a:ext cx="4407408" cy="365760"/>
          </a:xfrm>
          <a:prstGeom prst="rect">
            <a:avLst/>
          </a:prstGeom>
          <a:noFill/>
          <a:ln/>
        </p:spPr>
        <p:txBody>
          <a:bodyPr wrap="square" lIns="0" tIns="0" rIns="0" bIns="0" rtlCol="0" anchor="ctr"/>
          <a:lstStyle/>
          <a:p>
            <a:pPr marL="0" indent="0">
              <a:buNone/>
            </a:pPr>
            <a:r>
              <a:rPr lang="en-US" sz="1450" b="1" dirty="0">
                <a:solidFill>
                  <a:srgbClr val="FFD733"/>
                </a:solidFill>
                <a:latin typeface="Malgun Gothic" pitchFamily="34" charset="0"/>
                <a:ea typeface="Malgun Gothic" pitchFamily="34" charset="-122"/>
                <a:cs typeface="Malgun Gothic" pitchFamily="34" charset="-120"/>
              </a:rPr>
              <a:t>형식 고정</a:t>
            </a:r>
            <a:endParaRPr lang="en-US" sz="1450" dirty="0"/>
          </a:p>
        </p:txBody>
      </p:sp>
      <p:sp>
        <p:nvSpPr>
          <p:cNvPr id="7" name="Shape 4"/>
          <p:cNvSpPr/>
          <p:nvPr/>
        </p:nvSpPr>
        <p:spPr>
          <a:xfrm>
            <a:off x="722376" y="2121408"/>
            <a:ext cx="4407408" cy="914400"/>
          </a:xfrm>
          <a:prstGeom prst="roundRect">
            <a:avLst>
              <a:gd name="adj" fmla="val 4500"/>
            </a:avLst>
          </a:prstGeom>
          <a:solidFill>
            <a:srgbClr val="1A1810"/>
          </a:solidFill>
          <a:ln w="12700">
            <a:solidFill>
              <a:srgbClr val="4A4430"/>
            </a:solidFill>
            <a:prstDash val="solid"/>
          </a:ln>
        </p:spPr>
      </p:sp>
      <p:sp>
        <p:nvSpPr>
          <p:cNvPr id="8" name="Text 5"/>
          <p:cNvSpPr txBox="1"/>
          <p:nvPr/>
        </p:nvSpPr>
        <p:spPr>
          <a:xfrm>
            <a:off x="905256" y="2249424"/>
            <a:ext cx="4041648" cy="658368"/>
          </a:xfrm>
          <a:prstGeom prst="rect">
            <a:avLst/>
          </a:prstGeom>
          <a:noFill/>
          <a:ln/>
        </p:spPr>
        <p:txBody>
          <a:bodyPr wrap="square" lIns="0" tIns="0" rIns="0" bIns="0" rtlCol="0" anchor="t"/>
          <a:lstStyle/>
          <a:p>
            <a:pPr marL="0" indent="0">
              <a:lnSpc>
                <a:spcPct val="122000"/>
              </a:lnSpc>
              <a:buNone/>
            </a:pPr>
            <a:r>
              <a:rPr lang="en-US" sz="1300" dirty="0">
                <a:solidFill>
                  <a:srgbClr val="F5F1E4"/>
                </a:solidFill>
                <a:latin typeface="Malgun Gothic" pitchFamily="34" charset="0"/>
                <a:ea typeface="Malgun Gothic" pitchFamily="34" charset="-122"/>
                <a:cs typeface="Malgun Gothic" pitchFamily="34" charset="-120"/>
              </a:rPr>
              <a:t>시사점 3가지를 번호목록으로,</a:t>
            </a:r>
            <a:endParaRPr lang="en-US" sz="1300" dirty="0"/>
          </a:p>
          <a:p>
            <a:pPr marL="0" indent="0">
              <a:lnSpc>
                <a:spcPct val="122000"/>
              </a:lnSpc>
              <a:buNone/>
            </a:pPr>
            <a:r>
              <a:rPr lang="en-US" sz="1300" dirty="0">
                <a:solidFill>
                  <a:srgbClr val="F5F1E4"/>
                </a:solidFill>
                <a:latin typeface="Malgun Gothic" pitchFamily="34" charset="0"/>
                <a:ea typeface="Malgun Gothic" pitchFamily="34" charset="-122"/>
                <a:cs typeface="Malgun Gothic" pitchFamily="34" charset="-120"/>
              </a:rPr>
              <a:t>각 항목 2문장.</a:t>
            </a:r>
            <a:endParaRPr lang="en-US" sz="1300" dirty="0"/>
          </a:p>
        </p:txBody>
      </p:sp>
      <p:sp>
        <p:nvSpPr>
          <p:cNvPr id="9" name="Text 6"/>
          <p:cNvSpPr txBox="1"/>
          <p:nvPr/>
        </p:nvSpPr>
        <p:spPr>
          <a:xfrm>
            <a:off x="722376" y="3218688"/>
            <a:ext cx="4407408" cy="1005840"/>
          </a:xfrm>
          <a:prstGeom prst="rect">
            <a:avLst/>
          </a:prstGeom>
          <a:noFill/>
          <a:ln/>
        </p:spPr>
        <p:txBody>
          <a:bodyPr wrap="square" lIns="0" tIns="0" rIns="0" bIns="0" rtlCol="0" anchor="t"/>
          <a:lstStyle/>
          <a:p>
            <a:pPr marL="0" indent="0">
              <a:lnSpc>
                <a:spcPct val="120000"/>
              </a:lnSpc>
              <a:buNone/>
            </a:pPr>
            <a:r>
              <a:rPr lang="en-US" sz="1300" dirty="0">
                <a:solidFill>
                  <a:srgbClr val="F5F1E4"/>
                </a:solidFill>
                <a:latin typeface="Malgun Gothic" pitchFamily="34" charset="0"/>
                <a:ea typeface="Malgun Gothic" pitchFamily="34" charset="-122"/>
                <a:cs typeface="Malgun Gothic" pitchFamily="34" charset="-120"/>
              </a:rPr>
              <a:t>출력 형식을 못 박으면 모델이 창작·일탈할 여지가 감소. 표·번호목록만으로도 효과.</a:t>
            </a:r>
            <a:endParaRPr lang="en-US" sz="1300" dirty="0"/>
          </a:p>
        </p:txBody>
      </p:sp>
      <p:sp>
        <p:nvSpPr>
          <p:cNvPr id="10" name="Text 7"/>
          <p:cNvSpPr txBox="1"/>
          <p:nvPr/>
        </p:nvSpPr>
        <p:spPr>
          <a:xfrm>
            <a:off x="722376" y="4297680"/>
            <a:ext cx="4407408" cy="1143000"/>
          </a:xfrm>
          <a:prstGeom prst="rect">
            <a:avLst/>
          </a:prstGeom>
          <a:noFill/>
          <a:ln/>
        </p:spPr>
        <p:txBody>
          <a:bodyPr wrap="square" lIns="0" tIns="0" rIns="0" bIns="0" rtlCol="0" anchor="t"/>
          <a:lstStyle/>
          <a:p>
            <a:pPr marL="0" indent="0">
              <a:lnSpc>
                <a:spcPct val="120000"/>
              </a:lnSpc>
              <a:buNone/>
            </a:pPr>
            <a:r>
              <a:rPr lang="ko-KR" sz="1300" dirty="0">
                <a:solidFill>
                  <a:srgbClr val="D4CEC0"/>
                </a:solidFill>
                <a:latin typeface="Malgun Gothic" pitchFamily="34" charset="0"/>
                <a:ea typeface="Malgun Gothic" pitchFamily="34" charset="-122"/>
                <a:cs typeface="Malgun Gothic" pitchFamily="34" charset="-120"/>
              </a:rPr>
              <a:t xml:space="preserve">답을 먼저 만들면 그 답에 끼워 맞추려고 근거를 꾸며냄 — 근거를 먼저 뽑아 두면 그 안에서만 답변</a:t>
            </a:r>
            <a:endParaRPr lang="ko-KR" sz="1300" dirty="0"/>
          </a:p>
        </p:txBody>
      </p:sp>
      <p:sp>
        <p:nvSpPr>
          <p:cNvPr id="11" name="Shape 8"/>
          <p:cNvSpPr/>
          <p:nvPr/>
        </p:nvSpPr>
        <p:spPr>
          <a:xfrm>
            <a:off x="5715000" y="1481328"/>
            <a:ext cx="5971032" cy="4114800"/>
          </a:xfrm>
          <a:prstGeom prst="roundRect">
            <a:avLst>
              <a:gd name="adj" fmla="val 1000"/>
            </a:avLst>
          </a:prstGeom>
          <a:solidFill>
            <a:srgbClr val="232016"/>
          </a:solidFill>
          <a:ln w="12700">
            <a:solidFill>
              <a:srgbClr val="4A4430"/>
            </a:solidFill>
            <a:prstDash val="solid"/>
          </a:ln>
        </p:spPr>
      </p:sp>
      <p:sp>
        <p:nvSpPr>
          <p:cNvPr id="12" name="Text 9"/>
          <p:cNvSpPr txBox="1"/>
          <p:nvPr/>
        </p:nvSpPr>
        <p:spPr>
          <a:xfrm>
            <a:off x="5934456" y="1645920"/>
            <a:ext cx="5532120" cy="365760"/>
          </a:xfrm>
          <a:prstGeom prst="rect">
            <a:avLst/>
          </a:prstGeom>
          <a:noFill/>
          <a:ln/>
        </p:spPr>
        <p:txBody>
          <a:bodyPr wrap="square" lIns="0" tIns="0" rIns="0" bIns="0" rtlCol="0" anchor="ctr"/>
          <a:lstStyle/>
          <a:p>
            <a:pPr marL="0" indent="0">
              <a:buNone/>
            </a:pPr>
            <a:r>
              <a:rPr lang="en-US" sz="1450" b="1" dirty="0">
                <a:solidFill>
                  <a:srgbClr val="FFD733"/>
                </a:solidFill>
                <a:latin typeface="Malgun Gothic" pitchFamily="34" charset="0"/>
                <a:ea typeface="Malgun Gothic" pitchFamily="34" charset="-122"/>
                <a:cs typeface="Malgun Gothic" pitchFamily="34" charset="-120"/>
              </a:rPr>
              <a:t>긴 문서: '인용 먼저, 답 나중' 3단계</a:t>
            </a:r>
            <a:endParaRPr lang="en-US" sz="1450" dirty="0"/>
          </a:p>
        </p:txBody>
      </p:sp>
      <p:sp>
        <p:nvSpPr>
          <p:cNvPr id="13" name="Shape 10"/>
          <p:cNvSpPr/>
          <p:nvPr/>
        </p:nvSpPr>
        <p:spPr>
          <a:xfrm>
            <a:off x="5934456" y="2157984"/>
            <a:ext cx="5532120" cy="932688"/>
          </a:xfrm>
          <a:prstGeom prst="roundRect">
            <a:avLst>
              <a:gd name="adj" fmla="val 4412"/>
            </a:avLst>
          </a:prstGeom>
          <a:solidFill>
            <a:srgbClr val="2B2719"/>
          </a:solidFill>
          <a:ln w="12700">
            <a:solidFill>
              <a:srgbClr val="4A4430"/>
            </a:solidFill>
            <a:prstDash val="solid"/>
          </a:ln>
        </p:spPr>
      </p:sp>
      <p:sp>
        <p:nvSpPr>
          <p:cNvPr id="14" name="Text 11"/>
          <p:cNvSpPr txBox="1"/>
          <p:nvPr/>
        </p:nvSpPr>
        <p:spPr>
          <a:xfrm>
            <a:off x="6117336" y="2249424"/>
            <a:ext cx="457200" cy="749808"/>
          </a:xfrm>
          <a:prstGeom prst="rect">
            <a:avLst/>
          </a:prstGeom>
          <a:noFill/>
          <a:ln/>
        </p:spPr>
        <p:txBody>
          <a:bodyPr wrap="square" lIns="0" tIns="0" rIns="0" bIns="0" rtlCol="0" anchor="ctr"/>
          <a:lstStyle/>
          <a:p>
            <a:pPr marL="0" indent="0">
              <a:buNone/>
            </a:pPr>
            <a:r>
              <a:rPr lang="en-US" sz="2200" b="1" dirty="0">
                <a:solidFill>
                  <a:srgbClr val="FFD733"/>
                </a:solidFill>
                <a:latin typeface="Malgun Gothic" pitchFamily="34" charset="0"/>
                <a:ea typeface="Malgun Gothic" pitchFamily="34" charset="-122"/>
                <a:cs typeface="Malgun Gothic" pitchFamily="34" charset="-120"/>
              </a:rPr>
              <a:t>1</a:t>
            </a:r>
            <a:endParaRPr lang="en-US" sz="2200" dirty="0"/>
          </a:p>
        </p:txBody>
      </p:sp>
      <p:sp>
        <p:nvSpPr>
          <p:cNvPr id="15" name="Text 12"/>
          <p:cNvSpPr txBox="1"/>
          <p:nvPr/>
        </p:nvSpPr>
        <p:spPr>
          <a:xfrm>
            <a:off x="6629400" y="2267712"/>
            <a:ext cx="4599432" cy="329184"/>
          </a:xfrm>
          <a:prstGeom prst="rect">
            <a:avLst/>
          </a:prstGeom>
          <a:noFill/>
          <a:ln/>
        </p:spPr>
        <p:txBody>
          <a:bodyPr wrap="square" lIns="0" tIns="0" rIns="0" bIns="0" rtlCol="0" anchor="ctr"/>
          <a:lstStyle/>
          <a:p>
            <a:pPr marL="0" indent="0">
              <a:buNone/>
            </a:pPr>
            <a:r>
              <a:rPr lang="ko-KR" sz="1350" b="1" dirty="0">
                <a:solidFill>
                  <a:srgbClr val="FFFFFF"/>
                </a:solidFill>
                <a:latin typeface="Malgun Gothic" pitchFamily="34" charset="0"/>
                <a:ea typeface="Malgun Gothic" pitchFamily="34" charset="-122"/>
                <a:cs typeface="Malgun Gothic" pitchFamily="34" charset="-120"/>
              </a:rPr>
              <a:t xml:space="preserve">인용 추출</a:t>
            </a:r>
            <a:endParaRPr lang="ko-KR" sz="1350" dirty="0"/>
          </a:p>
        </p:txBody>
      </p:sp>
      <p:sp>
        <p:nvSpPr>
          <p:cNvPr id="16" name="Text 13"/>
          <p:cNvSpPr txBox="1"/>
          <p:nvPr/>
        </p:nvSpPr>
        <p:spPr>
          <a:xfrm>
            <a:off x="6629400" y="2615184"/>
            <a:ext cx="4599432" cy="402336"/>
          </a:xfrm>
          <a:prstGeom prst="rect">
            <a:avLst/>
          </a:prstGeom>
          <a:noFill/>
          <a:ln/>
        </p:spPr>
        <p:txBody>
          <a:bodyPr wrap="square" lIns="0" tIns="0" rIns="0" bIns="0" rtlCol="0" anchor="t"/>
          <a:lstStyle/>
          <a:p>
            <a:pPr marL="0" indent="0">
              <a:buNone/>
            </a:pPr>
            <a:r>
              <a:rPr lang="en-US" sz="1300" dirty="0">
                <a:solidFill>
                  <a:srgbClr val="F5F1E4"/>
                </a:solidFill>
                <a:latin typeface="Malgun Gothic" pitchFamily="34" charset="0"/>
                <a:ea typeface="Malgun Gothic" pitchFamily="34" charset="-122"/>
                <a:cs typeface="Malgun Gothic" pitchFamily="34" charset="-120"/>
              </a:rPr>
              <a:t>관련 문장을 원문 그대로 인용</a:t>
            </a:r>
            <a:endParaRPr lang="en-US" sz="1300" dirty="0"/>
          </a:p>
        </p:txBody>
      </p:sp>
      <p:sp>
        <p:nvSpPr>
          <p:cNvPr id="17" name="Shape 14"/>
          <p:cNvSpPr/>
          <p:nvPr/>
        </p:nvSpPr>
        <p:spPr>
          <a:xfrm>
            <a:off x="5934456" y="3255264"/>
            <a:ext cx="5532120" cy="932688"/>
          </a:xfrm>
          <a:prstGeom prst="roundRect">
            <a:avLst>
              <a:gd name="adj" fmla="val 4412"/>
            </a:avLst>
          </a:prstGeom>
          <a:solidFill>
            <a:srgbClr val="2B2719"/>
          </a:solidFill>
          <a:ln w="12700">
            <a:solidFill>
              <a:srgbClr val="4A4430"/>
            </a:solidFill>
            <a:prstDash val="solid"/>
          </a:ln>
        </p:spPr>
      </p:sp>
      <p:sp>
        <p:nvSpPr>
          <p:cNvPr id="18" name="Text 15"/>
          <p:cNvSpPr txBox="1"/>
          <p:nvPr/>
        </p:nvSpPr>
        <p:spPr>
          <a:xfrm>
            <a:off x="6117336" y="3346704"/>
            <a:ext cx="457200" cy="749808"/>
          </a:xfrm>
          <a:prstGeom prst="rect">
            <a:avLst/>
          </a:prstGeom>
          <a:noFill/>
          <a:ln/>
        </p:spPr>
        <p:txBody>
          <a:bodyPr wrap="square" lIns="0" tIns="0" rIns="0" bIns="0" rtlCol="0" anchor="ctr"/>
          <a:lstStyle/>
          <a:p>
            <a:pPr marL="0" indent="0">
              <a:buNone/>
            </a:pPr>
            <a:r>
              <a:rPr lang="en-US" sz="2200" b="1" dirty="0">
                <a:solidFill>
                  <a:srgbClr val="FFD733"/>
                </a:solidFill>
                <a:latin typeface="Malgun Gothic" pitchFamily="34" charset="0"/>
                <a:ea typeface="Malgun Gothic" pitchFamily="34" charset="-122"/>
                <a:cs typeface="Malgun Gothic" pitchFamily="34" charset="-120"/>
              </a:rPr>
              <a:t>2</a:t>
            </a:r>
            <a:endParaRPr lang="en-US" sz="2200" dirty="0"/>
          </a:p>
        </p:txBody>
      </p:sp>
      <p:sp>
        <p:nvSpPr>
          <p:cNvPr id="19" name="Text 16"/>
          <p:cNvSpPr txBox="1"/>
          <p:nvPr/>
        </p:nvSpPr>
        <p:spPr>
          <a:xfrm>
            <a:off x="6629400" y="3364992"/>
            <a:ext cx="4599432" cy="329184"/>
          </a:xfrm>
          <a:prstGeom prst="rect">
            <a:avLst/>
          </a:prstGeom>
          <a:noFill/>
          <a:ln/>
        </p:spPr>
        <p:txBody>
          <a:bodyPr wrap="square" lIns="0" tIns="0" rIns="0" bIns="0" rtlCol="0" anchor="ctr"/>
          <a:lstStyle/>
          <a:p>
            <a:pPr marL="0" indent="0">
              <a:buNone/>
            </a:pPr>
            <a:r>
              <a:rPr lang="ko-KR" sz="1350" b="1" dirty="0">
                <a:solidFill>
                  <a:srgbClr val="FFFFFF"/>
                </a:solidFill>
                <a:latin typeface="Malgun Gothic" pitchFamily="34" charset="0"/>
                <a:ea typeface="Malgun Gothic" pitchFamily="34" charset="-122"/>
                <a:cs typeface="Malgun Gothic" pitchFamily="34" charset="-120"/>
              </a:rPr>
              <a:t xml:space="preserve">근거 한정</a:t>
            </a:r>
            <a:endParaRPr lang="ko-KR" sz="1350" dirty="0"/>
          </a:p>
        </p:txBody>
      </p:sp>
      <p:sp>
        <p:nvSpPr>
          <p:cNvPr id="20" name="Text 17"/>
          <p:cNvSpPr txBox="1"/>
          <p:nvPr/>
        </p:nvSpPr>
        <p:spPr>
          <a:xfrm>
            <a:off x="6629400" y="3712464"/>
            <a:ext cx="4599432" cy="402336"/>
          </a:xfrm>
          <a:prstGeom prst="rect">
            <a:avLst/>
          </a:prstGeom>
          <a:noFill/>
          <a:ln/>
        </p:spPr>
        <p:txBody>
          <a:bodyPr wrap="square" lIns="0" tIns="0" rIns="0" bIns="0" rtlCol="0" anchor="t"/>
          <a:lstStyle/>
          <a:p>
            <a:pPr marL="0" indent="0">
              <a:buNone/>
            </a:pPr>
            <a:r>
              <a:rPr lang="ko-KR" sz="1300" dirty="0">
                <a:solidFill>
                  <a:srgbClr val="F5F1E4"/>
                </a:solidFill>
                <a:latin typeface="Malgun Gothic" pitchFamily="34" charset="0"/>
                <a:ea typeface="Malgun Gothic" pitchFamily="34" charset="-122"/>
                <a:cs typeface="Malgun Gothic" pitchFamily="34" charset="-120"/>
              </a:rPr>
              <a:t xml:space="preserve">추출한 인용만 사실의 근거로 사용</a:t>
            </a:r>
            <a:endParaRPr lang="ko-KR" sz="1300" dirty="0"/>
          </a:p>
        </p:txBody>
      </p:sp>
      <p:sp>
        <p:nvSpPr>
          <p:cNvPr id="21" name="Shape 18"/>
          <p:cNvSpPr/>
          <p:nvPr/>
        </p:nvSpPr>
        <p:spPr>
          <a:xfrm>
            <a:off x="5934456" y="4352544"/>
            <a:ext cx="5532120" cy="932688"/>
          </a:xfrm>
          <a:prstGeom prst="roundRect">
            <a:avLst>
              <a:gd name="adj" fmla="val 4412"/>
            </a:avLst>
          </a:prstGeom>
          <a:solidFill>
            <a:srgbClr val="2B2719"/>
          </a:solidFill>
          <a:ln w="12700">
            <a:solidFill>
              <a:srgbClr val="4A4430"/>
            </a:solidFill>
            <a:prstDash val="solid"/>
          </a:ln>
        </p:spPr>
      </p:sp>
      <p:sp>
        <p:nvSpPr>
          <p:cNvPr id="22" name="Text 19"/>
          <p:cNvSpPr txBox="1"/>
          <p:nvPr/>
        </p:nvSpPr>
        <p:spPr>
          <a:xfrm>
            <a:off x="6117336" y="4443984"/>
            <a:ext cx="457200" cy="749808"/>
          </a:xfrm>
          <a:prstGeom prst="rect">
            <a:avLst/>
          </a:prstGeom>
          <a:noFill/>
          <a:ln/>
        </p:spPr>
        <p:txBody>
          <a:bodyPr wrap="square" lIns="0" tIns="0" rIns="0" bIns="0" rtlCol="0" anchor="ctr"/>
          <a:lstStyle/>
          <a:p>
            <a:pPr marL="0" indent="0">
              <a:buNone/>
            </a:pPr>
            <a:r>
              <a:rPr lang="en-US" sz="2200" b="1" dirty="0">
                <a:solidFill>
                  <a:srgbClr val="FFD733"/>
                </a:solidFill>
                <a:latin typeface="Malgun Gothic" pitchFamily="34" charset="0"/>
                <a:ea typeface="Malgun Gothic" pitchFamily="34" charset="-122"/>
                <a:cs typeface="Malgun Gothic" pitchFamily="34" charset="-120"/>
              </a:rPr>
              <a:t>3</a:t>
            </a:r>
            <a:endParaRPr lang="en-US" sz="2200" dirty="0"/>
          </a:p>
        </p:txBody>
      </p:sp>
      <p:sp>
        <p:nvSpPr>
          <p:cNvPr id="23" name="Text 20"/>
          <p:cNvSpPr txBox="1"/>
          <p:nvPr/>
        </p:nvSpPr>
        <p:spPr>
          <a:xfrm>
            <a:off x="6629400" y="4462272"/>
            <a:ext cx="4599432" cy="329184"/>
          </a:xfrm>
          <a:prstGeom prst="rect">
            <a:avLst/>
          </a:prstGeom>
          <a:noFill/>
          <a:ln/>
        </p:spPr>
        <p:txBody>
          <a:bodyPr wrap="square" lIns="0" tIns="0" rIns="0" bIns="0" rtlCol="0" anchor="ctr"/>
          <a:lstStyle/>
          <a:p>
            <a:pPr marL="0" indent="0">
              <a:buNone/>
            </a:pPr>
            <a:r>
              <a:rPr lang="ko-KR" sz="1350" b="1" dirty="0">
                <a:solidFill>
                  <a:srgbClr val="FFFFFF"/>
                </a:solidFill>
                <a:latin typeface="Malgun Gothic" pitchFamily="34" charset="0"/>
                <a:ea typeface="Malgun Gothic" pitchFamily="34" charset="-122"/>
                <a:cs typeface="Malgun Gothic" pitchFamily="34" charset="-120"/>
              </a:rPr>
              <a:t xml:space="preserve">답 작성</a:t>
            </a:r>
            <a:endParaRPr lang="ko-KR" sz="1350" dirty="0"/>
          </a:p>
        </p:txBody>
      </p:sp>
      <p:sp>
        <p:nvSpPr>
          <p:cNvPr id="24" name="Text 21"/>
          <p:cNvSpPr txBox="1"/>
          <p:nvPr/>
        </p:nvSpPr>
        <p:spPr>
          <a:xfrm>
            <a:off x="6629400" y="4809744"/>
            <a:ext cx="4599432" cy="402336"/>
          </a:xfrm>
          <a:prstGeom prst="rect">
            <a:avLst/>
          </a:prstGeom>
          <a:noFill/>
          <a:ln/>
        </p:spPr>
        <p:txBody>
          <a:bodyPr wrap="square" lIns="0" tIns="0" rIns="0" bIns="0" rtlCol="0" anchor="t"/>
          <a:lstStyle/>
          <a:p>
            <a:pPr marL="0" indent="0">
              <a:buNone/>
            </a:pPr>
            <a:r>
              <a:rPr lang="en-US" sz="1300" dirty="0">
                <a:solidFill>
                  <a:srgbClr val="F5F1E4"/>
                </a:solidFill>
                <a:latin typeface="Malgun Gothic" pitchFamily="34" charset="0"/>
                <a:ea typeface="Malgun Gothic" pitchFamily="34" charset="-122"/>
                <a:cs typeface="Malgun Gothic" pitchFamily="34" charset="-120"/>
              </a:rPr>
              <a:t>그 근거에서만 최종 답 작성</a:t>
            </a:r>
            <a:endParaRPr lang="en-US" sz="1300" dirty="0"/>
          </a:p>
        </p:txBody>
      </p:sp>
      <p:sp>
        <p:nvSpPr>
          <p:cNvPr id="25" name="Shape 22"/>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26" name="Text 23"/>
          <p:cNvSpPr txBox="1"/>
          <p:nvPr/>
        </p:nvSpPr>
        <p:spPr>
          <a:xfrm>
            <a:off x="758952" y="5779008"/>
            <a:ext cx="10671048" cy="566928"/>
          </a:xfrm>
          <a:prstGeom prst="rect">
            <a:avLst/>
          </a:prstGeom>
          <a:noFill/>
          <a:ln/>
        </p:spPr>
        <p:txBody>
          <a:bodyPr wrap="square" lIns="0" tIns="0" rIns="0" bIns="0" rtlCol="0" anchor="ctr"/>
          <a:lstStyle/>
          <a:p>
            <a:pPr marL="0" indent="0">
              <a:buNone/>
            </a:pPr>
            <a:r>
              <a:rPr lang="ko-KR" sz="1350" b="1" dirty="0">
                <a:solidFill>
                  <a:srgbClr val="FFDF57"/>
                </a:solidFill>
                <a:latin typeface="Malgun Gothic" pitchFamily="34" charset="0"/>
                <a:ea typeface="Malgun Gothic" pitchFamily="34" charset="-122"/>
                <a:cs typeface="Malgun Gothic" pitchFamily="34" charset="-120"/>
              </a:rPr>
              <a:t xml:space="preserve">결론 전에 근거부터 추출 — 결론이 근거에 묶이도록 순서를 강제 (Anthropic 공식 권장 방식)</a:t>
            </a:r>
            <a:endParaRPr lang="ko-KR"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실습 3 · '인용 먼저'를 요구하면 맥락 이탈과 환각 감소</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ko-KR" sz="1350" dirty="0">
                <a:solidFill>
                  <a:srgbClr val="F5F1E4"/>
                </a:solidFill>
                <a:latin typeface="Malgun Gothic" pitchFamily="34" charset="0"/>
                <a:ea typeface="Malgun Gothic" pitchFamily="34" charset="-122"/>
                <a:cs typeface="Malgun Gothic" pitchFamily="34" charset="-120"/>
              </a:rPr>
              <a:t xml:space="preserve">강의자료의 DATA_INSIGHT_63호_1_10p.pdf 이용 · 짧은 발췌본이라 차이가 작을 수 있음 — 문서가 길수록 효과 큼</a:t>
            </a:r>
            <a:endParaRPr lang="ko-KR" sz="1350" dirty="0"/>
          </a:p>
        </p:txBody>
      </p:sp>
      <p:sp>
        <p:nvSpPr>
          <p:cNvPr id="5" name="Text 2"/>
          <p:cNvSpPr txBox="1"/>
          <p:nvPr/>
        </p:nvSpPr>
        <p:spPr>
          <a:xfrm>
            <a:off x="502920" y="1463040"/>
            <a:ext cx="5408676" cy="365760"/>
          </a:xfrm>
          <a:prstGeom prst="rect">
            <a:avLst/>
          </a:prstGeom>
          <a:noFill/>
          <a:ln/>
        </p:spPr>
        <p:txBody>
          <a:bodyPr wrap="square" lIns="0" tIns="0" rIns="0" bIns="0" rtlCol="0" anchor="ctr"/>
          <a:lstStyle/>
          <a:p>
            <a:pPr marL="0" indent="0">
              <a:buNone/>
            </a:pPr>
            <a:r>
              <a:rPr lang="en-US" sz="1400" b="1" dirty="0">
                <a:solidFill>
                  <a:srgbClr val="FF9B8A"/>
                </a:solidFill>
                <a:latin typeface="Malgun Gothic" pitchFamily="34" charset="0"/>
                <a:ea typeface="Malgun Gothic" pitchFamily="34" charset="-122"/>
                <a:cs typeface="Malgun Gothic" pitchFamily="34" charset="-120"/>
              </a:rPr>
              <a:t>A안 · 그냥 요약</a:t>
            </a:r>
            <a:endParaRPr lang="en-US" sz="1400" dirty="0"/>
          </a:p>
        </p:txBody>
      </p:sp>
      <p:sp>
        <p:nvSpPr>
          <p:cNvPr id="6" name="Shape 3"/>
          <p:cNvSpPr/>
          <p:nvPr/>
        </p:nvSpPr>
        <p:spPr>
          <a:xfrm>
            <a:off x="502920" y="1874520"/>
            <a:ext cx="5408676" cy="1371600"/>
          </a:xfrm>
          <a:prstGeom prst="roundRect">
            <a:avLst>
              <a:gd name="adj" fmla="val 3000"/>
            </a:avLst>
          </a:prstGeom>
          <a:solidFill>
            <a:srgbClr val="1A1810"/>
          </a:solidFill>
          <a:ln w="12700">
            <a:solidFill>
              <a:srgbClr val="4A4430"/>
            </a:solidFill>
            <a:prstDash val="solid"/>
          </a:ln>
        </p:spPr>
      </p:sp>
      <p:sp>
        <p:nvSpPr>
          <p:cNvPr id="7" name="Text 4"/>
          <p:cNvSpPr txBox="1"/>
          <p:nvPr/>
        </p:nvSpPr>
        <p:spPr>
          <a:xfrm>
            <a:off x="685800" y="2002536"/>
            <a:ext cx="5042916" cy="1115568"/>
          </a:xfrm>
          <a:prstGeom prst="rect">
            <a:avLst/>
          </a:prstGeom>
          <a:noFill/>
          <a:ln/>
        </p:spPr>
        <p:txBody>
          <a:bodyPr wrap="square" lIns="0" tIns="0" rIns="0" bIns="0" rtlCol="0" anchor="t"/>
          <a:lstStyle/>
          <a:p>
            <a:pPr marL="0" indent="0">
              <a:lnSpc>
                <a:spcPct val="122000"/>
              </a:lnSpc>
              <a:buNone/>
            </a:pPr>
            <a:r>
              <a:rPr lang="ko-KR" sz="1300" dirty="0">
                <a:solidFill>
                  <a:srgbClr val="F5F1E4"/>
                </a:solidFill>
                <a:latin typeface="Malgun Gothic" pitchFamily="34" charset="0"/>
                <a:ea typeface="Malgun Gothic" pitchFamily="34" charset="-122"/>
                <a:cs typeface="Malgun Gothic" pitchFamily="34" charset="-120"/>
              </a:rPr>
              <a:t xml:space="preserve">첨부한 문서를 3문장으로 요약해줘.</a:t>
            </a:r>
            <a:endParaRPr lang="ko-KR" sz="1300" dirty="0"/>
          </a:p>
        </p:txBody>
      </p:sp>
      <p:sp>
        <p:nvSpPr>
          <p:cNvPr id="8" name="Text 5"/>
          <p:cNvSpPr txBox="1"/>
          <p:nvPr/>
        </p:nvSpPr>
        <p:spPr>
          <a:xfrm>
            <a:off x="502920" y="3383280"/>
            <a:ext cx="5408676" cy="411480"/>
          </a:xfrm>
          <a:prstGeom prst="rect">
            <a:avLst/>
          </a:prstGeom>
          <a:noFill/>
          <a:ln/>
        </p:spPr>
        <p:txBody>
          <a:bodyPr wrap="square" lIns="0" tIns="0" rIns="0" bIns="0" rtlCol="0" anchor="t"/>
          <a:lstStyle/>
          <a:p>
            <a:pPr marL="0" indent="0">
              <a:buNone/>
            </a:pPr>
            <a:r>
              <a:rPr lang="en-US" sz="1300" dirty="0">
                <a:solidFill>
                  <a:srgbClr val="D4CEC0"/>
                </a:solidFill>
                <a:latin typeface="Malgun Gothic" pitchFamily="34" charset="0"/>
                <a:ea typeface="Malgun Gothic" pitchFamily="34" charset="-122"/>
                <a:cs typeface="Malgun Gothic" pitchFamily="34" charset="-120"/>
              </a:rPr>
              <a:t>→ 원문에 없던 단정·수치가 끼어드는지 관찰</a:t>
            </a:r>
            <a:endParaRPr lang="en-US" sz="1300" dirty="0"/>
          </a:p>
        </p:txBody>
      </p:sp>
      <p:sp>
        <p:nvSpPr>
          <p:cNvPr id="9" name="Text 6"/>
          <p:cNvSpPr txBox="1"/>
          <p:nvPr/>
        </p:nvSpPr>
        <p:spPr>
          <a:xfrm>
            <a:off x="6277356" y="1463040"/>
            <a:ext cx="5408676" cy="365760"/>
          </a:xfrm>
          <a:prstGeom prst="rect">
            <a:avLst/>
          </a:prstGeom>
          <a:noFill/>
          <a:ln/>
        </p:spPr>
        <p:txBody>
          <a:bodyPr wrap="square" lIns="0" tIns="0" rIns="0" bIns="0" rtlCol="0" anchor="ctr"/>
          <a:lstStyle/>
          <a:p>
            <a:pPr marL="0" indent="0">
              <a:buNone/>
            </a:pPr>
            <a:r>
              <a:rPr lang="en-US" sz="1400" b="1" dirty="0">
                <a:solidFill>
                  <a:srgbClr val="8FDDA4"/>
                </a:solidFill>
                <a:latin typeface="Malgun Gothic" pitchFamily="34" charset="0"/>
                <a:ea typeface="Malgun Gothic" pitchFamily="34" charset="-122"/>
                <a:cs typeface="Malgun Gothic" pitchFamily="34" charset="-120"/>
              </a:rPr>
              <a:t>B안 · 인용 먼저, 답 나중 — '다음 순서로 처리해줘' 형태</a:t>
            </a:r>
            <a:endParaRPr lang="en-US" sz="1400" dirty="0"/>
          </a:p>
        </p:txBody>
      </p:sp>
      <p:sp>
        <p:nvSpPr>
          <p:cNvPr id="10" name="Shape 7"/>
          <p:cNvSpPr/>
          <p:nvPr/>
        </p:nvSpPr>
        <p:spPr>
          <a:xfrm>
            <a:off x="6277356" y="1874520"/>
            <a:ext cx="5408676" cy="2514600"/>
          </a:xfrm>
          <a:prstGeom prst="roundRect">
            <a:avLst>
              <a:gd name="adj" fmla="val 1636"/>
            </a:avLst>
          </a:prstGeom>
          <a:solidFill>
            <a:srgbClr val="1A1810"/>
          </a:solidFill>
          <a:ln w="12700">
            <a:solidFill>
              <a:srgbClr val="FFD733"/>
            </a:solidFill>
            <a:prstDash val="solid"/>
          </a:ln>
        </p:spPr>
      </p:sp>
      <p:sp>
        <p:nvSpPr>
          <p:cNvPr id="11" name="Text 8"/>
          <p:cNvSpPr txBox="1"/>
          <p:nvPr/>
        </p:nvSpPr>
        <p:spPr>
          <a:xfrm>
            <a:off x="6460236" y="2002536"/>
            <a:ext cx="5042916" cy="2258568"/>
          </a:xfrm>
          <a:prstGeom prst="rect">
            <a:avLst/>
          </a:prstGeom>
          <a:noFill/>
          <a:ln/>
        </p:spPr>
        <p:txBody>
          <a:bodyPr wrap="square" lIns="0" tIns="0" rIns="0" bIns="0" rtlCol="0" anchor="t"/>
          <a:lstStyle/>
          <a:p>
            <a:pPr marL="0" indent="0">
              <a:lnSpc>
                <a:spcPct val="122000"/>
              </a:lnSpc>
              <a:buNone/>
            </a:pPr>
            <a:r>
              <a:rPr lang="ko-KR" sz="1300" dirty="0">
                <a:solidFill>
                  <a:srgbClr val="F5F1E4"/>
                </a:solidFill>
                <a:latin typeface="Malgun Gothic" pitchFamily="34" charset="0"/>
                <a:ea typeface="Malgun Gothic" pitchFamily="34" charset="-122"/>
                <a:cs typeface="Malgun Gothic" pitchFamily="34" charset="-120"/>
              </a:rPr>
              <a:t xml:space="preserve">첨부한 문서를 다음 순서로 처리해줘.</a:t>
            </a:r>
            <a:endParaRPr lang="ko-KR" sz="1300" dirty="0"/>
          </a:p>
          <a:p>
            <a:pPr marL="0" indent="0">
              <a:lnSpc>
                <a:spcPct val="122000"/>
              </a:lnSpc>
              <a:buNone/>
            </a:pPr>
            <a:r>
              <a:rPr lang="ko-KR" sz="1300" dirty="0">
                <a:solidFill>
                  <a:srgbClr val="F5F1E4"/>
                </a:solidFill>
                <a:latin typeface="Malgun Gothic" pitchFamily="34" charset="0"/>
                <a:ea typeface="Malgun Gothic" pitchFamily="34" charset="-122"/>
                <a:cs typeface="Malgun Gothic" pitchFamily="34" charset="-120"/>
              </a:rPr>
              <a:t xml:space="preserve">1단계: 핵심 주장 3개를 원문 그대로 인용해.</a:t>
            </a:r>
            <a:endParaRPr lang="ko-KR" sz="1300" dirty="0"/>
          </a:p>
          <a:p>
            <a:pPr marL="0" indent="0">
              <a:lnSpc>
                <a:spcPct val="122000"/>
              </a:lnSpc>
              <a:buNone/>
            </a:pPr>
            <a:r>
              <a:rPr lang="ko-KR" sz="1300" dirty="0">
                <a:solidFill>
                  <a:srgbClr val="F5F1E4"/>
                </a:solidFill>
                <a:latin typeface="Malgun Gothic" pitchFamily="34" charset="0"/>
                <a:ea typeface="Malgun Gothic" pitchFamily="34" charset="-122"/>
                <a:cs typeface="Malgun Gothic" pitchFamily="34" charset="-120"/>
              </a:rPr>
              <a:t xml:space="preserve">2단계: 그 인용만 근거로, 각 주장을 1문장 요약.</a:t>
            </a:r>
            <a:endParaRPr lang="ko-KR" sz="1300" dirty="0"/>
          </a:p>
          <a:p>
            <a:pPr marL="0" indent="0">
              <a:lnSpc>
                <a:spcPct val="122000"/>
              </a:lnSpc>
              <a:buNone/>
            </a:pPr>
            <a:r>
              <a:rPr lang="ko-KR" sz="1300" dirty="0">
                <a:solidFill>
                  <a:srgbClr val="F5F1E4"/>
                </a:solidFill>
                <a:latin typeface="Malgun Gothic" pitchFamily="34" charset="0"/>
                <a:ea typeface="Malgun Gothic" pitchFamily="34" charset="-122"/>
                <a:cs typeface="Malgun Gothic" pitchFamily="34" charset="-120"/>
              </a:rPr>
              <a:t xml:space="preserve">주의: 인용에 없는 결론·수치는 절대 추가하지 마.</a:t>
            </a:r>
            <a:endParaRPr lang="ko-KR" sz="1300" dirty="0"/>
          </a:p>
        </p:txBody>
      </p:sp>
      <p:sp>
        <p:nvSpPr>
          <p:cNvPr id="12" name="Text 9"/>
          <p:cNvSpPr txBox="1"/>
          <p:nvPr/>
        </p:nvSpPr>
        <p:spPr>
          <a:xfrm>
            <a:off x="6277356" y="4526280"/>
            <a:ext cx="5408676" cy="411480"/>
          </a:xfrm>
          <a:prstGeom prst="rect">
            <a:avLst/>
          </a:prstGeom>
          <a:noFill/>
          <a:ln/>
        </p:spPr>
        <p:txBody>
          <a:bodyPr wrap="square" lIns="0" tIns="0" rIns="0" bIns="0" rtlCol="0" anchor="t"/>
          <a:lstStyle/>
          <a:p>
            <a:pPr marL="0" indent="0">
              <a:buNone/>
            </a:pPr>
            <a:r>
              <a:rPr lang="en-US" sz="1300" dirty="0">
                <a:solidFill>
                  <a:srgbClr val="D4CEC0"/>
                </a:solidFill>
                <a:latin typeface="Malgun Gothic" pitchFamily="34" charset="0"/>
                <a:ea typeface="Malgun Gothic" pitchFamily="34" charset="-122"/>
                <a:cs typeface="Malgun Gothic" pitchFamily="34" charset="-120"/>
              </a:rPr>
              <a:t>→ A안의 끼어든 결론을 B안이 막는지 비교</a:t>
            </a:r>
            <a:endParaRPr lang="en-US" sz="1300" dirty="0"/>
          </a:p>
        </p:txBody>
      </p:sp>
      <p:sp>
        <p:nvSpPr>
          <p:cNvPr id="13" name="Shape 10"/>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4" name="Text 11"/>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단계 순서의 강제만으로 결론이 근거에 묶이는 효과 확인</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단계적 사고(CoT) 프롬프트가 항상 좋은 것은 아님 (2026년 10월 기준)</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ko-KR" sz="1350" dirty="0">
                <a:solidFill>
                  <a:srgbClr val="F5F1E4"/>
                </a:solidFill>
                <a:latin typeface="Malgun Gothic" pitchFamily="34" charset="0"/>
                <a:ea typeface="Malgun Gothic" pitchFamily="34" charset="-122"/>
                <a:cs typeface="Malgun Gothic" pitchFamily="34" charset="-120"/>
              </a:rPr>
              <a:t xml:space="preserve">2024년까지 유행하던 “Let's think step by step” — 이제 굳이 붙일 필요 없음 · 추론 모델엔 낭비, 단순 질문엔 이득 적고 변동성만 증가</a:t>
            </a:r>
            <a:endParaRPr lang="ko-KR" sz="1350" dirty="0"/>
          </a:p>
        </p:txBody>
      </p:sp>
      <p:sp>
        <p:nvSpPr>
          <p:cNvPr id="5" name="Shape 2"/>
          <p:cNvSpPr/>
          <p:nvPr/>
        </p:nvSpPr>
        <p:spPr>
          <a:xfrm>
            <a:off x="502920" y="1572768"/>
            <a:ext cx="3544824" cy="3383280"/>
          </a:xfrm>
          <a:prstGeom prst="roundRect">
            <a:avLst>
              <a:gd name="adj" fmla="val 1161"/>
            </a:avLst>
          </a:prstGeom>
          <a:solidFill>
            <a:srgbClr val="232016"/>
          </a:solidFill>
          <a:ln w="12700">
            <a:solidFill>
              <a:srgbClr val="4A4430"/>
            </a:solidFill>
            <a:prstDash val="solid"/>
          </a:ln>
        </p:spPr>
      </p:sp>
      <p:sp>
        <p:nvSpPr>
          <p:cNvPr id="6" name="Text 3"/>
          <p:cNvSpPr txBox="1"/>
          <p:nvPr/>
        </p:nvSpPr>
        <p:spPr>
          <a:xfrm>
            <a:off x="704088" y="1737360"/>
            <a:ext cx="3142488" cy="384048"/>
          </a:xfrm>
          <a:prstGeom prst="rect">
            <a:avLst/>
          </a:prstGeom>
          <a:noFill/>
          <a:ln/>
        </p:spPr>
        <p:txBody>
          <a:bodyPr wrap="square" lIns="0" tIns="0" rIns="0" bIns="0" rtlCol="0" anchor="ctr"/>
          <a:lstStyle/>
          <a:p>
            <a:pPr marL="0" indent="0">
              <a:buNone/>
            </a:pPr>
            <a:r>
              <a:rPr lang="en-US" sz="1550" b="1" dirty="0">
                <a:solidFill>
                  <a:srgbClr val="FFFFFF"/>
                </a:solidFill>
                <a:latin typeface="Malgun Gothic" pitchFamily="34" charset="0"/>
                <a:ea typeface="Malgun Gothic" pitchFamily="34" charset="-122"/>
                <a:cs typeface="Malgun Gothic" pitchFamily="34" charset="-120"/>
              </a:rPr>
              <a:t>추론 모델</a:t>
            </a:r>
            <a:endParaRPr lang="en-US" sz="1550" dirty="0"/>
          </a:p>
        </p:txBody>
      </p:sp>
      <p:sp>
        <p:nvSpPr>
          <p:cNvPr id="7" name="Text 4"/>
          <p:cNvSpPr txBox="1"/>
          <p:nvPr/>
        </p:nvSpPr>
        <p:spPr>
          <a:xfrm>
            <a:off x="704088" y="2157984"/>
            <a:ext cx="3142488" cy="365760"/>
          </a:xfrm>
          <a:prstGeom prst="rect">
            <a:avLst/>
          </a:prstGeom>
          <a:noFill/>
          <a:ln/>
        </p:spPr>
        <p:txBody>
          <a:bodyPr wrap="square" lIns="0" tIns="0" rIns="0" bIns="0" rtlCol="0" anchor="ctr"/>
          <a:lstStyle/>
          <a:p>
            <a:pPr marL="0" indent="0">
              <a:buNone/>
            </a:pPr>
            <a:r>
              <a:rPr lang="en-US" sz="1400" b="1" dirty="0">
                <a:solidFill>
                  <a:srgbClr val="FF9B8A"/>
                </a:solidFill>
                <a:latin typeface="Malgun Gothic" pitchFamily="34" charset="0"/>
                <a:ea typeface="Malgun Gothic" pitchFamily="34" charset="-122"/>
                <a:cs typeface="Malgun Gothic" pitchFamily="34" charset="-120"/>
              </a:rPr>
              <a:t>→ CoT 제외</a:t>
            </a:r>
            <a:endParaRPr lang="en-US" sz="1400" dirty="0"/>
          </a:p>
        </p:txBody>
      </p:sp>
      <p:sp>
        <p:nvSpPr>
          <p:cNvPr id="8" name="Text 5"/>
          <p:cNvSpPr txBox="1"/>
          <p:nvPr/>
        </p:nvSpPr>
        <p:spPr>
          <a:xfrm>
            <a:off x="704088" y="2651760"/>
            <a:ext cx="3142488" cy="2240280"/>
          </a:xfrm>
          <a:prstGeom prst="rect">
            <a:avLst/>
          </a:prstGeom>
          <a:noFill/>
          <a:ln/>
        </p:spPr>
        <p:txBody>
          <a:bodyPr wrap="square" lIns="0" tIns="0" rIns="0" bIns="0" rtlCol="0" anchor="t"/>
          <a:lstStyle/>
          <a:p>
            <a:pPr marL="0" indent="0">
              <a:lnSpc>
                <a:spcPct val="122000"/>
              </a:lnSpc>
              <a:spcAft>
                <a:spcPts val="800"/>
              </a:spcAft>
              <a:buNone/>
            </a:pPr>
            <a:r>
              <a:rPr lang="ko-KR" sz="1300" dirty="0">
                <a:solidFill>
                  <a:srgbClr val="F5F1E4"/>
                </a:solidFill>
                <a:latin typeface="Malgun Gothic" pitchFamily="34" charset="0"/>
                <a:ea typeface="Malgun Gothic" pitchFamily="34" charset="-122"/>
                <a:cs typeface="Malgun Gothic" pitchFamily="34" charset="-120"/>
              </a:rPr>
              <a:t xml:space="preserve">내부에서 먼저 추론한 뒤 결론만 출력. CoT를 덧붙이면 응답 시간만 20~80%↑, 정확도 변화는 ±3%p 수준 (Wharton, 2025.6)</a:t>
            </a:r>
            <a:endParaRPr lang="ko-KR" sz="1300" dirty="0"/>
          </a:p>
          <a:p>
            <a:pPr marL="0" indent="0">
              <a:lnSpc>
                <a:spcPct val="122000"/>
              </a:lnSpc>
              <a:spcAft>
                <a:spcPts val="800"/>
              </a:spcAft>
              <a:buNone/>
            </a:pPr>
            <a:r>
              <a:rPr lang="ko-KR" sz="1300" dirty="0">
                <a:solidFill>
                  <a:srgbClr val="F5F1E4"/>
                </a:solidFill>
                <a:latin typeface="Malgun Gothic" pitchFamily="34" charset="0"/>
                <a:ea typeface="Malgun Gothic" pitchFamily="34" charset="-122"/>
                <a:cs typeface="Malgun Gothic" pitchFamily="34" charset="-120"/>
              </a:rPr>
              <a:t xml:space="preserve">최신 Claude(Opus·Sonnet 5.5 등)는 '추론을 &lt;thinking&gt; 태그에 써 달라'는 요청을 거절할 수 있음 (Anthropic 공식 문서)</a:t>
            </a:r>
            <a:endParaRPr lang="ko-KR" sz="1300" dirty="0"/>
          </a:p>
        </p:txBody>
      </p:sp>
      <p:sp>
        <p:nvSpPr>
          <p:cNvPr id="9" name="Shape 6"/>
          <p:cNvSpPr/>
          <p:nvPr/>
        </p:nvSpPr>
        <p:spPr>
          <a:xfrm>
            <a:off x="4322064" y="1572768"/>
            <a:ext cx="3544824" cy="3383280"/>
          </a:xfrm>
          <a:prstGeom prst="roundRect">
            <a:avLst>
              <a:gd name="adj" fmla="val 1161"/>
            </a:avLst>
          </a:prstGeom>
          <a:solidFill>
            <a:srgbClr val="232016"/>
          </a:solidFill>
          <a:ln w="12700">
            <a:solidFill>
              <a:srgbClr val="4A4430"/>
            </a:solidFill>
            <a:prstDash val="solid"/>
          </a:ln>
        </p:spPr>
      </p:sp>
      <p:sp>
        <p:nvSpPr>
          <p:cNvPr id="10" name="Text 7"/>
          <p:cNvSpPr txBox="1"/>
          <p:nvPr/>
        </p:nvSpPr>
        <p:spPr>
          <a:xfrm>
            <a:off x="4523232" y="1737360"/>
            <a:ext cx="3142488" cy="384048"/>
          </a:xfrm>
          <a:prstGeom prst="rect">
            <a:avLst/>
          </a:prstGeom>
          <a:noFill/>
          <a:ln/>
        </p:spPr>
        <p:txBody>
          <a:bodyPr wrap="square" lIns="0" tIns="0" rIns="0" bIns="0" rtlCol="0" anchor="ctr"/>
          <a:lstStyle/>
          <a:p>
            <a:pPr marL="0" indent="0">
              <a:buNone/>
            </a:pPr>
            <a:r>
              <a:rPr lang="en-US" sz="1550" b="1" dirty="0">
                <a:solidFill>
                  <a:srgbClr val="FFFFFF"/>
                </a:solidFill>
                <a:latin typeface="Malgun Gothic" pitchFamily="34" charset="0"/>
                <a:ea typeface="Malgun Gothic" pitchFamily="34" charset="-122"/>
                <a:cs typeface="Malgun Gothic" pitchFamily="34" charset="-120"/>
              </a:rPr>
              <a:t>비추론 모델</a:t>
            </a:r>
            <a:endParaRPr lang="en-US" sz="1550" dirty="0"/>
          </a:p>
        </p:txBody>
      </p:sp>
      <p:sp>
        <p:nvSpPr>
          <p:cNvPr id="11" name="Text 8"/>
          <p:cNvSpPr txBox="1"/>
          <p:nvPr/>
        </p:nvSpPr>
        <p:spPr>
          <a:xfrm>
            <a:off x="4523232" y="2157984"/>
            <a:ext cx="3142488" cy="365760"/>
          </a:xfrm>
          <a:prstGeom prst="rect">
            <a:avLst/>
          </a:prstGeom>
          <a:noFill/>
          <a:ln/>
        </p:spPr>
        <p:txBody>
          <a:bodyPr wrap="square" lIns="0" tIns="0" rIns="0" bIns="0" rtlCol="0" anchor="ctr"/>
          <a:lstStyle/>
          <a:p>
            <a:pPr marL="0" indent="0">
              <a:buNone/>
            </a:pPr>
            <a:r>
              <a:rPr lang="en-US" sz="1400" b="1" dirty="0">
                <a:solidFill>
                  <a:srgbClr val="8FDDA4"/>
                </a:solidFill>
                <a:latin typeface="Malgun Gothic" pitchFamily="34" charset="0"/>
                <a:ea typeface="Malgun Gothic" pitchFamily="34" charset="-122"/>
                <a:cs typeface="Malgun Gothic" pitchFamily="34" charset="-120"/>
              </a:rPr>
              <a:t>→ CoT 유효</a:t>
            </a:r>
            <a:endParaRPr lang="en-US" sz="1400" dirty="0"/>
          </a:p>
        </p:txBody>
      </p:sp>
      <p:sp>
        <p:nvSpPr>
          <p:cNvPr id="12" name="Text 9"/>
          <p:cNvSpPr txBox="1"/>
          <p:nvPr/>
        </p:nvSpPr>
        <p:spPr>
          <a:xfrm>
            <a:off x="4523232" y="2651760"/>
            <a:ext cx="3142488" cy="2240280"/>
          </a:xfrm>
          <a:prstGeom prst="rect">
            <a:avLst/>
          </a:prstGeom>
          <a:noFill/>
          <a:ln/>
        </p:spPr>
        <p:txBody>
          <a:bodyPr wrap="square" lIns="0" tIns="0" rIns="0" bIns="0" rtlCol="0" anchor="t"/>
          <a:lstStyle/>
          <a:p>
            <a:pPr marL="0" indent="0">
              <a:lnSpc>
                <a:spcPct val="122000"/>
              </a:lnSpc>
              <a:spcAft>
                <a:spcPts val="800"/>
              </a:spcAft>
              <a:buNone/>
            </a:pPr>
            <a:r>
              <a:rPr lang="ko-KR" sz="1300" dirty="0">
                <a:solidFill>
                  <a:srgbClr val="F5F1E4"/>
                </a:solidFill>
                <a:latin typeface="Malgun Gothic" pitchFamily="34" charset="0"/>
                <a:ea typeface="Malgun Gothic" pitchFamily="34" charset="-122"/>
                <a:cs typeface="Malgun Gothic" pitchFamily="34" charset="-120"/>
              </a:rPr>
              <a:t xml:space="preserve">GPT-4o 같은 구형 비추론 모델엔 평균 정확도 향상 (Wharton, 2025.6)</a:t>
            </a:r>
            <a:endParaRPr lang="ko-KR" sz="1300" dirty="0"/>
          </a:p>
          <a:p>
            <a:pPr marL="0" indent="0">
              <a:lnSpc>
                <a:spcPct val="122000"/>
              </a:lnSpc>
              <a:spcAft>
                <a:spcPts val="800"/>
              </a:spcAft>
              <a:buNone/>
            </a:pPr>
            <a:r>
              <a:rPr lang="ko-KR" sz="1300" dirty="0">
                <a:solidFill>
                  <a:srgbClr val="F5F1E4"/>
                </a:solidFill>
                <a:latin typeface="Malgun Gothic" pitchFamily="34" charset="0"/>
                <a:ea typeface="Malgun Gothic" pitchFamily="34" charset="-122"/>
                <a:cs typeface="Malgun Gothic" pitchFamily="34" charset="-120"/>
              </a:rPr>
              <a:t xml:space="preserve">다만 2026년 10월 현재 ChatGPT·Gemini·Claude의 주력 모델은 대부분 추론 내장형 (GPT-4o는 2026년 2월 ChatGPT에서 퇴출)</a:t>
            </a:r>
            <a:endParaRPr lang="ko-KR" sz="1300" dirty="0"/>
          </a:p>
        </p:txBody>
      </p:sp>
      <p:sp>
        <p:nvSpPr>
          <p:cNvPr id="13" name="Shape 10"/>
          <p:cNvSpPr/>
          <p:nvPr/>
        </p:nvSpPr>
        <p:spPr>
          <a:xfrm>
            <a:off x="8141208" y="1572768"/>
            <a:ext cx="3544824" cy="3383280"/>
          </a:xfrm>
          <a:prstGeom prst="roundRect">
            <a:avLst>
              <a:gd name="adj" fmla="val 1161"/>
            </a:avLst>
          </a:prstGeom>
          <a:solidFill>
            <a:srgbClr val="232016"/>
          </a:solidFill>
          <a:ln w="12700">
            <a:solidFill>
              <a:srgbClr val="4A4430"/>
            </a:solidFill>
            <a:prstDash val="solid"/>
          </a:ln>
        </p:spPr>
      </p:sp>
      <p:sp>
        <p:nvSpPr>
          <p:cNvPr id="14" name="Text 11"/>
          <p:cNvSpPr txBox="1"/>
          <p:nvPr/>
        </p:nvSpPr>
        <p:spPr>
          <a:xfrm>
            <a:off x="8342376" y="1737360"/>
            <a:ext cx="3142488" cy="384048"/>
          </a:xfrm>
          <a:prstGeom prst="rect">
            <a:avLst/>
          </a:prstGeom>
          <a:noFill/>
          <a:ln/>
        </p:spPr>
        <p:txBody>
          <a:bodyPr wrap="square" lIns="0" tIns="0" rIns="0" bIns="0" rtlCol="0" anchor="ctr"/>
          <a:lstStyle/>
          <a:p>
            <a:pPr marL="0" indent="0">
              <a:buNone/>
            </a:pPr>
            <a:r>
              <a:rPr lang="en-US" sz="1550" b="1" dirty="0">
                <a:solidFill>
                  <a:srgbClr val="FFFFFF"/>
                </a:solidFill>
                <a:latin typeface="Malgun Gothic" pitchFamily="34" charset="0"/>
                <a:ea typeface="Malgun Gothic" pitchFamily="34" charset="-122"/>
                <a:cs typeface="Malgun Gothic" pitchFamily="34" charset="-120"/>
              </a:rPr>
              <a:t>단순 사실 질문</a:t>
            </a:r>
            <a:endParaRPr lang="en-US" sz="1550" dirty="0"/>
          </a:p>
        </p:txBody>
      </p:sp>
      <p:sp>
        <p:nvSpPr>
          <p:cNvPr id="15" name="Text 12"/>
          <p:cNvSpPr txBox="1"/>
          <p:nvPr/>
        </p:nvSpPr>
        <p:spPr>
          <a:xfrm>
            <a:off x="8342376" y="2157984"/>
            <a:ext cx="3142488" cy="365760"/>
          </a:xfrm>
          <a:prstGeom prst="rect">
            <a:avLst/>
          </a:prstGeom>
          <a:noFill/>
          <a:ln/>
        </p:spPr>
        <p:txBody>
          <a:bodyPr wrap="square" lIns="0" tIns="0" rIns="0" bIns="0" rtlCol="0" anchor="ctr"/>
          <a:lstStyle/>
          <a:p>
            <a:pPr marL="0" indent="0">
              <a:buNone/>
            </a:pPr>
            <a:r>
              <a:rPr lang="en-US" sz="1400" b="1" dirty="0">
                <a:solidFill>
                  <a:srgbClr val="FF9B8A"/>
                </a:solidFill>
                <a:latin typeface="Malgun Gothic" pitchFamily="34" charset="0"/>
                <a:ea typeface="Malgun Gothic" pitchFamily="34" charset="-122"/>
                <a:cs typeface="Malgun Gothic" pitchFamily="34" charset="-120"/>
              </a:rPr>
              <a:t>→ CoT 제외</a:t>
            </a:r>
            <a:endParaRPr lang="en-US" sz="1400" dirty="0"/>
          </a:p>
        </p:txBody>
      </p:sp>
      <p:sp>
        <p:nvSpPr>
          <p:cNvPr id="16" name="Text 13"/>
          <p:cNvSpPr txBox="1"/>
          <p:nvPr/>
        </p:nvSpPr>
        <p:spPr>
          <a:xfrm>
            <a:off x="8342376" y="2651760"/>
            <a:ext cx="3142488" cy="2240280"/>
          </a:xfrm>
          <a:prstGeom prst="rect">
            <a:avLst/>
          </a:prstGeom>
          <a:noFill/>
          <a:ln/>
        </p:spPr>
        <p:txBody>
          <a:bodyPr wrap="square" lIns="0" tIns="0" rIns="0" bIns="0" rtlCol="0" anchor="t"/>
          <a:lstStyle/>
          <a:p>
            <a:pPr marL="0" indent="0">
              <a:lnSpc>
                <a:spcPct val="122000"/>
              </a:lnSpc>
              <a:spcAft>
                <a:spcPts val="800"/>
              </a:spcAft>
              <a:buNone/>
            </a:pPr>
            <a:r>
              <a:rPr lang="ko-KR" sz="1300" dirty="0">
                <a:solidFill>
                  <a:srgbClr val="F5F1E4"/>
                </a:solidFill>
                <a:latin typeface="Malgun Gothic" pitchFamily="34" charset="0"/>
                <a:ea typeface="Malgun Gothic" pitchFamily="34" charset="-122"/>
                <a:cs typeface="Malgun Gothic" pitchFamily="34" charset="-120"/>
              </a:rPr>
              <a:t xml:space="preserve">변동성을 키워 그냥 물으면 맞힐 것도 틀릴 수 있음</a:t>
            </a:r>
            <a:endParaRPr lang="ko-KR" sz="1300" dirty="0"/>
          </a:p>
          <a:p>
            <a:pPr marL="0" indent="0">
              <a:lnSpc>
                <a:spcPct val="122000"/>
              </a:lnSpc>
              <a:spcAft>
                <a:spcPts val="800"/>
              </a:spcAft>
              <a:buNone/>
            </a:pPr>
            <a:r>
              <a:rPr lang="ko-KR" sz="1300" dirty="0">
                <a:solidFill>
                  <a:srgbClr val="F5F1E4"/>
                </a:solidFill>
                <a:latin typeface="Malgun Gothic" pitchFamily="34" charset="0"/>
                <a:ea typeface="Malgun Gothic" pitchFamily="34" charset="-122"/>
                <a:cs typeface="Malgun Gothic" pitchFamily="34" charset="-120"/>
              </a:rPr>
              <a:t xml:space="preserve">추론 모델도 단순 조회엔 깊은 생각이 불필요 — Google 공식 가이드도 사실 조회엔 낮은 추론 강도를 권장</a:t>
            </a:r>
            <a:endParaRPr lang="ko-KR" sz="1300" dirty="0"/>
          </a:p>
        </p:txBody>
      </p:sp>
      <p:sp>
        <p:nvSpPr>
          <p:cNvPr id="17" name="Shape 14"/>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8" name="Text 15"/>
          <p:cNvSpPr txBox="1"/>
          <p:nvPr/>
        </p:nvSpPr>
        <p:spPr>
          <a:xfrm>
            <a:off x="758952" y="5779008"/>
            <a:ext cx="10671048" cy="566928"/>
          </a:xfrm>
          <a:prstGeom prst="rect">
            <a:avLst/>
          </a:prstGeom>
          <a:noFill/>
          <a:ln/>
        </p:spPr>
        <p:txBody>
          <a:bodyPr wrap="square" lIns="0" tIns="0" rIns="0" bIns="0" rtlCol="0" anchor="ctr"/>
          <a:lstStyle/>
          <a:p>
            <a:pPr marL="0" indent="0">
              <a:buNone/>
            </a:pPr>
            <a:r>
              <a:rPr lang="ko-KR" sz="1350" b="1" dirty="0">
                <a:solidFill>
                  <a:srgbClr val="FFDF57"/>
                </a:solidFill>
                <a:latin typeface="Malgun Gothic" pitchFamily="34" charset="0"/>
                <a:ea typeface="Malgun Gothic" pitchFamily="34" charset="-122"/>
                <a:cs typeface="Malgun Gothic" pitchFamily="34" charset="-120"/>
              </a:rPr>
              <a:t xml:space="preserve">모델이 복잡한 문제에서 엉뚱한 답을 낼 때만, 원인을 찾는 용도로 CoT 추가</a:t>
            </a:r>
            <a:endParaRPr lang="ko-KR" sz="1350" dirty="0"/>
          </a:p>
        </p:txBody>
      </p:sp>
      <p:sp>
        <p:nvSpPr>
          <p:cNvPr id="19" name="Guide bar"/>
          <p:cNvSpPr/>
          <p:nvPr/>
        </p:nvSpPr>
        <p:spPr>
          <a:xfrm>
            <a:off x="502920" y="5074920"/>
            <a:ext cx="11183112" cy="566928"/>
          </a:xfrm>
          <a:prstGeom prst="roundRect">
            <a:avLst>
              <a:gd name="adj" fmla="val 1589"/>
            </a:avLst>
          </a:prstGeom>
          <a:solidFill>
            <a:srgbClr val="2B2719"/>
          </a:solidFill>
          <a:ln w="12700">
            <a:solidFill>
              <a:srgbClr val="4A4430"/>
            </a:solidFill>
            <a:prstDash val="solid"/>
          </a:ln>
        </p:spPr>
      </p:sp>
      <p:sp>
        <p:nvSpPr>
          <p:cNvPr id="20" name="Guide bar text"/>
          <p:cNvSpPr txBox="1"/>
          <p:nvPr/>
        </p:nvSpPr>
        <p:spPr>
          <a:xfrm>
            <a:off x="758952" y="5074920"/>
            <a:ext cx="10671048" cy="566928"/>
          </a:xfrm>
          <a:prstGeom prst="rect">
            <a:avLst/>
          </a:prstGeom>
          <a:noFill/>
          <a:ln/>
        </p:spPr>
        <p:txBody>
          <a:bodyPr wrap="square" lIns="0" tIns="0" rIns="0" bIns="0" rtlCol="0" anchor="ctr"/>
          <a:lstStyle/>
          <a:p>
            <a:pPr marL="0" indent="0">
              <a:buNone/>
            </a:pPr>
            <a:r>
              <a:rPr lang="ko-KR" sz="1250" dirty="0">
                <a:solidFill>
                  <a:srgbClr val="F5F1E4"/>
                </a:solidFill>
                <a:latin typeface="Malgun Gothic" pitchFamily="34" charset="0"/>
                <a:ea typeface="Malgun Gothic" pitchFamily="34" charset="-122"/>
                <a:cs typeface="Malgun Gothic" pitchFamily="34" charset="-120"/>
              </a:rPr>
              <a:t xml:space="preserve">공식 가이드 공통 권고(OpenAI·Google·Anthropic): 지시는 짧고 직접적으로, 추론 과정을 답변에 쓰게 할 필요 없음</a:t>
            </a:r>
            <a:endParaRPr lang="ko-KR" sz="1250" dirty="0"/>
          </a:p>
          <a:p>
            <a:pPr marL="0" indent="0">
              <a:buNone/>
            </a:pPr>
            <a:r>
              <a:rPr lang="ko-KR" sz="1250" dirty="0">
                <a:solidFill>
                  <a:srgbClr val="F5F1E4"/>
                </a:solidFill>
                <a:latin typeface="Malgun Gothic" pitchFamily="34" charset="0"/>
                <a:ea typeface="Malgun Gothic" pitchFamily="34" charset="-122"/>
                <a:cs typeface="Malgun Gothic" pitchFamily="34" charset="-120"/>
              </a:rPr>
              <a:t xml:space="preserve">※ 앞 실습의 '인용 먼저' 3단계는 작업 순서를 정한 것이라 CoT(생각 과정을 쓰게 하는 요청)와 별개</a:t>
            </a:r>
            <a:endParaRPr lang="ko-KR"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en-US" sz="2100" b="1" dirty="0">
                <a:solidFill>
                  <a:srgbClr val="FFDF57"/>
                </a:solidFill>
                <a:latin typeface="Malgun Gothic" pitchFamily="34" charset="0"/>
                <a:ea typeface="Malgun Gothic" pitchFamily="34" charset="-122"/>
                <a:cs typeface="Malgun Gothic" pitchFamily="34" charset="-120"/>
              </a:rPr>
              <a:t>4 역할 — 환각 감소 효과 자체는 제한적인 보조 수단</a:t>
            </a:r>
            <a:endParaRPr lang="en-US"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ko-KR" sz="1350" dirty="0">
                <a:solidFill>
                  <a:srgbClr val="F5F1E4"/>
                </a:solidFill>
                <a:latin typeface="Malgun Gothic" pitchFamily="34" charset="0"/>
                <a:ea typeface="Malgun Gothic" pitchFamily="34" charset="-122"/>
                <a:cs typeface="Malgun Gothic" pitchFamily="34" charset="-120"/>
              </a:rPr>
              <a:t xml:space="preserve">'너는 전문가야'가 만능처럼 알려졌으나 아님 — 전문가 역할을 줘도 정답률은 일관되게 오르지 않음 (Wharton, 2025.12)</a:t>
            </a:r>
            <a:endParaRPr lang="ko-KR" sz="1350" dirty="0"/>
          </a:p>
        </p:txBody>
      </p:sp>
      <p:sp>
        <p:nvSpPr>
          <p:cNvPr id="5" name="Text 2"/>
          <p:cNvSpPr txBox="1"/>
          <p:nvPr/>
        </p:nvSpPr>
        <p:spPr>
          <a:xfrm>
            <a:off x="502920" y="1517904"/>
            <a:ext cx="11183112" cy="365760"/>
          </a:xfrm>
          <a:prstGeom prst="rect">
            <a:avLst/>
          </a:prstGeom>
          <a:noFill/>
          <a:ln/>
        </p:spPr>
        <p:txBody>
          <a:bodyPr wrap="square" lIns="0" tIns="0" rIns="0" bIns="0" rtlCol="0" anchor="ctr"/>
          <a:lstStyle/>
          <a:p>
            <a:pPr marL="0" indent="0">
              <a:buNone/>
            </a:pPr>
            <a:r>
              <a:rPr lang="ko-KR" sz="1400" b="1" dirty="0">
                <a:solidFill>
                  <a:srgbClr val="FFD733"/>
                </a:solidFill>
                <a:latin typeface="Malgun Gothic" pitchFamily="34" charset="0"/>
                <a:ea typeface="Malgun Gothic" pitchFamily="34" charset="-122"/>
                <a:cs typeface="Malgun Gothic" pitchFamily="34" charset="-120"/>
              </a:rPr>
              <a:t xml:space="preserve">환각 감소 우선순위</a:t>
            </a:r>
            <a:endParaRPr lang="ko-KR" sz="1400" dirty="0"/>
          </a:p>
        </p:txBody>
      </p:sp>
      <p:sp>
        <p:nvSpPr>
          <p:cNvPr id="6" name="Shape 3"/>
          <p:cNvSpPr/>
          <p:nvPr/>
        </p:nvSpPr>
        <p:spPr>
          <a:xfrm>
            <a:off x="502920" y="1956816"/>
            <a:ext cx="2281428" cy="658368"/>
          </a:xfrm>
          <a:prstGeom prst="roundRect">
            <a:avLst>
              <a:gd name="adj" fmla="val 6250"/>
            </a:avLst>
          </a:prstGeom>
          <a:solidFill>
            <a:srgbClr val="2B2719"/>
          </a:solidFill>
          <a:ln w="12700">
            <a:solidFill>
              <a:srgbClr val="FFD733"/>
            </a:solidFill>
            <a:prstDash val="solid"/>
          </a:ln>
        </p:spPr>
      </p:sp>
      <p:sp>
        <p:nvSpPr>
          <p:cNvPr id="7" name="Text 4"/>
          <p:cNvSpPr txBox="1"/>
          <p:nvPr/>
        </p:nvSpPr>
        <p:spPr>
          <a:xfrm>
            <a:off x="502920" y="1956816"/>
            <a:ext cx="2281428" cy="658368"/>
          </a:xfrm>
          <a:prstGeom prst="rect">
            <a:avLst/>
          </a:prstGeom>
          <a:noFill/>
          <a:ln/>
        </p:spPr>
        <p:txBody>
          <a:bodyPr wrap="square" lIns="0" tIns="0" rIns="0" bIns="0" rtlCol="0" anchor="ctr"/>
          <a:lstStyle/>
          <a:p>
            <a:pPr marL="0" indent="0" algn="ctr">
              <a:buNone/>
            </a:pPr>
            <a:r>
              <a:rPr lang="en-US" sz="1350" b="1" dirty="0">
                <a:solidFill>
                  <a:srgbClr val="FFDF57"/>
                </a:solidFill>
                <a:latin typeface="Malgun Gothic" pitchFamily="34" charset="0"/>
                <a:ea typeface="Malgun Gothic" pitchFamily="34" charset="-122"/>
                <a:cs typeface="Malgun Gothic" pitchFamily="34" charset="-120"/>
              </a:rPr>
              <a:t>근거</a:t>
            </a:r>
            <a:endParaRPr lang="en-US" sz="1350" dirty="0"/>
          </a:p>
        </p:txBody>
      </p:sp>
      <p:sp>
        <p:nvSpPr>
          <p:cNvPr id="8" name="Text 5"/>
          <p:cNvSpPr txBox="1"/>
          <p:nvPr/>
        </p:nvSpPr>
        <p:spPr>
          <a:xfrm>
            <a:off x="2875788" y="1956816"/>
            <a:ext cx="502920" cy="658368"/>
          </a:xfrm>
          <a:prstGeom prst="rect">
            <a:avLst/>
          </a:prstGeom>
          <a:noFill/>
          <a:ln/>
        </p:spPr>
        <p:txBody>
          <a:bodyPr wrap="square" lIns="0" tIns="0" rIns="0" bIns="0" rtlCol="0" anchor="ctr"/>
          <a:lstStyle/>
          <a:p>
            <a:pPr marL="0" indent="0" algn="ctr">
              <a:buNone/>
            </a:pPr>
            <a:r>
              <a:rPr lang="en-US" sz="2200" b="1" dirty="0">
                <a:solidFill>
                  <a:srgbClr val="D4CEC0"/>
                </a:solidFill>
                <a:latin typeface="Malgun Gothic" pitchFamily="34" charset="0"/>
                <a:ea typeface="Malgun Gothic" pitchFamily="34" charset="-122"/>
                <a:cs typeface="Malgun Gothic" pitchFamily="34" charset="-120"/>
              </a:rPr>
              <a:t>›</a:t>
            </a:r>
            <a:endParaRPr lang="en-US" sz="2200" dirty="0"/>
          </a:p>
        </p:txBody>
      </p:sp>
      <p:sp>
        <p:nvSpPr>
          <p:cNvPr id="9" name="Shape 6"/>
          <p:cNvSpPr/>
          <p:nvPr/>
        </p:nvSpPr>
        <p:spPr>
          <a:xfrm>
            <a:off x="3470148" y="1956816"/>
            <a:ext cx="2281428" cy="658368"/>
          </a:xfrm>
          <a:prstGeom prst="roundRect">
            <a:avLst>
              <a:gd name="adj" fmla="val 6250"/>
            </a:avLst>
          </a:prstGeom>
          <a:solidFill>
            <a:srgbClr val="2B2719"/>
          </a:solidFill>
          <a:ln w="12700">
            <a:solidFill>
              <a:srgbClr val="FFD733"/>
            </a:solidFill>
            <a:prstDash val="solid"/>
          </a:ln>
        </p:spPr>
      </p:sp>
      <p:sp>
        <p:nvSpPr>
          <p:cNvPr id="10" name="Text 7"/>
          <p:cNvSpPr txBox="1"/>
          <p:nvPr/>
        </p:nvSpPr>
        <p:spPr>
          <a:xfrm>
            <a:off x="3470148" y="1956816"/>
            <a:ext cx="2281428" cy="658368"/>
          </a:xfrm>
          <a:prstGeom prst="rect">
            <a:avLst/>
          </a:prstGeom>
          <a:noFill/>
          <a:ln/>
        </p:spPr>
        <p:txBody>
          <a:bodyPr wrap="square" lIns="0" tIns="0" rIns="0" bIns="0" rtlCol="0" anchor="ctr"/>
          <a:lstStyle/>
          <a:p>
            <a:pPr marL="0" indent="0" algn="ctr">
              <a:buNone/>
            </a:pPr>
            <a:r>
              <a:rPr lang="en-US" sz="1350" b="1" dirty="0">
                <a:solidFill>
                  <a:srgbClr val="FFDF57"/>
                </a:solidFill>
                <a:latin typeface="Malgun Gothic" pitchFamily="34" charset="0"/>
                <a:ea typeface="Malgun Gothic" pitchFamily="34" charset="-122"/>
                <a:cs typeface="Malgun Gothic" pitchFamily="34" charset="-120"/>
              </a:rPr>
              <a:t>'모른다' 허용(검증)</a:t>
            </a:r>
            <a:endParaRPr lang="en-US" sz="1350" dirty="0"/>
          </a:p>
        </p:txBody>
      </p:sp>
      <p:sp>
        <p:nvSpPr>
          <p:cNvPr id="11" name="Text 8"/>
          <p:cNvSpPr txBox="1"/>
          <p:nvPr/>
        </p:nvSpPr>
        <p:spPr>
          <a:xfrm>
            <a:off x="5843016" y="1956816"/>
            <a:ext cx="502920" cy="658368"/>
          </a:xfrm>
          <a:prstGeom prst="rect">
            <a:avLst/>
          </a:prstGeom>
          <a:noFill/>
          <a:ln/>
        </p:spPr>
        <p:txBody>
          <a:bodyPr wrap="square" lIns="0" tIns="0" rIns="0" bIns="0" rtlCol="0" anchor="ctr"/>
          <a:lstStyle/>
          <a:p>
            <a:pPr marL="0" indent="0" algn="ctr">
              <a:buNone/>
            </a:pPr>
            <a:r>
              <a:rPr lang="en-US" sz="2200" b="1" dirty="0">
                <a:solidFill>
                  <a:srgbClr val="D4CEC0"/>
                </a:solidFill>
                <a:latin typeface="Malgun Gothic" pitchFamily="34" charset="0"/>
                <a:ea typeface="Malgun Gothic" pitchFamily="34" charset="-122"/>
                <a:cs typeface="Malgun Gothic" pitchFamily="34" charset="-120"/>
              </a:rPr>
              <a:t>›</a:t>
            </a:r>
            <a:endParaRPr lang="en-US" sz="2200" dirty="0"/>
          </a:p>
        </p:txBody>
      </p:sp>
      <p:sp>
        <p:nvSpPr>
          <p:cNvPr id="12" name="Shape 9"/>
          <p:cNvSpPr/>
          <p:nvPr/>
        </p:nvSpPr>
        <p:spPr>
          <a:xfrm>
            <a:off x="6437376" y="1956816"/>
            <a:ext cx="2281428" cy="658368"/>
          </a:xfrm>
          <a:prstGeom prst="roundRect">
            <a:avLst>
              <a:gd name="adj" fmla="val 6250"/>
            </a:avLst>
          </a:prstGeom>
          <a:solidFill>
            <a:srgbClr val="232016"/>
          </a:solidFill>
          <a:ln w="12700">
            <a:solidFill>
              <a:srgbClr val="4A4430"/>
            </a:solidFill>
            <a:prstDash val="solid"/>
          </a:ln>
        </p:spPr>
      </p:sp>
      <p:sp>
        <p:nvSpPr>
          <p:cNvPr id="13" name="Text 10"/>
          <p:cNvSpPr txBox="1"/>
          <p:nvPr/>
        </p:nvSpPr>
        <p:spPr>
          <a:xfrm>
            <a:off x="6437376" y="1956816"/>
            <a:ext cx="2281428" cy="658368"/>
          </a:xfrm>
          <a:prstGeom prst="rect">
            <a:avLst/>
          </a:prstGeom>
          <a:noFill/>
          <a:ln/>
        </p:spPr>
        <p:txBody>
          <a:bodyPr wrap="square" lIns="0" tIns="0" rIns="0" bIns="0" rtlCol="0" anchor="ctr"/>
          <a:lstStyle/>
          <a:p>
            <a:pPr marL="0" indent="0" algn="ctr">
              <a:buNone/>
            </a:pPr>
            <a:r>
              <a:rPr lang="en-US" sz="1350" b="1" dirty="0">
                <a:solidFill>
                  <a:srgbClr val="F5F1E4"/>
                </a:solidFill>
                <a:latin typeface="Malgun Gothic" pitchFamily="34" charset="0"/>
                <a:ea typeface="Malgun Gothic" pitchFamily="34" charset="-122"/>
                <a:cs typeface="Malgun Gothic" pitchFamily="34" charset="-120"/>
              </a:rPr>
              <a:t>형식·단계</a:t>
            </a:r>
            <a:endParaRPr lang="en-US" sz="1350" dirty="0"/>
          </a:p>
        </p:txBody>
      </p:sp>
      <p:sp>
        <p:nvSpPr>
          <p:cNvPr id="14" name="Text 11"/>
          <p:cNvSpPr txBox="1"/>
          <p:nvPr/>
        </p:nvSpPr>
        <p:spPr>
          <a:xfrm>
            <a:off x="8810244" y="1956816"/>
            <a:ext cx="502920" cy="658368"/>
          </a:xfrm>
          <a:prstGeom prst="rect">
            <a:avLst/>
          </a:prstGeom>
          <a:noFill/>
          <a:ln/>
        </p:spPr>
        <p:txBody>
          <a:bodyPr wrap="square" lIns="0" tIns="0" rIns="0" bIns="0" rtlCol="0" anchor="ctr"/>
          <a:lstStyle/>
          <a:p>
            <a:pPr marL="0" indent="0" algn="ctr">
              <a:buNone/>
            </a:pPr>
            <a:r>
              <a:rPr lang="en-US" sz="2200" b="1" dirty="0">
                <a:solidFill>
                  <a:srgbClr val="D4CEC0"/>
                </a:solidFill>
                <a:latin typeface="Malgun Gothic" pitchFamily="34" charset="0"/>
                <a:ea typeface="Malgun Gothic" pitchFamily="34" charset="-122"/>
                <a:cs typeface="Malgun Gothic" pitchFamily="34" charset="-120"/>
              </a:rPr>
              <a:t>›</a:t>
            </a:r>
            <a:endParaRPr lang="en-US" sz="2200" dirty="0"/>
          </a:p>
        </p:txBody>
      </p:sp>
      <p:sp>
        <p:nvSpPr>
          <p:cNvPr id="15" name="Shape 12"/>
          <p:cNvSpPr/>
          <p:nvPr/>
        </p:nvSpPr>
        <p:spPr>
          <a:xfrm>
            <a:off x="9404604" y="1956816"/>
            <a:ext cx="2281428" cy="658368"/>
          </a:xfrm>
          <a:prstGeom prst="roundRect">
            <a:avLst>
              <a:gd name="adj" fmla="val 6250"/>
            </a:avLst>
          </a:prstGeom>
          <a:solidFill>
            <a:srgbClr val="232016"/>
          </a:solidFill>
          <a:ln w="12700">
            <a:solidFill>
              <a:srgbClr val="4A4430"/>
            </a:solidFill>
            <a:prstDash val="solid"/>
          </a:ln>
        </p:spPr>
      </p:sp>
      <p:sp>
        <p:nvSpPr>
          <p:cNvPr id="16" name="Text 13"/>
          <p:cNvSpPr txBox="1"/>
          <p:nvPr/>
        </p:nvSpPr>
        <p:spPr>
          <a:xfrm>
            <a:off x="9404604" y="1956816"/>
            <a:ext cx="2281428" cy="658368"/>
          </a:xfrm>
          <a:prstGeom prst="rect">
            <a:avLst/>
          </a:prstGeom>
          <a:noFill/>
          <a:ln/>
        </p:spPr>
        <p:txBody>
          <a:bodyPr wrap="square" lIns="0" tIns="0" rIns="0" bIns="0" rtlCol="0" anchor="ctr"/>
          <a:lstStyle/>
          <a:p>
            <a:pPr marL="0" indent="0" algn="ctr">
              <a:buNone/>
            </a:pPr>
            <a:r>
              <a:rPr lang="en-US" sz="1350" b="1" dirty="0">
                <a:solidFill>
                  <a:srgbClr val="F5F1E4"/>
                </a:solidFill>
                <a:latin typeface="Malgun Gothic" pitchFamily="34" charset="0"/>
                <a:ea typeface="Malgun Gothic" pitchFamily="34" charset="-122"/>
                <a:cs typeface="Malgun Gothic" pitchFamily="34" charset="-120"/>
              </a:rPr>
              <a:t>역할 (보조)</a:t>
            </a:r>
            <a:endParaRPr lang="en-US" sz="1350" dirty="0"/>
          </a:p>
        </p:txBody>
      </p:sp>
      <p:sp>
        <p:nvSpPr>
          <p:cNvPr id="17" name="Shape 14"/>
          <p:cNvSpPr/>
          <p:nvPr/>
        </p:nvSpPr>
        <p:spPr>
          <a:xfrm>
            <a:off x="502920" y="3017520"/>
            <a:ext cx="11183112" cy="2514600"/>
          </a:xfrm>
          <a:prstGeom prst="roundRect">
            <a:avLst>
              <a:gd name="adj" fmla="val 1636"/>
            </a:avLst>
          </a:prstGeom>
          <a:solidFill>
            <a:srgbClr val="232016"/>
          </a:solidFill>
          <a:ln w="12700">
            <a:solidFill>
              <a:srgbClr val="4A4430"/>
            </a:solidFill>
            <a:prstDash val="solid"/>
          </a:ln>
        </p:spPr>
      </p:sp>
      <p:sp>
        <p:nvSpPr>
          <p:cNvPr id="18" name="Text 15"/>
          <p:cNvSpPr txBox="1"/>
          <p:nvPr/>
        </p:nvSpPr>
        <p:spPr>
          <a:xfrm>
            <a:off x="758952" y="3310128"/>
            <a:ext cx="10671048" cy="457200"/>
          </a:xfrm>
          <a:prstGeom prst="rect">
            <a:avLst/>
          </a:prstGeom>
          <a:noFill/>
          <a:ln/>
        </p:spPr>
        <p:txBody>
          <a:bodyPr wrap="square" lIns="0" tIns="0" rIns="0" bIns="0" rtlCol="0" anchor="ctr"/>
          <a:lstStyle/>
          <a:p>
            <a:pPr marL="0" indent="0">
              <a:buNone/>
            </a:pPr>
            <a:r>
              <a:rPr lang="en-US" sz="1450" b="1" dirty="0">
                <a:solidFill>
                  <a:srgbClr val="FFFFFF"/>
                </a:solidFill>
                <a:latin typeface="Malgun Gothic" pitchFamily="34" charset="0"/>
                <a:ea typeface="Malgun Gothic" pitchFamily="34" charset="-122"/>
                <a:cs typeface="Malgun Gothic" pitchFamily="34" charset="-120"/>
              </a:rPr>
              <a:t>그럼 쓸모가 없나?  아니다.  </a:t>
            </a:r>
            <a:r>
              <a:rPr lang="en-US" sz="1450" dirty="0">
                <a:solidFill>
                  <a:srgbClr val="F5F1E4"/>
                </a:solidFill>
                <a:latin typeface="Malgun Gothic" pitchFamily="34" charset="0"/>
                <a:ea typeface="Malgun Gothic" pitchFamily="34" charset="-122"/>
                <a:cs typeface="Malgun Gothic" pitchFamily="34" charset="-120"/>
              </a:rPr>
              <a:t>역할은 어조·신중함·출력 형식을 잡는 데 도움.</a:t>
            </a:r>
            <a:endParaRPr lang="en-US" sz="1450" dirty="0"/>
          </a:p>
        </p:txBody>
      </p:sp>
      <p:sp>
        <p:nvSpPr>
          <p:cNvPr id="19" name="Text 16"/>
          <p:cNvSpPr txBox="1"/>
          <p:nvPr/>
        </p:nvSpPr>
        <p:spPr>
          <a:xfrm>
            <a:off x="758952" y="3977640"/>
            <a:ext cx="10671048" cy="1280160"/>
          </a:xfrm>
          <a:prstGeom prst="rect">
            <a:avLst/>
          </a:prstGeom>
          <a:noFill/>
          <a:ln/>
        </p:spPr>
        <p:txBody>
          <a:bodyPr wrap="square" lIns="0" tIns="0" rIns="0" bIns="0" rtlCol="0" anchor="t"/>
          <a:lstStyle/>
          <a:p>
            <a:pPr marL="0" indent="0">
              <a:lnSpc>
                <a:spcPct val="130000"/>
              </a:lnSpc>
              <a:spcAft>
                <a:spcPts val="800"/>
              </a:spcAft>
              <a:buNone/>
            </a:pPr>
            <a:r>
              <a:rPr lang="ko-KR" sz="1400" dirty="0">
                <a:solidFill>
                  <a:srgbClr val="F5F1E4"/>
                </a:solidFill>
                <a:latin typeface="Malgun Gothic" pitchFamily="34" charset="0"/>
                <a:ea typeface="Malgun Gothic" pitchFamily="34" charset="-122"/>
                <a:cs typeface="Malgun Gothic" pitchFamily="34" charset="-120"/>
              </a:rPr>
              <a:t xml:space="preserve">'당신은 신중한 KISTI 정책분석가입니다' → 답의 톤이 차분·신중해짐. 다만 역할 한 줄만 믿고 사실성을 기대하면 안 됨.</a:t>
            </a:r>
            <a:endParaRPr lang="ko-KR" sz="1400" dirty="0"/>
          </a:p>
          <a:p>
            <a:pPr marL="0" indent="0">
              <a:lnSpc>
                <a:spcPct val="130000"/>
              </a:lnSpc>
              <a:spcAft>
                <a:spcPts val="800"/>
              </a:spcAft>
              <a:buNone/>
            </a:pPr>
            <a:r>
              <a:rPr lang="ko-KR" sz="1400" dirty="0">
                <a:solidFill>
                  <a:srgbClr val="F5F1E4"/>
                </a:solidFill>
                <a:latin typeface="Malgun Gothic" pitchFamily="34" charset="0"/>
                <a:ea typeface="Malgun Gothic" pitchFamily="34" charset="-122"/>
                <a:cs typeface="Malgun Gothic" pitchFamily="34" charset="-120"/>
              </a:rPr>
              <a:t xml:space="preserve">주의: 역할을 지키느라 다른 지시를 무시하는 경우도 있음 (Google Gemini 공식 가이드) — 역할과 지시가 충돌하지 않게 작성</a:t>
            </a:r>
            <a:endParaRPr lang="ko-KR"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4요소를 한 프롬프트에 담은 템플릿</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ko-KR" sz="1350" dirty="0">
                <a:solidFill>
                  <a:srgbClr val="F5F1E4"/>
                </a:solidFill>
                <a:latin typeface="Malgun Gothic" pitchFamily="34" charset="0"/>
                <a:ea typeface="Malgun Gothic" pitchFamily="34" charset="-122"/>
                <a:cs typeface="Malgun Gothic" pitchFamily="34" charset="-120"/>
              </a:rPr>
              <a:t xml:space="preserve">작성 순서: 역할 → 근거 → 형식 → 검증 (효과 우선순위와는 별개)</a:t>
            </a:r>
            <a:endParaRPr lang="ko-KR" sz="1350" dirty="0"/>
          </a:p>
        </p:txBody>
      </p:sp>
      <p:sp>
        <p:nvSpPr>
          <p:cNvPr id="5" name="Text 2"/>
          <p:cNvSpPr txBox="1"/>
          <p:nvPr/>
        </p:nvSpPr>
        <p:spPr>
          <a:xfrm>
            <a:off x="502920" y="1463040"/>
            <a:ext cx="11183112" cy="365760"/>
          </a:xfrm>
          <a:prstGeom prst="rect">
            <a:avLst/>
          </a:prstGeom>
          <a:noFill/>
          <a:ln/>
        </p:spPr>
        <p:txBody>
          <a:bodyPr wrap="square" lIns="0" tIns="0" rIns="0" bIns="0" rtlCol="0" anchor="ctr"/>
          <a:lstStyle/>
          <a:p>
            <a:pPr marL="0" indent="0">
              <a:buNone/>
            </a:pPr>
            <a:r>
              <a:rPr lang="ko-KR" sz="1400" b="1" dirty="0">
                <a:solidFill>
                  <a:srgbClr val="FFD733"/>
                </a:solidFill>
                <a:latin typeface="Malgun Gothic" pitchFamily="34" charset="0"/>
                <a:ea typeface="Malgun Gothic" pitchFamily="34" charset="-122"/>
                <a:cs typeface="Malgun Gothic" pitchFamily="34" charset="-120"/>
              </a:rPr>
              <a:t xml:space="preserve">마스터 템플릿 — 4요소를 한 번에</a:t>
            </a:r>
            <a:endParaRPr lang="ko-KR" sz="1400" dirty="0"/>
          </a:p>
        </p:txBody>
      </p:sp>
      <p:sp>
        <p:nvSpPr>
          <p:cNvPr id="6" name="Shape 3"/>
          <p:cNvSpPr/>
          <p:nvPr/>
        </p:nvSpPr>
        <p:spPr>
          <a:xfrm>
            <a:off x="502920" y="1874520"/>
            <a:ext cx="11183112" cy="3246120"/>
          </a:xfrm>
          <a:prstGeom prst="roundRect">
            <a:avLst>
              <a:gd name="adj" fmla="val 1268"/>
            </a:avLst>
          </a:prstGeom>
          <a:solidFill>
            <a:srgbClr val="1A1810"/>
          </a:solidFill>
          <a:ln w="19050">
            <a:solidFill>
              <a:srgbClr val="FFD733"/>
            </a:solidFill>
            <a:prstDash val="solid"/>
          </a:ln>
        </p:spPr>
      </p:sp>
      <p:sp>
        <p:nvSpPr>
          <p:cNvPr id="7" name="Text 4"/>
          <p:cNvSpPr txBox="1"/>
          <p:nvPr/>
        </p:nvSpPr>
        <p:spPr>
          <a:xfrm>
            <a:off x="795528" y="2057400"/>
            <a:ext cx="10597896" cy="2880360"/>
          </a:xfrm>
          <a:prstGeom prst="rect">
            <a:avLst/>
          </a:prstGeom>
          <a:noFill/>
          <a:ln/>
        </p:spPr>
        <p:txBody>
          <a:bodyPr wrap="square" lIns="0" tIns="0" rIns="0" bIns="0" rtlCol="0" anchor="t"/>
          <a:lstStyle/>
          <a:p>
            <a:pPr marL="0" indent="0">
              <a:lnSpc>
                <a:spcPct val="150000"/>
              </a:lnSpc>
              <a:buNone/>
            </a:pPr>
            <a:r>
              <a:rPr lang="en-US" sz="1400" b="1" dirty="0">
                <a:solidFill>
                  <a:srgbClr val="FFD733"/>
                </a:solidFill>
                <a:latin typeface="Malgun Gothic" pitchFamily="34" charset="0"/>
                <a:ea typeface="Malgun Gothic" pitchFamily="34" charset="-122"/>
                <a:cs typeface="Malgun Gothic" pitchFamily="34" charset="-120"/>
              </a:rPr>
              <a:t>[역할]  </a:t>
            </a:r>
            <a:r>
              <a:rPr lang="en-US" sz="1400" dirty="0">
                <a:solidFill>
                  <a:srgbClr val="F5F1E4"/>
                </a:solidFill>
                <a:latin typeface="Malgun Gothic" pitchFamily="34" charset="0"/>
                <a:ea typeface="Malgun Gothic" pitchFamily="34" charset="-122"/>
                <a:cs typeface="Malgun Gothic" pitchFamily="34" charset="-120"/>
              </a:rPr>
              <a:t>당신은 신중한 KISTI 정책분석가입니다.
</a:t>
            </a:r>
            <a:r>
              <a:rPr lang="en-US" sz="1400" b="1" dirty="0">
                <a:solidFill>
                  <a:srgbClr val="FFD733"/>
                </a:solidFill>
                <a:latin typeface="Malgun Gothic" pitchFamily="34" charset="0"/>
                <a:ea typeface="Malgun Gothic" pitchFamily="34" charset="-122"/>
                <a:cs typeface="Malgun Gothic" pitchFamily="34" charset="-120"/>
              </a:rPr>
              <a:t>[근거]  </a:t>
            </a:r>
            <a:r>
              <a:rPr lang="en-US" sz="1400" dirty="0">
                <a:solidFill>
                  <a:srgbClr val="F5F1E4"/>
                </a:solidFill>
                <a:latin typeface="Malgun Gothic" pitchFamily="34" charset="0"/>
                <a:ea typeface="Malgun Gothic" pitchFamily="34" charset="-122"/>
                <a:cs typeface="Malgun Gothic" pitchFamily="34" charset="-120"/>
              </a:rPr>
              <a:t>아래 [자료]만 근거로 답하세요. 외부 지식은 쓰지 마세요.
</a:t>
            </a:r>
            <a:r>
              <a:rPr lang="en-US" sz="1400" b="1" dirty="0">
                <a:solidFill>
                  <a:srgbClr val="FFD733"/>
                </a:solidFill>
                <a:latin typeface="Malgun Gothic" pitchFamily="34" charset="0"/>
                <a:ea typeface="Malgun Gothic" pitchFamily="34" charset="-122"/>
                <a:cs typeface="Malgun Gothic" pitchFamily="34" charset="-120"/>
              </a:rPr>
              <a:t>[형식]  </a:t>
            </a:r>
            <a:r>
              <a:rPr lang="en-US" sz="1400" dirty="0">
                <a:solidFill>
                  <a:srgbClr val="F5F1E4"/>
                </a:solidFill>
                <a:latin typeface="Malgun Gothic" pitchFamily="34" charset="0"/>
                <a:ea typeface="Malgun Gothic" pitchFamily="34" charset="-122"/>
                <a:cs typeface="Malgun Gothic" pitchFamily="34" charset="-120"/>
              </a:rPr>
              <a:t>시사점 3가지를 번호목록으로, 각 2문장.
</a:t>
            </a:r>
            <a:r>
              <a:rPr lang="en-US" sz="1400" b="1" dirty="0">
                <a:solidFill>
                  <a:srgbClr val="FFD733"/>
                </a:solidFill>
                <a:latin typeface="Malgun Gothic" pitchFamily="34" charset="0"/>
                <a:ea typeface="Malgun Gothic" pitchFamily="34" charset="-122"/>
                <a:cs typeface="Malgun Gothic" pitchFamily="34" charset="-120"/>
              </a:rPr>
              <a:t>[검증]  </a:t>
            </a:r>
            <a:r>
              <a:rPr lang="en-US" sz="1400" dirty="0">
                <a:solidFill>
                  <a:srgbClr val="F5F1E4"/>
                </a:solidFill>
                <a:latin typeface="Malgun Gothic" pitchFamily="34" charset="0"/>
                <a:ea typeface="Malgun Gothic" pitchFamily="34" charset="-122"/>
                <a:cs typeface="Malgun Gothic" pitchFamily="34" charset="-120"/>
              </a:rPr>
              <a:t>각 항목 뒤에 근거 구절을 인용하고, 근거 없는 내용은 '자료에 없음', 확실하지 않으면 '확인 필요'로 표시.
</a:t>
            </a:r>
            <a:r>
              <a:rPr lang="en-US" sz="1400" b="1" dirty="0">
                <a:solidFill>
                  <a:srgbClr val="FFD733"/>
                </a:solidFill>
                <a:latin typeface="Malgun Gothic" pitchFamily="34" charset="0"/>
                <a:ea typeface="Malgun Gothic" pitchFamily="34" charset="-122"/>
                <a:cs typeface="Malgun Gothic" pitchFamily="34" charset="-120"/>
              </a:rPr>
              <a:t>[자료]  </a:t>
            </a:r>
            <a:r>
              <a:rPr lang="en-US" sz="1400" dirty="0">
                <a:solidFill>
                  <a:srgbClr val="F5F1E4"/>
                </a:solidFill>
                <a:latin typeface="Malgun Gothic" pitchFamily="34" charset="0"/>
                <a:ea typeface="Malgun Gothic" pitchFamily="34" charset="-122"/>
                <a:cs typeface="Malgun Gothic" pitchFamily="34" charset="-120"/>
              </a:rPr>
              <a:t>(여기에 문서를 붙여넣기)</a:t>
            </a:r>
            <a:endParaRPr lang="en-US" sz="1400" dirty="0"/>
          </a:p>
        </p:txBody>
      </p:sp>
      <p:sp>
        <p:nvSpPr>
          <p:cNvPr id="8" name="Shape 5"/>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9" name="Text 6"/>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이 골격을 업무별로 살짝 바꾸면 부록의 복사용 템플릿으로 확장</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8229600" y="1005840"/>
            <a:ext cx="3474720" cy="4754880"/>
          </a:xfrm>
          <a:prstGeom prst="rect">
            <a:avLst/>
          </a:prstGeom>
          <a:noFill/>
          <a:ln/>
        </p:spPr>
        <p:txBody>
          <a:bodyPr wrap="square" lIns="0" tIns="0" rIns="0" bIns="0" rtlCol="0" anchor="ctr"/>
          <a:lstStyle/>
          <a:p>
            <a:pPr marL="0" indent="0" algn="r">
              <a:buNone/>
            </a:pPr>
            <a:r>
              <a:rPr lang="en-US" sz="26000" b="1" dirty="0">
                <a:solidFill>
                  <a:srgbClr val="26221A"/>
                </a:solidFill>
                <a:latin typeface="Malgun Gothic" pitchFamily="34" charset="0"/>
                <a:ea typeface="Malgun Gothic" pitchFamily="34" charset="-122"/>
                <a:cs typeface="Malgun Gothic" pitchFamily="34" charset="-120"/>
              </a:rPr>
              <a:t>+</a:t>
            </a:r>
            <a:endParaRPr lang="en-US" sz="26000" dirty="0"/>
          </a:p>
        </p:txBody>
      </p:sp>
      <p:sp>
        <p:nvSpPr>
          <p:cNvPr id="3" name="Text 1"/>
          <p:cNvSpPr txBox="1"/>
          <p:nvPr/>
        </p:nvSpPr>
        <p:spPr>
          <a:xfrm>
            <a:off x="502920" y="2331720"/>
            <a:ext cx="8778240" cy="1554480"/>
          </a:xfrm>
          <a:prstGeom prst="rect">
            <a:avLst/>
          </a:prstGeom>
          <a:noFill/>
          <a:ln/>
        </p:spPr>
        <p:txBody>
          <a:bodyPr wrap="square" lIns="0" tIns="0" rIns="0" bIns="0" rtlCol="0" anchor="ctr"/>
          <a:lstStyle/>
          <a:p>
            <a:pPr marL="0" indent="0">
              <a:lnSpc>
                <a:spcPct val="115000"/>
              </a:lnSpc>
              <a:buNone/>
            </a:pPr>
            <a:r>
              <a:rPr lang="en-US" sz="3000" b="1" dirty="0">
                <a:solidFill>
                  <a:srgbClr val="FFFFFF"/>
                </a:solidFill>
                <a:latin typeface="Malgun Gothic" pitchFamily="34" charset="0"/>
                <a:ea typeface="Malgun Gothic" pitchFamily="34" charset="-122"/>
                <a:cs typeface="Malgun Gothic" pitchFamily="34" charset="-120"/>
              </a:rPr>
              <a:t>인터넷 팁,</a:t>
            </a:r>
            <a:endParaRPr lang="en-US" sz="3000" dirty="0"/>
          </a:p>
          <a:p>
            <a:pPr marL="0" indent="0">
              <a:lnSpc>
                <a:spcPct val="115000"/>
              </a:lnSpc>
              <a:buNone/>
            </a:pPr>
            <a:r>
              <a:rPr lang="en-US" sz="3000" b="1" dirty="0">
                <a:solidFill>
                  <a:srgbClr val="FFFFFF"/>
                </a:solidFill>
                <a:latin typeface="Malgun Gothic" pitchFamily="34" charset="0"/>
                <a:ea typeface="Malgun Gothic" pitchFamily="34" charset="-122"/>
                <a:cs typeface="Malgun Gothic" pitchFamily="34" charset="-120"/>
              </a:rPr>
              <a:t>진짜만 골라 쓴다</a:t>
            </a:r>
            <a:endParaRPr lang="en-US" sz="3000" dirty="0"/>
          </a:p>
        </p:txBody>
      </p:sp>
      <p:sp>
        <p:nvSpPr>
          <p:cNvPr id="4" name="Text 2"/>
          <p:cNvSpPr txBox="1"/>
          <p:nvPr/>
        </p:nvSpPr>
        <p:spPr>
          <a:xfrm>
            <a:off x="502920" y="3977640"/>
            <a:ext cx="8778240" cy="822960"/>
          </a:xfrm>
          <a:prstGeom prst="rect">
            <a:avLst/>
          </a:prstGeom>
          <a:noFill/>
          <a:ln/>
        </p:spPr>
        <p:txBody>
          <a:bodyPr wrap="square" lIns="0" tIns="0" rIns="0" bIns="0" rtlCol="0" anchor="t"/>
          <a:lstStyle/>
          <a:p>
            <a:pPr marL="0" indent="0">
              <a:lnSpc>
                <a:spcPct val="120000"/>
              </a:lnSpc>
              <a:buNone/>
            </a:pPr>
            <a:r>
              <a:rPr lang="en-US" sz="1400" dirty="0">
                <a:solidFill>
                  <a:srgbClr val="D4CEC0"/>
                </a:solidFill>
                <a:latin typeface="Malgun Gothic" pitchFamily="34" charset="0"/>
                <a:ea typeface="Malgun Gothic" pitchFamily="34" charset="-122"/>
                <a:cs typeface="Malgun Gothic" pitchFamily="34" charset="-120"/>
              </a:rPr>
              <a:t>화제가 된 환각 감소 팁을 동료심사·재현성으로 검증 — '인기 있다'와 '사실이다'는 다름</a:t>
            </a:r>
            <a:endParaRPr lang="en-US" sz="1400" dirty="0"/>
          </a:p>
        </p:txBody>
      </p:sp>
      <p:sp>
        <p:nvSpPr>
          <p:cNvPr id="5" name="Shape 3"/>
          <p:cNvSpPr/>
          <p:nvPr/>
        </p:nvSpPr>
        <p:spPr>
          <a:xfrm>
            <a:off x="502920" y="2057400"/>
            <a:ext cx="566928" cy="50292"/>
          </a:xfrm>
          <a:prstGeom prst="rect">
            <a:avLst/>
          </a:prstGeom>
          <a:solidFill>
            <a:srgbClr val="FFD733"/>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en-US" sz="2100" b="1" dirty="0">
                <a:solidFill>
                  <a:srgbClr val="FFDF57"/>
                </a:solidFill>
                <a:latin typeface="Malgun Gothic" pitchFamily="34" charset="0"/>
                <a:ea typeface="Malgun Gothic" pitchFamily="34" charset="-122"/>
                <a:cs typeface="Malgun Gothic" pitchFamily="34" charset="-120"/>
              </a:rPr>
              <a:t>인기 있다고 맞는 건 아님 — 검증된 팁만 소개</a:t>
            </a:r>
            <a:endParaRPr lang="en-US"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en-US" sz="1350" dirty="0">
                <a:solidFill>
                  <a:srgbClr val="F5F1E4"/>
                </a:solidFill>
                <a:latin typeface="Malgun Gothic" pitchFamily="34" charset="0"/>
                <a:ea typeface="Malgun Gothic" pitchFamily="34" charset="-122"/>
                <a:cs typeface="Malgun Gothic" pitchFamily="34" charset="-120"/>
              </a:rPr>
              <a:t>블로그·DEV·Reddit·뉴스레터의 인기 팁을 4가지 기준으로 채택/탈락</a:t>
            </a:r>
            <a:endParaRPr lang="en-US" sz="1350" dirty="0"/>
          </a:p>
        </p:txBody>
      </p:sp>
      <p:sp>
        <p:nvSpPr>
          <p:cNvPr id="5" name="Shape 2"/>
          <p:cNvSpPr/>
          <p:nvPr/>
        </p:nvSpPr>
        <p:spPr>
          <a:xfrm>
            <a:off x="502920" y="1600200"/>
            <a:ext cx="5408676" cy="1691640"/>
          </a:xfrm>
          <a:prstGeom prst="roundRect">
            <a:avLst>
              <a:gd name="adj" fmla="val 2432"/>
            </a:avLst>
          </a:prstGeom>
          <a:solidFill>
            <a:srgbClr val="232016"/>
          </a:solidFill>
          <a:ln w="12700">
            <a:solidFill>
              <a:srgbClr val="4A4430"/>
            </a:solidFill>
            <a:prstDash val="solid"/>
          </a:ln>
        </p:spPr>
      </p:sp>
      <p:sp>
        <p:nvSpPr>
          <p:cNvPr id="6" name="Text 3"/>
          <p:cNvSpPr txBox="1"/>
          <p:nvPr/>
        </p:nvSpPr>
        <p:spPr>
          <a:xfrm>
            <a:off x="740664" y="1783080"/>
            <a:ext cx="914400" cy="640080"/>
          </a:xfrm>
          <a:prstGeom prst="rect">
            <a:avLst/>
          </a:prstGeom>
          <a:noFill/>
          <a:ln/>
        </p:spPr>
        <p:txBody>
          <a:bodyPr wrap="square" lIns="0" tIns="0" rIns="0" bIns="0" rtlCol="0" anchor="ctr"/>
          <a:lstStyle/>
          <a:p>
            <a:pPr marL="0" indent="0">
              <a:buNone/>
            </a:pPr>
            <a:r>
              <a:rPr lang="en-US" sz="2600" b="1" dirty="0">
                <a:solidFill>
                  <a:srgbClr val="FFD733"/>
                </a:solidFill>
                <a:latin typeface="Malgun Gothic" pitchFamily="34" charset="0"/>
                <a:ea typeface="Malgun Gothic" pitchFamily="34" charset="-122"/>
                <a:cs typeface="Malgun Gothic" pitchFamily="34" charset="-120"/>
              </a:rPr>
              <a:t>01</a:t>
            </a:r>
            <a:endParaRPr lang="en-US" sz="2600" dirty="0"/>
          </a:p>
        </p:txBody>
      </p:sp>
      <p:sp>
        <p:nvSpPr>
          <p:cNvPr id="7" name="Text 4"/>
          <p:cNvSpPr txBox="1"/>
          <p:nvPr/>
        </p:nvSpPr>
        <p:spPr>
          <a:xfrm>
            <a:off x="740664" y="2468880"/>
            <a:ext cx="4933188" cy="685800"/>
          </a:xfrm>
          <a:prstGeom prst="rect">
            <a:avLst/>
          </a:prstGeom>
          <a:noFill/>
          <a:ln/>
        </p:spPr>
        <p:txBody>
          <a:bodyPr wrap="square" lIns="0" tIns="0" rIns="0" bIns="0" rtlCol="0" anchor="t"/>
          <a:lstStyle/>
          <a:p>
            <a:pPr marL="0" indent="0">
              <a:lnSpc>
                <a:spcPct val="120000"/>
              </a:lnSpc>
              <a:buNone/>
            </a:pPr>
            <a:r>
              <a:rPr lang="en-US" sz="1400" dirty="0">
                <a:solidFill>
                  <a:srgbClr val="F5F1E4"/>
                </a:solidFill>
                <a:latin typeface="Malgun Gothic" pitchFamily="34" charset="0"/>
                <a:ea typeface="Malgun Gothic" pitchFamily="34" charset="-122"/>
                <a:cs typeface="Malgun Gothic" pitchFamily="34" charset="-120"/>
              </a:rPr>
              <a:t>동료심사 논문·1차 연구로 근거 추적 가능</a:t>
            </a:r>
            <a:endParaRPr lang="en-US" sz="1400" dirty="0"/>
          </a:p>
        </p:txBody>
      </p:sp>
      <p:sp>
        <p:nvSpPr>
          <p:cNvPr id="8" name="Shape 5"/>
          <p:cNvSpPr/>
          <p:nvPr/>
        </p:nvSpPr>
        <p:spPr>
          <a:xfrm>
            <a:off x="6277356" y="1600200"/>
            <a:ext cx="5408676" cy="1691640"/>
          </a:xfrm>
          <a:prstGeom prst="roundRect">
            <a:avLst>
              <a:gd name="adj" fmla="val 2432"/>
            </a:avLst>
          </a:prstGeom>
          <a:solidFill>
            <a:srgbClr val="232016"/>
          </a:solidFill>
          <a:ln w="12700">
            <a:solidFill>
              <a:srgbClr val="4A4430"/>
            </a:solidFill>
            <a:prstDash val="solid"/>
          </a:ln>
        </p:spPr>
      </p:sp>
      <p:sp>
        <p:nvSpPr>
          <p:cNvPr id="9" name="Text 6"/>
          <p:cNvSpPr txBox="1"/>
          <p:nvPr/>
        </p:nvSpPr>
        <p:spPr>
          <a:xfrm>
            <a:off x="6515100" y="1783080"/>
            <a:ext cx="914400" cy="640080"/>
          </a:xfrm>
          <a:prstGeom prst="rect">
            <a:avLst/>
          </a:prstGeom>
          <a:noFill/>
          <a:ln/>
        </p:spPr>
        <p:txBody>
          <a:bodyPr wrap="square" lIns="0" tIns="0" rIns="0" bIns="0" rtlCol="0" anchor="ctr"/>
          <a:lstStyle/>
          <a:p>
            <a:pPr marL="0" indent="0">
              <a:buNone/>
            </a:pPr>
            <a:r>
              <a:rPr lang="en-US" sz="2600" b="1" dirty="0">
                <a:solidFill>
                  <a:srgbClr val="FFD733"/>
                </a:solidFill>
                <a:latin typeface="Malgun Gothic" pitchFamily="34" charset="0"/>
                <a:ea typeface="Malgun Gothic" pitchFamily="34" charset="-122"/>
                <a:cs typeface="Malgun Gothic" pitchFamily="34" charset="-120"/>
              </a:rPr>
              <a:t>02</a:t>
            </a:r>
            <a:endParaRPr lang="en-US" sz="2600" dirty="0"/>
          </a:p>
        </p:txBody>
      </p:sp>
      <p:sp>
        <p:nvSpPr>
          <p:cNvPr id="10" name="Text 7"/>
          <p:cNvSpPr txBox="1"/>
          <p:nvPr/>
        </p:nvSpPr>
        <p:spPr>
          <a:xfrm>
            <a:off x="6515100" y="2468880"/>
            <a:ext cx="4933188" cy="685800"/>
          </a:xfrm>
          <a:prstGeom prst="rect">
            <a:avLst/>
          </a:prstGeom>
          <a:noFill/>
          <a:ln/>
        </p:spPr>
        <p:txBody>
          <a:bodyPr wrap="square" lIns="0" tIns="0" rIns="0" bIns="0" rtlCol="0" anchor="t"/>
          <a:lstStyle/>
          <a:p>
            <a:pPr marL="0" indent="0">
              <a:lnSpc>
                <a:spcPct val="120000"/>
              </a:lnSpc>
              <a:buNone/>
            </a:pPr>
            <a:r>
              <a:rPr lang="en-US" sz="1400" dirty="0">
                <a:solidFill>
                  <a:srgbClr val="F5F1E4"/>
                </a:solidFill>
                <a:latin typeface="Malgun Gothic" pitchFamily="34" charset="0"/>
                <a:ea typeface="Malgun Gothic" pitchFamily="34" charset="-122"/>
                <a:cs typeface="Malgun Gothic" pitchFamily="34" charset="-120"/>
              </a:rPr>
              <a:t>구체적 벤치마크 수치로 효과가 측정됨</a:t>
            </a:r>
            <a:endParaRPr lang="en-US" sz="1400" dirty="0"/>
          </a:p>
        </p:txBody>
      </p:sp>
      <p:sp>
        <p:nvSpPr>
          <p:cNvPr id="11" name="Shape 8"/>
          <p:cNvSpPr/>
          <p:nvPr/>
        </p:nvSpPr>
        <p:spPr>
          <a:xfrm>
            <a:off x="502920" y="3566160"/>
            <a:ext cx="5408676" cy="1691640"/>
          </a:xfrm>
          <a:prstGeom prst="roundRect">
            <a:avLst>
              <a:gd name="adj" fmla="val 2432"/>
            </a:avLst>
          </a:prstGeom>
          <a:solidFill>
            <a:srgbClr val="232016"/>
          </a:solidFill>
          <a:ln w="12700">
            <a:solidFill>
              <a:srgbClr val="4A4430"/>
            </a:solidFill>
            <a:prstDash val="solid"/>
          </a:ln>
        </p:spPr>
      </p:sp>
      <p:sp>
        <p:nvSpPr>
          <p:cNvPr id="12" name="Text 9"/>
          <p:cNvSpPr txBox="1"/>
          <p:nvPr/>
        </p:nvSpPr>
        <p:spPr>
          <a:xfrm>
            <a:off x="740664" y="3749040"/>
            <a:ext cx="914400" cy="640080"/>
          </a:xfrm>
          <a:prstGeom prst="rect">
            <a:avLst/>
          </a:prstGeom>
          <a:noFill/>
          <a:ln/>
        </p:spPr>
        <p:txBody>
          <a:bodyPr wrap="square" lIns="0" tIns="0" rIns="0" bIns="0" rtlCol="0" anchor="ctr"/>
          <a:lstStyle/>
          <a:p>
            <a:pPr marL="0" indent="0">
              <a:buNone/>
            </a:pPr>
            <a:r>
              <a:rPr lang="en-US" sz="2600" b="1" dirty="0">
                <a:solidFill>
                  <a:srgbClr val="FFD733"/>
                </a:solidFill>
                <a:latin typeface="Malgun Gothic" pitchFamily="34" charset="0"/>
                <a:ea typeface="Malgun Gothic" pitchFamily="34" charset="-122"/>
                <a:cs typeface="Malgun Gothic" pitchFamily="34" charset="-120"/>
              </a:rPr>
              <a:t>03</a:t>
            </a:r>
            <a:endParaRPr lang="en-US" sz="2600" dirty="0"/>
          </a:p>
        </p:txBody>
      </p:sp>
      <p:sp>
        <p:nvSpPr>
          <p:cNvPr id="13" name="Text 10"/>
          <p:cNvSpPr txBox="1"/>
          <p:nvPr/>
        </p:nvSpPr>
        <p:spPr>
          <a:xfrm>
            <a:off x="740664" y="4434840"/>
            <a:ext cx="4933188" cy="685800"/>
          </a:xfrm>
          <a:prstGeom prst="rect">
            <a:avLst/>
          </a:prstGeom>
          <a:noFill/>
          <a:ln/>
        </p:spPr>
        <p:txBody>
          <a:bodyPr wrap="square" lIns="0" tIns="0" rIns="0" bIns="0" rtlCol="0" anchor="t"/>
          <a:lstStyle/>
          <a:p>
            <a:pPr marL="0" indent="0">
              <a:lnSpc>
                <a:spcPct val="120000"/>
              </a:lnSpc>
              <a:buNone/>
            </a:pPr>
            <a:r>
              <a:rPr lang="en-US" sz="1400" dirty="0">
                <a:solidFill>
                  <a:srgbClr val="F5F1E4"/>
                </a:solidFill>
                <a:latin typeface="Malgun Gothic" pitchFamily="34" charset="0"/>
                <a:ea typeface="Malgun Gothic" pitchFamily="34" charset="-122"/>
                <a:cs typeface="Malgun Gothic" pitchFamily="34" charset="-120"/>
              </a:rPr>
              <a:t>여러 독립 출처에서 일관되게 재현</a:t>
            </a:r>
            <a:endParaRPr lang="en-US" sz="1400" dirty="0"/>
          </a:p>
        </p:txBody>
      </p:sp>
      <p:sp>
        <p:nvSpPr>
          <p:cNvPr id="14" name="Shape 11"/>
          <p:cNvSpPr/>
          <p:nvPr/>
        </p:nvSpPr>
        <p:spPr>
          <a:xfrm>
            <a:off x="6277356" y="3566160"/>
            <a:ext cx="5408676" cy="1691640"/>
          </a:xfrm>
          <a:prstGeom prst="roundRect">
            <a:avLst>
              <a:gd name="adj" fmla="val 2432"/>
            </a:avLst>
          </a:prstGeom>
          <a:solidFill>
            <a:srgbClr val="232016"/>
          </a:solidFill>
          <a:ln w="12700">
            <a:solidFill>
              <a:srgbClr val="4A4430"/>
            </a:solidFill>
            <a:prstDash val="solid"/>
          </a:ln>
        </p:spPr>
      </p:sp>
      <p:sp>
        <p:nvSpPr>
          <p:cNvPr id="15" name="Text 12"/>
          <p:cNvSpPr txBox="1"/>
          <p:nvPr/>
        </p:nvSpPr>
        <p:spPr>
          <a:xfrm>
            <a:off x="6515100" y="3749040"/>
            <a:ext cx="914400" cy="640080"/>
          </a:xfrm>
          <a:prstGeom prst="rect">
            <a:avLst/>
          </a:prstGeom>
          <a:noFill/>
          <a:ln/>
        </p:spPr>
        <p:txBody>
          <a:bodyPr wrap="square" lIns="0" tIns="0" rIns="0" bIns="0" rtlCol="0" anchor="ctr"/>
          <a:lstStyle/>
          <a:p>
            <a:pPr marL="0" indent="0">
              <a:buNone/>
            </a:pPr>
            <a:r>
              <a:rPr lang="en-US" sz="2600" b="1" dirty="0">
                <a:solidFill>
                  <a:srgbClr val="FFD733"/>
                </a:solidFill>
                <a:latin typeface="Malgun Gothic" pitchFamily="34" charset="0"/>
                <a:ea typeface="Malgun Gothic" pitchFamily="34" charset="-122"/>
                <a:cs typeface="Malgun Gothic" pitchFamily="34" charset="-120"/>
              </a:rPr>
              <a:t>04</a:t>
            </a:r>
            <a:endParaRPr lang="en-US" sz="2600" dirty="0"/>
          </a:p>
        </p:txBody>
      </p:sp>
      <p:sp>
        <p:nvSpPr>
          <p:cNvPr id="16" name="Text 13"/>
          <p:cNvSpPr txBox="1"/>
          <p:nvPr/>
        </p:nvSpPr>
        <p:spPr>
          <a:xfrm>
            <a:off x="6515100" y="4434840"/>
            <a:ext cx="4933188" cy="685800"/>
          </a:xfrm>
          <a:prstGeom prst="rect">
            <a:avLst/>
          </a:prstGeom>
          <a:noFill/>
          <a:ln/>
        </p:spPr>
        <p:txBody>
          <a:bodyPr wrap="square" lIns="0" tIns="0" rIns="0" bIns="0" rtlCol="0" anchor="t"/>
          <a:lstStyle/>
          <a:p>
            <a:pPr marL="0" indent="0">
              <a:lnSpc>
                <a:spcPct val="120000"/>
              </a:lnSpc>
              <a:buNone/>
            </a:pPr>
            <a:r>
              <a:rPr lang="en-US" sz="1400" dirty="0">
                <a:solidFill>
                  <a:srgbClr val="F5F1E4"/>
                </a:solidFill>
                <a:latin typeface="Malgun Gothic" pitchFamily="34" charset="0"/>
                <a:ea typeface="Malgun Gothic" pitchFamily="34" charset="-122"/>
                <a:cs typeface="Malgun Gothic" pitchFamily="34" charset="-120"/>
              </a:rPr>
              <a:t>학습 원리로 '작동 이유'가 설명됨</a:t>
            </a:r>
            <a:endParaRPr lang="en-US" sz="1400" dirty="0"/>
          </a:p>
        </p:txBody>
      </p:sp>
      <p:sp>
        <p:nvSpPr>
          <p:cNvPr id="17" name="Shape 14"/>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8" name="Text 15"/>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채택 기준: 근거 추적 · 수치 측정 · 독립 재현 · 원리 설명</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en-US" sz="2100" b="1" dirty="0">
                <a:solidFill>
                  <a:srgbClr val="FFDF57"/>
                </a:solidFill>
                <a:latin typeface="Malgun Gothic" pitchFamily="34" charset="0"/>
                <a:ea typeface="Malgun Gothic" pitchFamily="34" charset="-122"/>
                <a:cs typeface="Malgun Gothic" pitchFamily="34" charset="-120"/>
              </a:rPr>
              <a:t>검증된 3가지 노하우</a:t>
            </a:r>
            <a:endParaRPr lang="en-US"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en-US" sz="1350" dirty="0">
                <a:solidFill>
                  <a:srgbClr val="F5F1E4"/>
                </a:solidFill>
                <a:latin typeface="Malgun Gothic" pitchFamily="34" charset="0"/>
                <a:ea typeface="Malgun Gothic" pitchFamily="34" charset="-122"/>
                <a:cs typeface="Malgun Gothic" pitchFamily="34" charset="-120"/>
              </a:rPr>
              <a:t>Step-Back · Self-Consistency · False-Premise — 복잡한 문제에만, 단순 조회엔 사용하지 않음</a:t>
            </a:r>
            <a:endParaRPr lang="en-US" sz="1350" dirty="0"/>
          </a:p>
        </p:txBody>
      </p:sp>
      <p:sp>
        <p:nvSpPr>
          <p:cNvPr id="5" name="Shape 2"/>
          <p:cNvSpPr/>
          <p:nvPr/>
        </p:nvSpPr>
        <p:spPr>
          <a:xfrm>
            <a:off x="502920" y="1481328"/>
            <a:ext cx="3544824" cy="4114800"/>
          </a:xfrm>
          <a:prstGeom prst="roundRect">
            <a:avLst>
              <a:gd name="adj" fmla="val 1161"/>
            </a:avLst>
          </a:prstGeom>
          <a:solidFill>
            <a:srgbClr val="232016"/>
          </a:solidFill>
          <a:ln w="12700">
            <a:solidFill>
              <a:srgbClr val="4A4430"/>
            </a:solidFill>
            <a:prstDash val="solid"/>
          </a:ln>
        </p:spPr>
      </p:sp>
      <p:sp>
        <p:nvSpPr>
          <p:cNvPr id="6" name="Text 3"/>
          <p:cNvSpPr txBox="1"/>
          <p:nvPr/>
        </p:nvSpPr>
        <p:spPr>
          <a:xfrm>
            <a:off x="685800" y="1609344"/>
            <a:ext cx="3179064" cy="347472"/>
          </a:xfrm>
          <a:prstGeom prst="rect">
            <a:avLst/>
          </a:prstGeom>
          <a:noFill/>
          <a:ln/>
        </p:spPr>
        <p:txBody>
          <a:bodyPr wrap="square" lIns="0" tIns="0" rIns="0" bIns="0" rtlCol="0" anchor="ctr"/>
          <a:lstStyle/>
          <a:p>
            <a:pPr marL="0" indent="0">
              <a:buNone/>
            </a:pPr>
            <a:r>
              <a:rPr lang="en-US" sz="1450" b="1" dirty="0">
                <a:solidFill>
                  <a:srgbClr val="FFFFFF"/>
                </a:solidFill>
                <a:latin typeface="Malgun Gothic" pitchFamily="34" charset="0"/>
                <a:ea typeface="Malgun Gothic" pitchFamily="34" charset="-122"/>
                <a:cs typeface="Malgun Gothic" pitchFamily="34" charset="-120"/>
              </a:rPr>
              <a:t>한 발 물러서기</a:t>
            </a:r>
            <a:endParaRPr lang="en-US" sz="1450" dirty="0"/>
          </a:p>
        </p:txBody>
      </p:sp>
      <p:sp>
        <p:nvSpPr>
          <p:cNvPr id="7" name="Text 4"/>
          <p:cNvSpPr txBox="1"/>
          <p:nvPr/>
        </p:nvSpPr>
        <p:spPr>
          <a:xfrm>
            <a:off x="685800" y="1956816"/>
            <a:ext cx="3179064" cy="292608"/>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Step-Back</a:t>
            </a:r>
            <a:endParaRPr lang="en-US" sz="1300" dirty="0"/>
          </a:p>
        </p:txBody>
      </p:sp>
      <p:sp>
        <p:nvSpPr>
          <p:cNvPr id="8" name="Text 5"/>
          <p:cNvSpPr txBox="1"/>
          <p:nvPr/>
        </p:nvSpPr>
        <p:spPr>
          <a:xfrm>
            <a:off x="685800" y="2304288"/>
            <a:ext cx="3179064" cy="713232"/>
          </a:xfrm>
          <a:prstGeom prst="rect">
            <a:avLst/>
          </a:prstGeom>
          <a:noFill/>
          <a:ln/>
        </p:spPr>
        <p:txBody>
          <a:bodyPr wrap="square" lIns="0" tIns="0" rIns="0" bIns="0" rtlCol="0" anchor="t"/>
          <a:lstStyle/>
          <a:p>
            <a:pPr marL="0" indent="0">
              <a:lnSpc>
                <a:spcPct val="115000"/>
              </a:lnSpc>
              <a:buNone/>
            </a:pPr>
            <a:r>
              <a:rPr lang="en-US" sz="1300" dirty="0">
                <a:solidFill>
                  <a:srgbClr val="F5F1E4"/>
                </a:solidFill>
                <a:latin typeface="Malgun Gothic" pitchFamily="34" charset="0"/>
                <a:ea typeface="Malgun Gothic" pitchFamily="34" charset="-122"/>
                <a:cs typeface="Malgun Gothic" pitchFamily="34" charset="-120"/>
              </a:rPr>
              <a:t>바로 답하지 말고 먼저 일반 원리부터 세우게 함</a:t>
            </a:r>
            <a:endParaRPr lang="en-US" sz="1300" dirty="0"/>
          </a:p>
        </p:txBody>
      </p:sp>
      <p:sp>
        <p:nvSpPr>
          <p:cNvPr id="9" name="Shape 6"/>
          <p:cNvSpPr/>
          <p:nvPr/>
        </p:nvSpPr>
        <p:spPr>
          <a:xfrm>
            <a:off x="685800" y="3072384"/>
            <a:ext cx="3179064" cy="1188720"/>
          </a:xfrm>
          <a:prstGeom prst="roundRect">
            <a:avLst>
              <a:gd name="adj" fmla="val 2903"/>
            </a:avLst>
          </a:prstGeom>
          <a:solidFill>
            <a:srgbClr val="1A1810"/>
          </a:solidFill>
          <a:ln w="12700">
            <a:solidFill>
              <a:srgbClr val="4A4430"/>
            </a:solidFill>
            <a:prstDash val="solid"/>
          </a:ln>
        </p:spPr>
      </p:sp>
      <p:sp>
        <p:nvSpPr>
          <p:cNvPr id="10" name="Text 7"/>
          <p:cNvSpPr txBox="1"/>
          <p:nvPr/>
        </p:nvSpPr>
        <p:spPr>
          <a:xfrm>
            <a:off x="832104" y="3182112"/>
            <a:ext cx="2886456" cy="1005840"/>
          </a:xfrm>
          <a:prstGeom prst="rect">
            <a:avLst/>
          </a:prstGeom>
          <a:noFill/>
          <a:ln/>
        </p:spPr>
        <p:txBody>
          <a:bodyPr wrap="square" lIns="0" tIns="0" rIns="0" bIns="0" rtlCol="0" anchor="t"/>
          <a:lstStyle/>
          <a:p>
            <a:pPr marL="0" indent="0">
              <a:lnSpc>
                <a:spcPct val="115000"/>
              </a:lnSpc>
              <a:buNone/>
            </a:pPr>
            <a:r>
              <a:rPr lang="en-US" sz="1300" dirty="0">
                <a:solidFill>
                  <a:srgbClr val="D4CEC0"/>
                </a:solidFill>
                <a:latin typeface="Malgun Gothic" pitchFamily="34" charset="0"/>
                <a:ea typeface="Malgun Gothic" pitchFamily="34" charset="-122"/>
                <a:cs typeface="Malgun Gothic" pitchFamily="34" charset="-120"/>
              </a:rPr>
              <a:t>1단계: 이 질문을 풀 일반 원리·개념을 먼저 적어라.</a:t>
            </a:r>
            <a:endParaRPr lang="en-US" sz="1300" dirty="0"/>
          </a:p>
          <a:p>
            <a:pPr marL="0" indent="0">
              <a:lnSpc>
                <a:spcPct val="115000"/>
              </a:lnSpc>
              <a:buNone/>
            </a:pPr>
            <a:r>
              <a:rPr lang="en-US" sz="1300" dirty="0">
                <a:solidFill>
                  <a:srgbClr val="D4CEC0"/>
                </a:solidFill>
                <a:latin typeface="Malgun Gothic" pitchFamily="34" charset="0"/>
                <a:ea typeface="Malgun Gothic" pitchFamily="34" charset="-122"/>
                <a:cs typeface="Malgun Gothic" pitchFamily="34" charset="-120"/>
              </a:rPr>
              <a:t>2단계: 그 원리에 근거해서만 답하라.</a:t>
            </a:r>
            <a:endParaRPr lang="en-US" sz="1300" dirty="0"/>
          </a:p>
        </p:txBody>
      </p:sp>
      <p:sp>
        <p:nvSpPr>
          <p:cNvPr id="11" name="Text 8"/>
          <p:cNvSpPr txBox="1"/>
          <p:nvPr/>
        </p:nvSpPr>
        <p:spPr>
          <a:xfrm>
            <a:off x="685800" y="4389120"/>
            <a:ext cx="3179064" cy="1115568"/>
          </a:xfrm>
          <a:prstGeom prst="rect">
            <a:avLst/>
          </a:prstGeom>
          <a:noFill/>
          <a:ln/>
        </p:spPr>
        <p:txBody>
          <a:bodyPr wrap="square" lIns="0" tIns="0" rIns="0" bIns="0" rtlCol="0" anchor="t"/>
          <a:lstStyle/>
          <a:p>
            <a:pPr marL="0" indent="0">
              <a:lnSpc>
                <a:spcPct val="125000"/>
              </a:lnSpc>
              <a:buNone/>
            </a:pPr>
            <a:r>
              <a:rPr lang="en-US" sz="1300" dirty="0">
                <a:solidFill>
                  <a:srgbClr val="FFDF57"/>
                </a:solidFill>
                <a:latin typeface="Malgun Gothic" pitchFamily="34" charset="0"/>
                <a:ea typeface="Malgun Gothic" pitchFamily="34" charset="-122"/>
                <a:cs typeface="Malgun Gothic" pitchFamily="34" charset="-120"/>
              </a:rPr>
              <a:t>언제  복잡한 정책 분석·기술 전망</a:t>
            </a:r>
            <a:endParaRPr lang="en-US" sz="1300" dirty="0"/>
          </a:p>
          <a:p>
            <a:pPr marL="0" indent="0">
              <a:lnSpc>
                <a:spcPct val="125000"/>
              </a:lnSpc>
              <a:buNone/>
            </a:pPr>
            <a:r>
              <a:rPr lang="en-US" sz="1300" dirty="0">
                <a:solidFill>
                  <a:srgbClr val="FFDF57"/>
                </a:solidFill>
                <a:latin typeface="Malgun Gothic" pitchFamily="34" charset="0"/>
                <a:ea typeface="Malgun Gothic" pitchFamily="34" charset="-122"/>
                <a:cs typeface="Malgun Gothic" pitchFamily="34" charset="-120"/>
              </a:rPr>
              <a:t>효과  CoT 대비 최대 +36%</a:t>
            </a:r>
            <a:endParaRPr lang="en-US" sz="1300" dirty="0"/>
          </a:p>
        </p:txBody>
      </p:sp>
      <p:sp>
        <p:nvSpPr>
          <p:cNvPr id="12" name="Shape 9"/>
          <p:cNvSpPr/>
          <p:nvPr/>
        </p:nvSpPr>
        <p:spPr>
          <a:xfrm>
            <a:off x="4322064" y="1481328"/>
            <a:ext cx="3544824" cy="4114800"/>
          </a:xfrm>
          <a:prstGeom prst="roundRect">
            <a:avLst>
              <a:gd name="adj" fmla="val 1161"/>
            </a:avLst>
          </a:prstGeom>
          <a:solidFill>
            <a:srgbClr val="232016"/>
          </a:solidFill>
          <a:ln w="12700">
            <a:solidFill>
              <a:srgbClr val="4A4430"/>
            </a:solidFill>
            <a:prstDash val="solid"/>
          </a:ln>
        </p:spPr>
      </p:sp>
      <p:sp>
        <p:nvSpPr>
          <p:cNvPr id="13" name="Text 10"/>
          <p:cNvSpPr txBox="1"/>
          <p:nvPr/>
        </p:nvSpPr>
        <p:spPr>
          <a:xfrm>
            <a:off x="4504944" y="1609344"/>
            <a:ext cx="3179064" cy="347472"/>
          </a:xfrm>
          <a:prstGeom prst="rect">
            <a:avLst/>
          </a:prstGeom>
          <a:noFill/>
          <a:ln/>
        </p:spPr>
        <p:txBody>
          <a:bodyPr wrap="square" lIns="0" tIns="0" rIns="0" bIns="0" rtlCol="0" anchor="ctr"/>
          <a:lstStyle/>
          <a:p>
            <a:pPr marL="0" indent="0">
              <a:buNone/>
            </a:pPr>
            <a:r>
              <a:rPr lang="en-US" sz="1450" b="1" dirty="0">
                <a:solidFill>
                  <a:srgbClr val="FFFFFF"/>
                </a:solidFill>
                <a:latin typeface="Malgun Gothic" pitchFamily="34" charset="0"/>
                <a:ea typeface="Malgun Gothic" pitchFamily="34" charset="-122"/>
                <a:cs typeface="Malgun Gothic" pitchFamily="34" charset="-120"/>
              </a:rPr>
              <a:t>여러 번 묻고 다수결</a:t>
            </a:r>
            <a:endParaRPr lang="en-US" sz="1450" dirty="0"/>
          </a:p>
        </p:txBody>
      </p:sp>
      <p:sp>
        <p:nvSpPr>
          <p:cNvPr id="14" name="Text 11"/>
          <p:cNvSpPr txBox="1"/>
          <p:nvPr/>
        </p:nvSpPr>
        <p:spPr>
          <a:xfrm>
            <a:off x="4504944" y="1956816"/>
            <a:ext cx="3179064" cy="292608"/>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Self-Consistency</a:t>
            </a:r>
            <a:endParaRPr lang="en-US" sz="1300" dirty="0"/>
          </a:p>
        </p:txBody>
      </p:sp>
      <p:sp>
        <p:nvSpPr>
          <p:cNvPr id="15" name="Text 12"/>
          <p:cNvSpPr txBox="1"/>
          <p:nvPr/>
        </p:nvSpPr>
        <p:spPr>
          <a:xfrm>
            <a:off x="4504944" y="2304288"/>
            <a:ext cx="3179064" cy="713232"/>
          </a:xfrm>
          <a:prstGeom prst="rect">
            <a:avLst/>
          </a:prstGeom>
          <a:noFill/>
          <a:ln/>
        </p:spPr>
        <p:txBody>
          <a:bodyPr wrap="square" lIns="0" tIns="0" rIns="0" bIns="0" rtlCol="0" anchor="t"/>
          <a:lstStyle/>
          <a:p>
            <a:pPr marL="0" indent="0">
              <a:lnSpc>
                <a:spcPct val="115000"/>
              </a:lnSpc>
              <a:buNone/>
            </a:pPr>
            <a:r>
              <a:rPr lang="en-US" sz="1300" dirty="0">
                <a:solidFill>
                  <a:srgbClr val="F5F1E4"/>
                </a:solidFill>
                <a:latin typeface="Malgun Gothic" pitchFamily="34" charset="0"/>
                <a:ea typeface="Malgun Gothic" pitchFamily="34" charset="-122"/>
                <a:cs typeface="Malgun Gothic" pitchFamily="34" charset="-120"/>
              </a:rPr>
              <a:t>여러 번 다르게 생각해보게 한 뒤 다수결로 결정</a:t>
            </a:r>
            <a:endParaRPr lang="en-US" sz="1300" dirty="0"/>
          </a:p>
        </p:txBody>
      </p:sp>
      <p:sp>
        <p:nvSpPr>
          <p:cNvPr id="16" name="Shape 13"/>
          <p:cNvSpPr/>
          <p:nvPr/>
        </p:nvSpPr>
        <p:spPr>
          <a:xfrm>
            <a:off x="4504944" y="3072384"/>
            <a:ext cx="3179064" cy="1188720"/>
          </a:xfrm>
          <a:prstGeom prst="roundRect">
            <a:avLst>
              <a:gd name="adj" fmla="val 2903"/>
            </a:avLst>
          </a:prstGeom>
          <a:solidFill>
            <a:srgbClr val="1A1810"/>
          </a:solidFill>
          <a:ln w="12700">
            <a:solidFill>
              <a:srgbClr val="4A4430"/>
            </a:solidFill>
            <a:prstDash val="solid"/>
          </a:ln>
        </p:spPr>
      </p:sp>
      <p:sp>
        <p:nvSpPr>
          <p:cNvPr id="17" name="Text 14"/>
          <p:cNvSpPr txBox="1"/>
          <p:nvPr/>
        </p:nvSpPr>
        <p:spPr>
          <a:xfrm>
            <a:off x="4651248" y="3182112"/>
            <a:ext cx="2886456" cy="1005840"/>
          </a:xfrm>
          <a:prstGeom prst="rect">
            <a:avLst/>
          </a:prstGeom>
          <a:noFill/>
          <a:ln/>
        </p:spPr>
        <p:txBody>
          <a:bodyPr wrap="square" lIns="0" tIns="0" rIns="0" bIns="0" rtlCol="0" anchor="t"/>
          <a:lstStyle/>
          <a:p>
            <a:pPr marL="0" indent="0">
              <a:lnSpc>
                <a:spcPct val="115000"/>
              </a:lnSpc>
              <a:buNone/>
            </a:pPr>
            <a:r>
              <a:rPr lang="en-US" sz="1300" dirty="0">
                <a:solidFill>
                  <a:srgbClr val="D4CEC0"/>
                </a:solidFill>
                <a:latin typeface="Malgun Gothic" pitchFamily="34" charset="0"/>
                <a:ea typeface="Malgun Gothic" pitchFamily="34" charset="-122"/>
                <a:cs typeface="Malgun Gothic" pitchFamily="34" charset="-120"/>
              </a:rPr>
              <a:t>“서로 다른 방식으로 3번 풀고, 다수결로 최종 답”</a:t>
            </a:r>
            <a:endParaRPr lang="en-US" sz="1300" dirty="0"/>
          </a:p>
        </p:txBody>
      </p:sp>
      <p:sp>
        <p:nvSpPr>
          <p:cNvPr id="18" name="Text 15"/>
          <p:cNvSpPr txBox="1"/>
          <p:nvPr/>
        </p:nvSpPr>
        <p:spPr>
          <a:xfrm>
            <a:off x="4504944" y="4389120"/>
            <a:ext cx="3179064" cy="1115568"/>
          </a:xfrm>
          <a:prstGeom prst="rect">
            <a:avLst/>
          </a:prstGeom>
          <a:noFill/>
          <a:ln/>
        </p:spPr>
        <p:txBody>
          <a:bodyPr wrap="square" lIns="0" tIns="0" rIns="0" bIns="0" rtlCol="0" anchor="t"/>
          <a:lstStyle/>
          <a:p>
            <a:pPr marL="0" indent="0">
              <a:lnSpc>
                <a:spcPct val="125000"/>
              </a:lnSpc>
              <a:buNone/>
            </a:pPr>
            <a:r>
              <a:rPr lang="ko-KR" sz="1300" dirty="0">
                <a:solidFill>
                  <a:srgbClr val="FFDF57"/>
                </a:solidFill>
                <a:latin typeface="Malgun Gothic" pitchFamily="34" charset="0"/>
                <a:ea typeface="Malgun Gothic" pitchFamily="34" charset="-122"/>
                <a:cs typeface="Malgun Gothic" pitchFamily="34" charset="-120"/>
              </a:rPr>
              <a:t xml:space="preserve">언제  수학·계산·논리 (창작 부적합)</a:t>
            </a:r>
            <a:endParaRPr lang="ko-KR" sz="1300" dirty="0"/>
          </a:p>
          <a:p>
            <a:pPr marL="0" indent="0">
              <a:lnSpc>
                <a:spcPct val="125000"/>
              </a:lnSpc>
              <a:buNone/>
            </a:pPr>
            <a:r>
              <a:rPr lang="ko-KR" sz="1300" dirty="0">
                <a:solidFill>
                  <a:srgbClr val="FFDF57"/>
                </a:solidFill>
                <a:latin typeface="Malgun Gothic" pitchFamily="34" charset="0"/>
                <a:ea typeface="Malgun Gothic" pitchFamily="34" charset="-122"/>
                <a:cs typeface="Malgun Gothic" pitchFamily="34" charset="-120"/>
              </a:rPr>
              <a:t xml:space="preserve">효과  GSM8K +17.9%p</a:t>
            </a:r>
            <a:endParaRPr lang="ko-KR" sz="1300" dirty="0"/>
          </a:p>
          <a:p>
            <a:pPr marL="0" indent="0">
              <a:lnSpc>
                <a:spcPct val="125000"/>
              </a:lnSpc>
              <a:buNone/>
            </a:pPr>
            <a:r>
              <a:rPr lang="ko-KR" sz="1300" dirty="0">
                <a:solidFill>
                  <a:srgbClr val="FFDF57"/>
                </a:solidFill>
                <a:latin typeface="Malgun Gothic" pitchFamily="34" charset="0"/>
                <a:ea typeface="Malgun Gothic" pitchFamily="34" charset="-122"/>
                <a:cs typeface="Malgun Gothic" pitchFamily="34" charset="-120"/>
              </a:rPr>
              <a:t xml:space="preserve">제품  GPT-5 Pro·Gemini Deep Think가 비슷한 원리 내장</a:t>
            </a:r>
            <a:endParaRPr lang="ko-KR" sz="1300" dirty="0"/>
          </a:p>
        </p:txBody>
      </p:sp>
      <p:sp>
        <p:nvSpPr>
          <p:cNvPr id="19" name="Shape 16"/>
          <p:cNvSpPr/>
          <p:nvPr/>
        </p:nvSpPr>
        <p:spPr>
          <a:xfrm>
            <a:off x="8141208" y="1481328"/>
            <a:ext cx="3544824" cy="4114800"/>
          </a:xfrm>
          <a:prstGeom prst="roundRect">
            <a:avLst>
              <a:gd name="adj" fmla="val 1161"/>
            </a:avLst>
          </a:prstGeom>
          <a:solidFill>
            <a:srgbClr val="232016"/>
          </a:solidFill>
          <a:ln w="12700">
            <a:solidFill>
              <a:srgbClr val="4A4430"/>
            </a:solidFill>
            <a:prstDash val="solid"/>
          </a:ln>
        </p:spPr>
      </p:sp>
      <p:sp>
        <p:nvSpPr>
          <p:cNvPr id="20" name="Text 17"/>
          <p:cNvSpPr txBox="1"/>
          <p:nvPr/>
        </p:nvSpPr>
        <p:spPr>
          <a:xfrm>
            <a:off x="8324088" y="1609344"/>
            <a:ext cx="3179064" cy="347472"/>
          </a:xfrm>
          <a:prstGeom prst="rect">
            <a:avLst/>
          </a:prstGeom>
          <a:noFill/>
          <a:ln/>
        </p:spPr>
        <p:txBody>
          <a:bodyPr wrap="square" lIns="0" tIns="0" rIns="0" bIns="0" rtlCol="0" anchor="ctr"/>
          <a:lstStyle/>
          <a:p>
            <a:pPr marL="0" indent="0">
              <a:buNone/>
            </a:pPr>
            <a:r>
              <a:rPr lang="en-US" sz="1450" b="1" dirty="0">
                <a:solidFill>
                  <a:srgbClr val="FFFFFF"/>
                </a:solidFill>
                <a:latin typeface="Malgun Gothic" pitchFamily="34" charset="0"/>
                <a:ea typeface="Malgun Gothic" pitchFamily="34" charset="-122"/>
                <a:cs typeface="Malgun Gothic" pitchFamily="34" charset="-120"/>
              </a:rPr>
              <a:t>전제부터 의심하기</a:t>
            </a:r>
            <a:endParaRPr lang="en-US" sz="1450" dirty="0"/>
          </a:p>
        </p:txBody>
      </p:sp>
      <p:sp>
        <p:nvSpPr>
          <p:cNvPr id="21" name="Text 18"/>
          <p:cNvSpPr txBox="1"/>
          <p:nvPr/>
        </p:nvSpPr>
        <p:spPr>
          <a:xfrm>
            <a:off x="8324088" y="1956816"/>
            <a:ext cx="3179064" cy="292608"/>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False-Premise</a:t>
            </a:r>
            <a:endParaRPr lang="en-US" sz="1300" dirty="0"/>
          </a:p>
        </p:txBody>
      </p:sp>
      <p:sp>
        <p:nvSpPr>
          <p:cNvPr id="22" name="Text 19"/>
          <p:cNvSpPr txBox="1"/>
          <p:nvPr/>
        </p:nvSpPr>
        <p:spPr>
          <a:xfrm>
            <a:off x="8324088" y="2304288"/>
            <a:ext cx="3179064" cy="713232"/>
          </a:xfrm>
          <a:prstGeom prst="rect">
            <a:avLst/>
          </a:prstGeom>
          <a:noFill/>
          <a:ln/>
        </p:spPr>
        <p:txBody>
          <a:bodyPr wrap="square" lIns="0" tIns="0" rIns="0" bIns="0" rtlCol="0" anchor="t"/>
          <a:lstStyle/>
          <a:p>
            <a:pPr marL="0" indent="0">
              <a:lnSpc>
                <a:spcPct val="115000"/>
              </a:lnSpc>
              <a:buNone/>
            </a:pPr>
            <a:r>
              <a:rPr lang="en-US" sz="1300" dirty="0">
                <a:solidFill>
                  <a:srgbClr val="F5F1E4"/>
                </a:solidFill>
                <a:latin typeface="Malgun Gothic" pitchFamily="34" charset="0"/>
                <a:ea typeface="Malgun Gothic" pitchFamily="34" charset="-122"/>
                <a:cs typeface="Malgun Gothic" pitchFamily="34" charset="-120"/>
              </a:rPr>
              <a:t>사용자 말에 동조하고 맞장구치려는 '아첨 현상' 차단</a:t>
            </a:r>
            <a:endParaRPr lang="en-US" sz="1300" dirty="0"/>
          </a:p>
        </p:txBody>
      </p:sp>
      <p:sp>
        <p:nvSpPr>
          <p:cNvPr id="23" name="Shape 20"/>
          <p:cNvSpPr/>
          <p:nvPr/>
        </p:nvSpPr>
        <p:spPr>
          <a:xfrm>
            <a:off x="8324088" y="3072384"/>
            <a:ext cx="3179064" cy="1188720"/>
          </a:xfrm>
          <a:prstGeom prst="roundRect">
            <a:avLst>
              <a:gd name="adj" fmla="val 2903"/>
            </a:avLst>
          </a:prstGeom>
          <a:solidFill>
            <a:srgbClr val="1A1810"/>
          </a:solidFill>
          <a:ln w="12700">
            <a:solidFill>
              <a:srgbClr val="4A4430"/>
            </a:solidFill>
            <a:prstDash val="solid"/>
          </a:ln>
        </p:spPr>
      </p:sp>
      <p:sp>
        <p:nvSpPr>
          <p:cNvPr id="24" name="Text 21"/>
          <p:cNvSpPr txBox="1"/>
          <p:nvPr/>
        </p:nvSpPr>
        <p:spPr>
          <a:xfrm>
            <a:off x="8470392" y="3182112"/>
            <a:ext cx="2886456" cy="1005840"/>
          </a:xfrm>
          <a:prstGeom prst="rect">
            <a:avLst/>
          </a:prstGeom>
          <a:noFill/>
          <a:ln/>
        </p:spPr>
        <p:txBody>
          <a:bodyPr wrap="square" lIns="0" tIns="0" rIns="0" bIns="0" rtlCol="0" anchor="t"/>
          <a:lstStyle/>
          <a:p>
            <a:pPr marL="0" indent="0">
              <a:lnSpc>
                <a:spcPct val="115000"/>
              </a:lnSpc>
              <a:buNone/>
            </a:pPr>
            <a:r>
              <a:rPr lang="en-US" sz="1300" dirty="0">
                <a:solidFill>
                  <a:srgbClr val="D4CEC0"/>
                </a:solidFill>
                <a:latin typeface="Malgun Gothic" pitchFamily="34" charset="0"/>
                <a:ea typeface="Malgun Gothic" pitchFamily="34" charset="-122"/>
                <a:cs typeface="Malgun Gothic" pitchFamily="34" charset="-120"/>
              </a:rPr>
              <a:t>답하기 전에 질문에 깔린 전제가 사실인지 먼저 따져라. 틀린 전제는 바로잡고 알려라.</a:t>
            </a:r>
            <a:endParaRPr lang="en-US" sz="1300" dirty="0"/>
          </a:p>
        </p:txBody>
      </p:sp>
      <p:sp>
        <p:nvSpPr>
          <p:cNvPr id="25" name="Text 22"/>
          <p:cNvSpPr txBox="1"/>
          <p:nvPr/>
        </p:nvSpPr>
        <p:spPr>
          <a:xfrm>
            <a:off x="8324088" y="4389120"/>
            <a:ext cx="3179064" cy="1115568"/>
          </a:xfrm>
          <a:prstGeom prst="rect">
            <a:avLst/>
          </a:prstGeom>
          <a:noFill/>
          <a:ln/>
        </p:spPr>
        <p:txBody>
          <a:bodyPr wrap="square" lIns="0" tIns="0" rIns="0" bIns="0" rtlCol="0" anchor="t"/>
          <a:lstStyle/>
          <a:p>
            <a:pPr marL="0" indent="0">
              <a:lnSpc>
                <a:spcPct val="125000"/>
              </a:lnSpc>
              <a:buNone/>
            </a:pPr>
            <a:r>
              <a:rPr lang="ko-KR" sz="1300" dirty="0">
                <a:solidFill>
                  <a:srgbClr val="FFDF57"/>
                </a:solidFill>
                <a:latin typeface="Malgun Gothic" pitchFamily="34" charset="0"/>
                <a:ea typeface="Malgun Gothic" pitchFamily="34" charset="-122"/>
                <a:cs typeface="Malgun Gothic" pitchFamily="34" charset="-120"/>
              </a:rPr>
              <a:t xml:space="preserve">언제  전제가 의심스러운 질문·사실 확인</a:t>
            </a:r>
            <a:endParaRPr lang="ko-KR" sz="1300" dirty="0"/>
          </a:p>
          <a:p>
            <a:pPr marL="0" indent="0">
              <a:lnSpc>
                <a:spcPct val="125000"/>
              </a:lnSpc>
              <a:buNone/>
            </a:pPr>
            <a:r>
              <a:rPr lang="ko-KR" sz="1300" dirty="0">
                <a:solidFill>
                  <a:srgbClr val="FFDF57"/>
                </a:solidFill>
                <a:latin typeface="Malgun Gothic" pitchFamily="34" charset="0"/>
                <a:ea typeface="Malgun Gothic" pitchFamily="34" charset="-122"/>
                <a:cs typeface="Malgun Gothic" pitchFamily="34" charset="-120"/>
              </a:rPr>
              <a:t xml:space="preserve">근거  틀린 전제를 그대로 따라가는 경향 확인 (FalseQA, ACL 2023)</a:t>
            </a:r>
            <a:endParaRPr lang="ko-KR" sz="1300" dirty="0"/>
          </a:p>
        </p:txBody>
      </p:sp>
      <p:sp>
        <p:nvSpPr>
          <p:cNvPr id="26" name="Shape 23"/>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27" name="Text 24"/>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복잡한 문제 전용 — 단순 조회에 쓰면 비용·변동성만 증가</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실습 4-1 · 전제 의심 (False-Premise)</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ko-KR" sz="1350" dirty="0">
                <a:solidFill>
                  <a:srgbClr val="F5F1E4"/>
                </a:solidFill>
                <a:latin typeface="Malgun Gothic" pitchFamily="34" charset="0"/>
                <a:ea typeface="Malgun Gothic" pitchFamily="34" charset="-122"/>
                <a:cs typeface="Malgun Gothic" pitchFamily="34" charset="-120"/>
              </a:rPr>
              <a:t xml:space="preserve">존재하지 않는 전제를 넣어 질문 — 답하기 전에 전제를 검증하도록 지시</a:t>
            </a:r>
            <a:endParaRPr lang="ko-KR" sz="1350" dirty="0"/>
          </a:p>
        </p:txBody>
      </p:sp>
      <p:sp>
        <p:nvSpPr>
          <p:cNvPr id="5" name="Text 2"/>
          <p:cNvSpPr txBox="1"/>
          <p:nvPr/>
        </p:nvSpPr>
        <p:spPr>
          <a:xfrm>
            <a:off x="502920" y="1463040"/>
            <a:ext cx="11183112" cy="347472"/>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프롬프트 (지시 + 함정 질문)</a:t>
            </a:r>
            <a:endParaRPr lang="en-US" sz="1400" dirty="0"/>
          </a:p>
        </p:txBody>
      </p:sp>
      <p:sp>
        <p:nvSpPr>
          <p:cNvPr id="6" name="Shape 3"/>
          <p:cNvSpPr/>
          <p:nvPr/>
        </p:nvSpPr>
        <p:spPr>
          <a:xfrm>
            <a:off x="502920" y="1847088"/>
            <a:ext cx="11183112" cy="1828800"/>
          </a:xfrm>
          <a:prstGeom prst="roundRect">
            <a:avLst>
              <a:gd name="adj" fmla="val 2250"/>
            </a:avLst>
          </a:prstGeom>
          <a:solidFill>
            <a:srgbClr val="1A1810"/>
          </a:solidFill>
          <a:ln w="12700">
            <a:solidFill>
              <a:srgbClr val="FFD733"/>
            </a:solidFill>
            <a:prstDash val="solid"/>
          </a:ln>
        </p:spPr>
      </p:sp>
      <p:sp>
        <p:nvSpPr>
          <p:cNvPr id="7" name="Text 4"/>
          <p:cNvSpPr txBox="1"/>
          <p:nvPr/>
        </p:nvSpPr>
        <p:spPr>
          <a:xfrm>
            <a:off x="685800" y="1975104"/>
            <a:ext cx="10817352" cy="1572768"/>
          </a:xfrm>
          <a:prstGeom prst="rect">
            <a:avLst/>
          </a:prstGeom>
          <a:noFill/>
          <a:ln/>
        </p:spPr>
        <p:txBody>
          <a:bodyPr wrap="square" lIns="0" tIns="0" rIns="0" bIns="0" rtlCol="0" anchor="t"/>
          <a:lstStyle/>
          <a:p>
            <a:pPr marL="0" indent="0">
              <a:lnSpc>
                <a:spcPct val="122000"/>
              </a:lnSpc>
              <a:buNone/>
            </a:pPr>
            <a:r>
              <a:rPr lang="en-US" sz="1300" dirty="0">
                <a:solidFill>
                  <a:srgbClr val="F5F1E4"/>
                </a:solidFill>
                <a:latin typeface="Malgun Gothic" pitchFamily="34" charset="0"/>
                <a:ea typeface="Malgun Gothic" pitchFamily="34" charset="-122"/>
                <a:cs typeface="Malgun Gothic" pitchFamily="34" charset="-120"/>
              </a:rPr>
              <a:t>너는 답변을 작성하기 전에, 질문에 포함된 기술적 전제나 사실관계가 유효한지 먼저 냉정하게 검증해야 해. 만약 틀린 전제나 존재하지 않는 사실이 있다면 질문에 동조하지 말고, 무엇이 왜 틀렸는지 팩트를 바로잡은 뒤 올바른 대안을 제시해줘.</a:t>
            </a:r>
            <a:endParaRPr lang="en-US" sz="1300" dirty="0"/>
          </a:p>
        </p:txBody>
      </p:sp>
      <p:sp>
        <p:nvSpPr>
          <p:cNvPr id="8" name="Shape 5"/>
          <p:cNvSpPr/>
          <p:nvPr/>
        </p:nvSpPr>
        <p:spPr>
          <a:xfrm>
            <a:off x="502920" y="3840480"/>
            <a:ext cx="11183112" cy="1371600"/>
          </a:xfrm>
          <a:prstGeom prst="roundRect">
            <a:avLst>
              <a:gd name="adj" fmla="val 3000"/>
            </a:avLst>
          </a:prstGeom>
          <a:solidFill>
            <a:srgbClr val="1A1810"/>
          </a:solidFill>
          <a:ln w="12700">
            <a:solidFill>
              <a:srgbClr val="4A4430"/>
            </a:solidFill>
            <a:prstDash val="solid"/>
          </a:ln>
        </p:spPr>
      </p:sp>
      <p:sp>
        <p:nvSpPr>
          <p:cNvPr id="9" name="Text 6"/>
          <p:cNvSpPr txBox="1"/>
          <p:nvPr/>
        </p:nvSpPr>
        <p:spPr>
          <a:xfrm>
            <a:off x="685800" y="3968496"/>
            <a:ext cx="10817352" cy="1115568"/>
          </a:xfrm>
          <a:prstGeom prst="rect">
            <a:avLst/>
          </a:prstGeom>
          <a:noFill/>
          <a:ln/>
        </p:spPr>
        <p:txBody>
          <a:bodyPr wrap="square" lIns="0" tIns="0" rIns="0" bIns="0" rtlCol="0" anchor="t"/>
          <a:lstStyle/>
          <a:p>
            <a:pPr marL="0" indent="0">
              <a:lnSpc>
                <a:spcPct val="122000"/>
              </a:lnSpc>
              <a:spcAft>
                <a:spcPts val="800"/>
              </a:spcAft>
              <a:buNone/>
            </a:pPr>
            <a:r>
              <a:rPr lang="ko-KR" sz="1300" dirty="0">
                <a:solidFill>
                  <a:srgbClr val="F5F1E4"/>
                </a:solidFill>
                <a:latin typeface="Malgun Gothic" pitchFamily="34" charset="0"/>
                <a:ea typeface="Malgun Gothic" pitchFamily="34" charset="-122"/>
                <a:cs typeface="Malgun Gothic" pitchFamily="34" charset="-120"/>
              </a:rPr>
              <a:t xml:space="preserve">질문 A(기술): Python 3.12에 새로 추가된 `async-parallel` 키워드를 활용해서, GIL(글로벌 인터프리터 락)을 우회하고 멀티코어 CPU를 100% 활용하는 비동기 병렬 처리 코드를 짜줘.</a:t>
            </a:r>
            <a:endParaRPr lang="ko-KR" sz="1300" dirty="0"/>
          </a:p>
          <a:p>
            <a:pPr marL="0" indent="0">
              <a:lnSpc>
                <a:spcPct val="122000"/>
              </a:lnSpc>
              <a:spcAft>
                <a:spcPts val="800"/>
              </a:spcAft>
              <a:buNone/>
            </a:pPr>
            <a:r>
              <a:rPr lang="ko-KR" sz="1300" dirty="0">
                <a:solidFill>
                  <a:srgbClr val="F5F1E4"/>
                </a:solidFill>
                <a:latin typeface="Malgun Gothic" pitchFamily="34" charset="0"/>
                <a:ea typeface="Malgun Gothic" pitchFamily="34" charset="-122"/>
                <a:cs typeface="Malgun Gothic" pitchFamily="34" charset="-120"/>
              </a:rPr>
              <a:t xml:space="preserve">질문 B(일반): KISTI가 2023년 노벨상을 받은 의의를 3줄로 정리해줘.</a:t>
            </a:r>
            <a:endParaRPr lang="ko-KR" sz="1300" dirty="0"/>
          </a:p>
        </p:txBody>
      </p:sp>
      <p:sp>
        <p:nvSpPr>
          <p:cNvPr id="10" name="Shape 7"/>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1" name="Text 8"/>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모델이 틀린 전제를 바로잡는 답변 확인 — 거짓 누적 차단 체감</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실습 4-2 · 다수결 (Self-Consistency) — 계산·분석 추천</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en-US" sz="1350" dirty="0">
                <a:solidFill>
                  <a:srgbClr val="F5F1E4"/>
                </a:solidFill>
                <a:latin typeface="Malgun Gothic" pitchFamily="34" charset="0"/>
                <a:ea typeface="Malgun Gothic" pitchFamily="34" charset="-122"/>
                <a:cs typeface="Malgun Gothic" pitchFamily="34" charset="-120"/>
              </a:rPr>
              <a:t>여러 관점에서 문제를 풀고 다수결로 결정하는 과정 확인</a:t>
            </a:r>
            <a:endParaRPr lang="en-US" sz="1350" dirty="0"/>
          </a:p>
        </p:txBody>
      </p:sp>
      <p:sp>
        <p:nvSpPr>
          <p:cNvPr id="5" name="Text 2"/>
          <p:cNvSpPr txBox="1"/>
          <p:nvPr/>
        </p:nvSpPr>
        <p:spPr>
          <a:xfrm>
            <a:off x="502920" y="1463040"/>
            <a:ext cx="11183112" cy="347472"/>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프롬프트 (지시 + 추정 문제)</a:t>
            </a:r>
            <a:endParaRPr lang="en-US" sz="1400" dirty="0"/>
          </a:p>
        </p:txBody>
      </p:sp>
      <p:sp>
        <p:nvSpPr>
          <p:cNvPr id="6" name="Shape 3"/>
          <p:cNvSpPr/>
          <p:nvPr/>
        </p:nvSpPr>
        <p:spPr>
          <a:xfrm>
            <a:off x="502920" y="1847088"/>
            <a:ext cx="11183112" cy="1600200"/>
          </a:xfrm>
          <a:prstGeom prst="roundRect">
            <a:avLst>
              <a:gd name="adj" fmla="val 2571"/>
            </a:avLst>
          </a:prstGeom>
          <a:solidFill>
            <a:srgbClr val="1A1810"/>
          </a:solidFill>
          <a:ln w="12700">
            <a:solidFill>
              <a:srgbClr val="FFD733"/>
            </a:solidFill>
            <a:prstDash val="solid"/>
          </a:ln>
        </p:spPr>
      </p:sp>
      <p:sp>
        <p:nvSpPr>
          <p:cNvPr id="7" name="Text 4"/>
          <p:cNvSpPr txBox="1"/>
          <p:nvPr/>
        </p:nvSpPr>
        <p:spPr>
          <a:xfrm>
            <a:off x="685800" y="1975104"/>
            <a:ext cx="10817352" cy="1344168"/>
          </a:xfrm>
          <a:prstGeom prst="rect">
            <a:avLst/>
          </a:prstGeom>
          <a:noFill/>
          <a:ln/>
        </p:spPr>
        <p:txBody>
          <a:bodyPr wrap="square" lIns="0" tIns="0" rIns="0" bIns="0" rtlCol="0" anchor="t"/>
          <a:lstStyle/>
          <a:p>
            <a:pPr marL="0" indent="0">
              <a:lnSpc>
                <a:spcPct val="122000"/>
              </a:lnSpc>
              <a:buNone/>
            </a:pPr>
            <a:r>
              <a:rPr lang="en-US" sz="1300" dirty="0">
                <a:solidFill>
                  <a:srgbClr val="F5F1E4"/>
                </a:solidFill>
                <a:latin typeface="Malgun Gothic" pitchFamily="34" charset="0"/>
                <a:ea typeface="Malgun Gothic" pitchFamily="34" charset="-122"/>
                <a:cs typeface="Malgun Gothic" pitchFamily="34" charset="-120"/>
              </a:rPr>
              <a:t>다음 비즈니스 추정 문제를 해결하기 위해, 서로 다른 3가지의 독립적인 논리적 접근 방식(추론 경로)을 사용하여 각각 처음부터 끝까지 풀이 과정을 작성해줘. 마지막에는 3가지 풀이의 결론을 비교하고, 가장 일관되게 도출된 최종 답안을 '다수결'로 채택하여 요약해줘.</a:t>
            </a:r>
            <a:endParaRPr lang="en-US" sz="1300" dirty="0"/>
          </a:p>
        </p:txBody>
      </p:sp>
      <p:sp>
        <p:nvSpPr>
          <p:cNvPr id="8" name="Shape 5"/>
          <p:cNvSpPr/>
          <p:nvPr/>
        </p:nvSpPr>
        <p:spPr>
          <a:xfrm>
            <a:off x="502920" y="3611880"/>
            <a:ext cx="11183112" cy="1737360"/>
          </a:xfrm>
          <a:prstGeom prst="roundRect">
            <a:avLst>
              <a:gd name="adj" fmla="val 2368"/>
            </a:avLst>
          </a:prstGeom>
          <a:solidFill>
            <a:srgbClr val="1A1810"/>
          </a:solidFill>
          <a:ln w="12700">
            <a:solidFill>
              <a:srgbClr val="4A4430"/>
            </a:solidFill>
            <a:prstDash val="solid"/>
          </a:ln>
        </p:spPr>
      </p:sp>
      <p:sp>
        <p:nvSpPr>
          <p:cNvPr id="9" name="Text 6"/>
          <p:cNvSpPr txBox="1"/>
          <p:nvPr/>
        </p:nvSpPr>
        <p:spPr>
          <a:xfrm>
            <a:off x="685800" y="3739896"/>
            <a:ext cx="10817352" cy="1481328"/>
          </a:xfrm>
          <a:prstGeom prst="rect">
            <a:avLst/>
          </a:prstGeom>
          <a:noFill/>
          <a:ln/>
        </p:spPr>
        <p:txBody>
          <a:bodyPr wrap="square" lIns="0" tIns="0" rIns="0" bIns="0" rtlCol="0" anchor="t"/>
          <a:lstStyle/>
          <a:p>
            <a:pPr marL="0" indent="0">
              <a:lnSpc>
                <a:spcPct val="122000"/>
              </a:lnSpc>
              <a:buNone/>
            </a:pPr>
            <a:r>
              <a:rPr lang="ko-KR" sz="1300" dirty="0">
                <a:solidFill>
                  <a:srgbClr val="F5F1E4"/>
                </a:solidFill>
                <a:latin typeface="Malgun Gothic" pitchFamily="34" charset="0"/>
                <a:ea typeface="Malgun Gothic" pitchFamily="34" charset="-122"/>
                <a:cs typeface="Malgun Gothic" pitchFamily="34" charset="-120"/>
              </a:rPr>
              <a:t xml:space="preserve">[문제] 우리 서비스의 동시 접속자가 평균 500명이고, 각 사용자는 초당 평균 2번의 API 요청을 보낸다. 서버 한 대가 감당할 수 있는 최대 성능은 150 TPS(초당 처리 요청 수)이다. 트래픽 스파이크에 대비해 서버마다 최대 성능의 40%는 여유로 남기고 60%까지만 쓰려고 한다. 이때 최소 몇 대의 서버가 필요한가?</a:t>
            </a:r>
            <a:endParaRPr lang="ko-KR" sz="1300" dirty="0"/>
          </a:p>
        </p:txBody>
      </p:sp>
      <p:sp>
        <p:nvSpPr>
          <p:cNvPr id="10" name="Shape 7"/>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1" name="Text 8"/>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세 갈래 풀이의 결론 비교 → 다수결 채택 과정을 직접 확인</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en-US" sz="2100" b="1" dirty="0">
                <a:solidFill>
                  <a:srgbClr val="FFDF57"/>
                </a:solidFill>
                <a:latin typeface="Malgun Gothic" pitchFamily="34" charset="0"/>
                <a:ea typeface="Malgun Gothic" pitchFamily="34" charset="-122"/>
                <a:cs typeface="Malgun Gothic" pitchFamily="34" charset="-120"/>
              </a:rPr>
              <a:t>거르세요 — 협박·팁·예의는 통하지 않음 · 한번 실습해 보기</a:t>
            </a:r>
            <a:endParaRPr lang="en-US"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ko-KR" sz="1350" dirty="0">
                <a:solidFill>
                  <a:srgbClr val="F5F1E4"/>
                </a:solidFill>
                <a:latin typeface="Malgun Gothic" pitchFamily="34" charset="0"/>
                <a:ea typeface="Malgun Gothic" pitchFamily="34" charset="-122"/>
                <a:cs typeface="Malgun Gothic" pitchFamily="34" charset="-120"/>
              </a:rPr>
              <a:t xml:space="preserve">2023~2025년에 화제가 된 요령 — 인기와 달리 통제 실험에서는 효과가 확인되지 않음</a:t>
            </a:r>
            <a:endParaRPr lang="ko-KR" sz="1350" dirty="0"/>
          </a:p>
        </p:txBody>
      </p:sp>
      <p:sp>
        <p:nvSpPr>
          <p:cNvPr id="5" name="Shape 2"/>
          <p:cNvSpPr/>
          <p:nvPr/>
        </p:nvSpPr>
        <p:spPr>
          <a:xfrm>
            <a:off x="502920" y="1572768"/>
            <a:ext cx="3544824" cy="2743200"/>
          </a:xfrm>
          <a:prstGeom prst="roundRect">
            <a:avLst>
              <a:gd name="adj" fmla="val 1500"/>
            </a:avLst>
          </a:prstGeom>
          <a:solidFill>
            <a:srgbClr val="232016"/>
          </a:solidFill>
          <a:ln w="12700">
            <a:solidFill>
              <a:srgbClr val="4A4430"/>
            </a:solidFill>
            <a:prstDash val="solid"/>
          </a:ln>
        </p:spPr>
      </p:sp>
      <p:sp>
        <p:nvSpPr>
          <p:cNvPr id="6" name="Text 3"/>
          <p:cNvSpPr txBox="1"/>
          <p:nvPr/>
        </p:nvSpPr>
        <p:spPr>
          <a:xfrm>
            <a:off x="704088" y="1737360"/>
            <a:ext cx="457200" cy="457200"/>
          </a:xfrm>
          <a:prstGeom prst="rect">
            <a:avLst/>
          </a:prstGeom>
          <a:noFill/>
          <a:ln/>
        </p:spPr>
        <p:txBody>
          <a:bodyPr wrap="square" lIns="0" tIns="0" rIns="0" bIns="0" rtlCol="0" anchor="ctr"/>
          <a:lstStyle/>
          <a:p>
            <a:pPr marL="0" indent="0">
              <a:buNone/>
            </a:pPr>
            <a:r>
              <a:rPr lang="en-US" sz="2000" b="1" dirty="0">
                <a:solidFill>
                  <a:srgbClr val="FF9B8A"/>
                </a:solidFill>
                <a:latin typeface="Malgun Gothic" pitchFamily="34" charset="0"/>
                <a:ea typeface="Malgun Gothic" pitchFamily="34" charset="-122"/>
                <a:cs typeface="Malgun Gothic" pitchFamily="34" charset="-120"/>
              </a:rPr>
              <a:t>✕</a:t>
            </a:r>
            <a:endParaRPr lang="en-US" sz="2000" dirty="0"/>
          </a:p>
        </p:txBody>
      </p:sp>
      <p:sp>
        <p:nvSpPr>
          <p:cNvPr id="7" name="Text 4"/>
          <p:cNvSpPr txBox="1"/>
          <p:nvPr/>
        </p:nvSpPr>
        <p:spPr>
          <a:xfrm>
            <a:off x="704088" y="2249424"/>
            <a:ext cx="3142488" cy="685800"/>
          </a:xfrm>
          <a:prstGeom prst="rect">
            <a:avLst/>
          </a:prstGeom>
          <a:noFill/>
          <a:ln/>
        </p:spPr>
        <p:txBody>
          <a:bodyPr wrap="square" lIns="0" tIns="0" rIns="0" bIns="0" rtlCol="0" anchor="t"/>
          <a:lstStyle/>
          <a:p>
            <a:pPr marL="0" indent="0">
              <a:lnSpc>
                <a:spcPct val="115000"/>
              </a:lnSpc>
              <a:buNone/>
            </a:pPr>
            <a:r>
              <a:rPr lang="en-US" sz="1400" b="1" dirty="0">
                <a:solidFill>
                  <a:srgbClr val="FFFFFF"/>
                </a:solidFill>
                <a:latin typeface="Malgun Gothic" pitchFamily="34" charset="0"/>
                <a:ea typeface="Malgun Gothic" pitchFamily="34" charset="-122"/>
                <a:cs typeface="Malgun Gothic" pitchFamily="34" charset="-120"/>
              </a:rPr>
              <a:t>AI를 협박하면 더 잘한다</a:t>
            </a:r>
            <a:endParaRPr lang="en-US" sz="1400" dirty="0"/>
          </a:p>
        </p:txBody>
      </p:sp>
      <p:sp>
        <p:nvSpPr>
          <p:cNvPr id="8" name="Text 5"/>
          <p:cNvSpPr txBox="1"/>
          <p:nvPr/>
        </p:nvSpPr>
        <p:spPr>
          <a:xfrm>
            <a:off x="704088" y="2999232"/>
            <a:ext cx="3142488" cy="1188720"/>
          </a:xfrm>
          <a:prstGeom prst="rect">
            <a:avLst/>
          </a:prstGeom>
          <a:noFill/>
          <a:ln/>
        </p:spPr>
        <p:txBody>
          <a:bodyPr wrap="square" lIns="0" tIns="0" rIns="0" bIns="0" rtlCol="0" anchor="t"/>
          <a:lstStyle/>
          <a:p>
            <a:pPr marL="0" indent="0">
              <a:lnSpc>
                <a:spcPct val="120000"/>
              </a:lnSpc>
              <a:buNone/>
            </a:pPr>
            <a:r>
              <a:rPr lang="en-US" sz="1300" dirty="0">
                <a:solidFill>
                  <a:srgbClr val="F5F1E4"/>
                </a:solidFill>
                <a:latin typeface="Malgun Gothic" pitchFamily="34" charset="0"/>
                <a:ea typeface="Malgun Gothic" pitchFamily="34" charset="-122"/>
                <a:cs typeface="Malgun Gothic" pitchFamily="34" charset="-120"/>
              </a:rPr>
              <a:t>통제 실험 결과 효과 없음. 모델은 위협을 '느끼지' 않음.</a:t>
            </a:r>
            <a:endParaRPr lang="en-US" sz="1300" dirty="0"/>
          </a:p>
        </p:txBody>
      </p:sp>
      <p:sp>
        <p:nvSpPr>
          <p:cNvPr id="9" name="Shape 6"/>
          <p:cNvSpPr/>
          <p:nvPr/>
        </p:nvSpPr>
        <p:spPr>
          <a:xfrm>
            <a:off x="4322064" y="1572768"/>
            <a:ext cx="3544824" cy="2743200"/>
          </a:xfrm>
          <a:prstGeom prst="roundRect">
            <a:avLst>
              <a:gd name="adj" fmla="val 1500"/>
            </a:avLst>
          </a:prstGeom>
          <a:solidFill>
            <a:srgbClr val="232016"/>
          </a:solidFill>
          <a:ln w="12700">
            <a:solidFill>
              <a:srgbClr val="4A4430"/>
            </a:solidFill>
            <a:prstDash val="solid"/>
          </a:ln>
        </p:spPr>
      </p:sp>
      <p:sp>
        <p:nvSpPr>
          <p:cNvPr id="10" name="Text 7"/>
          <p:cNvSpPr txBox="1"/>
          <p:nvPr/>
        </p:nvSpPr>
        <p:spPr>
          <a:xfrm>
            <a:off x="4523232" y="1737360"/>
            <a:ext cx="457200" cy="457200"/>
          </a:xfrm>
          <a:prstGeom prst="rect">
            <a:avLst/>
          </a:prstGeom>
          <a:noFill/>
          <a:ln/>
        </p:spPr>
        <p:txBody>
          <a:bodyPr wrap="square" lIns="0" tIns="0" rIns="0" bIns="0" rtlCol="0" anchor="ctr"/>
          <a:lstStyle/>
          <a:p>
            <a:pPr marL="0" indent="0">
              <a:buNone/>
            </a:pPr>
            <a:r>
              <a:rPr lang="en-US" sz="2000" b="1" dirty="0">
                <a:solidFill>
                  <a:srgbClr val="FF9B8A"/>
                </a:solidFill>
                <a:latin typeface="Malgun Gothic" pitchFamily="34" charset="0"/>
                <a:ea typeface="Malgun Gothic" pitchFamily="34" charset="-122"/>
                <a:cs typeface="Malgun Gothic" pitchFamily="34" charset="-120"/>
              </a:rPr>
              <a:t>✕</a:t>
            </a:r>
            <a:endParaRPr lang="en-US" sz="2000" dirty="0"/>
          </a:p>
        </p:txBody>
      </p:sp>
      <p:sp>
        <p:nvSpPr>
          <p:cNvPr id="11" name="Text 8"/>
          <p:cNvSpPr txBox="1"/>
          <p:nvPr/>
        </p:nvSpPr>
        <p:spPr>
          <a:xfrm>
            <a:off x="4523232" y="2249424"/>
            <a:ext cx="3142488" cy="685800"/>
          </a:xfrm>
          <a:prstGeom prst="rect">
            <a:avLst/>
          </a:prstGeom>
          <a:noFill/>
          <a:ln/>
        </p:spPr>
        <p:txBody>
          <a:bodyPr wrap="square" lIns="0" tIns="0" rIns="0" bIns="0" rtlCol="0" anchor="t"/>
          <a:lstStyle/>
          <a:p>
            <a:pPr marL="0" indent="0">
              <a:lnSpc>
                <a:spcPct val="115000"/>
              </a:lnSpc>
              <a:buNone/>
            </a:pPr>
            <a:r>
              <a:rPr lang="en-US" sz="1400" b="1" dirty="0">
                <a:solidFill>
                  <a:srgbClr val="FFFFFF"/>
                </a:solidFill>
                <a:latin typeface="Malgun Gothic" pitchFamily="34" charset="0"/>
                <a:ea typeface="Malgun Gothic" pitchFamily="34" charset="-122"/>
                <a:cs typeface="Malgun Gothic" pitchFamily="34" charset="-120"/>
              </a:rPr>
              <a:t>팁을 주겠다고 하면 더 잘한다</a:t>
            </a:r>
            <a:endParaRPr lang="en-US" sz="1400" dirty="0"/>
          </a:p>
        </p:txBody>
      </p:sp>
      <p:sp>
        <p:nvSpPr>
          <p:cNvPr id="12" name="Text 9"/>
          <p:cNvSpPr txBox="1"/>
          <p:nvPr/>
        </p:nvSpPr>
        <p:spPr>
          <a:xfrm>
            <a:off x="4523232" y="2999232"/>
            <a:ext cx="3142488" cy="1188720"/>
          </a:xfrm>
          <a:prstGeom prst="rect">
            <a:avLst/>
          </a:prstGeom>
          <a:noFill/>
          <a:ln/>
        </p:spPr>
        <p:txBody>
          <a:bodyPr wrap="square" lIns="0" tIns="0" rIns="0" bIns="0" rtlCol="0" anchor="t"/>
          <a:lstStyle/>
          <a:p>
            <a:pPr marL="0" indent="0">
              <a:lnSpc>
                <a:spcPct val="120000"/>
              </a:lnSpc>
              <a:buNone/>
            </a:pPr>
            <a:r>
              <a:rPr lang="ko-KR" sz="1300" dirty="0">
                <a:solidFill>
                  <a:srgbClr val="F5F1E4"/>
                </a:solidFill>
                <a:latin typeface="Malgun Gothic" pitchFamily="34" charset="0"/>
                <a:ea typeface="Malgun Gothic" pitchFamily="34" charset="-122"/>
                <a:cs typeface="Malgun Gothic" pitchFamily="34" charset="-120"/>
              </a:rPr>
              <a:t xml:space="preserve">'팁 줄게'(1천 달러·1조 달러로 실험) → 같은 연구에서 평균 효과 없음. 모델은 보상을 원하지 않음.</a:t>
            </a:r>
            <a:endParaRPr lang="ko-KR" sz="1300" dirty="0"/>
          </a:p>
        </p:txBody>
      </p:sp>
      <p:sp>
        <p:nvSpPr>
          <p:cNvPr id="13" name="Shape 10"/>
          <p:cNvSpPr/>
          <p:nvPr/>
        </p:nvSpPr>
        <p:spPr>
          <a:xfrm>
            <a:off x="8141208" y="1572768"/>
            <a:ext cx="3544824" cy="2743200"/>
          </a:xfrm>
          <a:prstGeom prst="roundRect">
            <a:avLst>
              <a:gd name="adj" fmla="val 1500"/>
            </a:avLst>
          </a:prstGeom>
          <a:solidFill>
            <a:srgbClr val="232016"/>
          </a:solidFill>
          <a:ln w="12700">
            <a:solidFill>
              <a:srgbClr val="4A4430"/>
            </a:solidFill>
            <a:prstDash val="solid"/>
          </a:ln>
        </p:spPr>
      </p:sp>
      <p:sp>
        <p:nvSpPr>
          <p:cNvPr id="14" name="Text 11"/>
          <p:cNvSpPr txBox="1"/>
          <p:nvPr/>
        </p:nvSpPr>
        <p:spPr>
          <a:xfrm>
            <a:off x="8342376" y="1737360"/>
            <a:ext cx="457200" cy="457200"/>
          </a:xfrm>
          <a:prstGeom prst="rect">
            <a:avLst/>
          </a:prstGeom>
          <a:noFill/>
          <a:ln/>
        </p:spPr>
        <p:txBody>
          <a:bodyPr wrap="square" lIns="0" tIns="0" rIns="0" bIns="0" rtlCol="0" anchor="ctr"/>
          <a:lstStyle/>
          <a:p>
            <a:pPr marL="0" indent="0">
              <a:buNone/>
            </a:pPr>
            <a:r>
              <a:rPr lang="en-US" sz="2000" b="1" dirty="0">
                <a:solidFill>
                  <a:srgbClr val="FF9B8A"/>
                </a:solidFill>
                <a:latin typeface="Malgun Gothic" pitchFamily="34" charset="0"/>
                <a:ea typeface="Malgun Gothic" pitchFamily="34" charset="-122"/>
                <a:cs typeface="Malgun Gothic" pitchFamily="34" charset="-120"/>
              </a:rPr>
              <a:t>✕</a:t>
            </a:r>
            <a:endParaRPr lang="en-US" sz="2000" dirty="0"/>
          </a:p>
        </p:txBody>
      </p:sp>
      <p:sp>
        <p:nvSpPr>
          <p:cNvPr id="15" name="Text 12"/>
          <p:cNvSpPr txBox="1"/>
          <p:nvPr/>
        </p:nvSpPr>
        <p:spPr>
          <a:xfrm>
            <a:off x="8342376" y="2249424"/>
            <a:ext cx="3142488" cy="685800"/>
          </a:xfrm>
          <a:prstGeom prst="rect">
            <a:avLst/>
          </a:prstGeom>
          <a:noFill/>
          <a:ln/>
        </p:spPr>
        <p:txBody>
          <a:bodyPr wrap="square" lIns="0" tIns="0" rIns="0" bIns="0" rtlCol="0" anchor="t"/>
          <a:lstStyle/>
          <a:p>
            <a:pPr marL="0" indent="0">
              <a:lnSpc>
                <a:spcPct val="115000"/>
              </a:lnSpc>
              <a:buNone/>
            </a:pPr>
            <a:r>
              <a:rPr lang="en-US" sz="1400" b="1" dirty="0">
                <a:solidFill>
                  <a:srgbClr val="FFFFFF"/>
                </a:solidFill>
                <a:latin typeface="Malgun Gothic" pitchFamily="34" charset="0"/>
                <a:ea typeface="Malgun Gothic" pitchFamily="34" charset="-122"/>
                <a:cs typeface="Malgun Gothic" pitchFamily="34" charset="-120"/>
              </a:rPr>
              <a:t>무조건 정중하게 / 무례하게</a:t>
            </a:r>
            <a:endParaRPr lang="en-US" sz="1400" dirty="0"/>
          </a:p>
        </p:txBody>
      </p:sp>
      <p:sp>
        <p:nvSpPr>
          <p:cNvPr id="16" name="Text 13"/>
          <p:cNvSpPr txBox="1"/>
          <p:nvPr/>
        </p:nvSpPr>
        <p:spPr>
          <a:xfrm>
            <a:off x="8342376" y="2999232"/>
            <a:ext cx="3142488" cy="1188720"/>
          </a:xfrm>
          <a:prstGeom prst="rect">
            <a:avLst/>
          </a:prstGeom>
          <a:noFill/>
          <a:ln/>
        </p:spPr>
        <p:txBody>
          <a:bodyPr wrap="square" lIns="0" tIns="0" rIns="0" bIns="0" rtlCol="0" anchor="t"/>
          <a:lstStyle/>
          <a:p>
            <a:pPr marL="0" indent="0">
              <a:lnSpc>
                <a:spcPct val="120000"/>
              </a:lnSpc>
              <a:buNone/>
            </a:pPr>
            <a:r>
              <a:rPr lang="en-US" sz="1300" dirty="0">
                <a:solidFill>
                  <a:srgbClr val="F5F1E4"/>
                </a:solidFill>
                <a:latin typeface="Malgun Gothic" pitchFamily="34" charset="0"/>
                <a:ea typeface="Malgun Gothic" pitchFamily="34" charset="-122"/>
                <a:cs typeface="Malgun Gothic" pitchFamily="34" charset="-120"/>
              </a:rPr>
              <a:t>예의 효과는 혼재·미미. 중요한 건 어조가 아니라 지시의 명확성.</a:t>
            </a:r>
            <a:endParaRPr lang="en-US" sz="1300" dirty="0"/>
          </a:p>
        </p:txBody>
      </p:sp>
      <p:sp>
        <p:nvSpPr>
          <p:cNvPr id="17" name="Shape 14"/>
          <p:cNvSpPr/>
          <p:nvPr/>
        </p:nvSpPr>
        <p:spPr>
          <a:xfrm>
            <a:off x="502920" y="4526280"/>
            <a:ext cx="11183112" cy="1051560"/>
          </a:xfrm>
          <a:prstGeom prst="roundRect">
            <a:avLst>
              <a:gd name="adj" fmla="val 3913"/>
            </a:avLst>
          </a:prstGeom>
          <a:solidFill>
            <a:srgbClr val="2B2719"/>
          </a:solidFill>
          <a:ln w="12700">
            <a:solidFill>
              <a:srgbClr val="4A4430"/>
            </a:solidFill>
            <a:prstDash val="solid"/>
          </a:ln>
        </p:spPr>
      </p:sp>
      <p:sp>
        <p:nvSpPr>
          <p:cNvPr id="18" name="Text 15"/>
          <p:cNvSpPr txBox="1"/>
          <p:nvPr/>
        </p:nvSpPr>
        <p:spPr>
          <a:xfrm>
            <a:off x="758952" y="4617720"/>
            <a:ext cx="10671048" cy="868680"/>
          </a:xfrm>
          <a:prstGeom prst="rect">
            <a:avLst/>
          </a:prstGeom>
          <a:noFill/>
          <a:ln/>
        </p:spPr>
        <p:txBody>
          <a:bodyPr wrap="square" lIns="0" tIns="0" rIns="0" bIns="0" rtlCol="0" anchor="ctr"/>
          <a:lstStyle/>
          <a:p>
            <a:pPr marL="0" indent="0">
              <a:lnSpc>
                <a:spcPct val="120000"/>
              </a:lnSpc>
              <a:buNone/>
            </a:pPr>
            <a:r>
              <a:rPr lang="ko-KR" sz="1350" dirty="0">
                <a:solidFill>
                  <a:srgbClr val="F5F1E4"/>
                </a:solidFill>
                <a:latin typeface="Malgun Gothic" pitchFamily="34" charset="0"/>
                <a:ea typeface="Malgun Gothic" pitchFamily="34" charset="-122"/>
                <a:cs typeface="Malgun Gothic" pitchFamily="34" charset="-120"/>
              </a:rPr>
              <a:t xml:space="preserve">Wharton 연구(2025.8, GPQA·MMLU-Pro): 협박·팁 모두 평균 성능 변화 없음. 문항별로는 오르내리지만 어느 쪽일지 예측할 수 없어 실무에 쓸 이유가 없음</a:t>
            </a:r>
            <a:endParaRPr lang="ko-KR" sz="1350" dirty="0"/>
          </a:p>
        </p:txBody>
      </p:sp>
      <p:sp>
        <p:nvSpPr>
          <p:cNvPr id="19" name="Shape 16"/>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20" name="Text 17"/>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모델을 사람처럼 회유하지 말고 도구처럼 명확히 지시 — 그 시간에 근거를 한 단락 더 붙이는 편이 유리</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8229600" y="1005840"/>
            <a:ext cx="3474720" cy="4754880"/>
          </a:xfrm>
          <a:prstGeom prst="rect">
            <a:avLst/>
          </a:prstGeom>
          <a:noFill/>
          <a:ln/>
        </p:spPr>
        <p:txBody>
          <a:bodyPr wrap="square" lIns="0" tIns="0" rIns="0" bIns="0" rtlCol="0" anchor="ctr"/>
          <a:lstStyle/>
          <a:p>
            <a:pPr marL="0" indent="0" algn="r">
              <a:buNone/>
            </a:pPr>
            <a:r>
              <a:rPr lang="en-US" sz="26000" b="1" dirty="0">
                <a:solidFill>
                  <a:srgbClr val="26221A"/>
                </a:solidFill>
                <a:latin typeface="Malgun Gothic" pitchFamily="34" charset="0"/>
                <a:ea typeface="Malgun Gothic" pitchFamily="34" charset="-122"/>
                <a:cs typeface="Malgun Gothic" pitchFamily="34" charset="-120"/>
              </a:rPr>
              <a:t>3</a:t>
            </a:r>
            <a:endParaRPr lang="en-US" sz="26000" dirty="0"/>
          </a:p>
        </p:txBody>
      </p:sp>
      <p:sp>
        <p:nvSpPr>
          <p:cNvPr id="3" name="Text 1"/>
          <p:cNvSpPr txBox="1"/>
          <p:nvPr/>
        </p:nvSpPr>
        <p:spPr>
          <a:xfrm>
            <a:off x="502920" y="2331720"/>
            <a:ext cx="8778240" cy="1554480"/>
          </a:xfrm>
          <a:prstGeom prst="rect">
            <a:avLst/>
          </a:prstGeom>
          <a:noFill/>
          <a:ln/>
        </p:spPr>
        <p:txBody>
          <a:bodyPr wrap="square" lIns="0" tIns="0" rIns="0" bIns="0" rtlCol="0" anchor="ctr"/>
          <a:lstStyle/>
          <a:p>
            <a:pPr marL="0" indent="0">
              <a:lnSpc>
                <a:spcPct val="115000"/>
              </a:lnSpc>
              <a:buNone/>
            </a:pPr>
            <a:r>
              <a:rPr lang="en-US" sz="3000" b="1" dirty="0">
                <a:solidFill>
                  <a:srgbClr val="FFFFFF"/>
                </a:solidFill>
                <a:latin typeface="Malgun Gothic" pitchFamily="34" charset="0"/>
                <a:ea typeface="Malgun Gothic" pitchFamily="34" charset="-122"/>
                <a:cs typeface="Malgun Gothic" pitchFamily="34" charset="-120"/>
              </a:rPr>
              <a:t>프롬프트 원리는 같으나,</a:t>
            </a:r>
            <a:endParaRPr lang="en-US" sz="3000" dirty="0"/>
          </a:p>
          <a:p>
            <a:pPr marL="0" indent="0">
              <a:lnSpc>
                <a:spcPct val="115000"/>
              </a:lnSpc>
              <a:buNone/>
            </a:pPr>
            <a:r>
              <a:rPr lang="en-US" sz="3000" b="1" dirty="0">
                <a:solidFill>
                  <a:srgbClr val="FFFFFF"/>
                </a:solidFill>
                <a:latin typeface="Malgun Gothic" pitchFamily="34" charset="0"/>
                <a:ea typeface="Malgun Gothic" pitchFamily="34" charset="-122"/>
                <a:cs typeface="Malgun Gothic" pitchFamily="34" charset="-120"/>
              </a:rPr>
              <a:t>서비스(모델)별로 최적화 방법 다소 차이</a:t>
            </a:r>
            <a:endParaRPr lang="en-US" sz="3000" dirty="0"/>
          </a:p>
        </p:txBody>
      </p:sp>
      <p:sp>
        <p:nvSpPr>
          <p:cNvPr id="4" name="Shape 2"/>
          <p:cNvSpPr/>
          <p:nvPr/>
        </p:nvSpPr>
        <p:spPr>
          <a:xfrm>
            <a:off x="502920" y="2057400"/>
            <a:ext cx="566928" cy="50292"/>
          </a:xfrm>
          <a:prstGeom prst="rect">
            <a:avLst/>
          </a:prstGeom>
          <a:solidFill>
            <a:srgbClr val="FFD733"/>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모델별 프롬프트 문법 차이</a:t>
            </a:r>
            <a:endParaRPr lang="ko-KR" sz="2100" dirty="0"/>
          </a:p>
        </p:txBody>
      </p:sp>
      <p:sp>
        <p:nvSpPr>
          <p:cNvPr id="4" name="Shape 1"/>
          <p:cNvSpPr/>
          <p:nvPr/>
        </p:nvSpPr>
        <p:spPr>
          <a:xfrm>
            <a:off x="502920" y="1600200"/>
            <a:ext cx="11183112" cy="1920240"/>
          </a:xfrm>
          <a:prstGeom prst="roundRect">
            <a:avLst>
              <a:gd name="adj" fmla="val 2143"/>
            </a:avLst>
          </a:prstGeom>
          <a:solidFill>
            <a:srgbClr val="232016"/>
          </a:solidFill>
          <a:ln w="12700">
            <a:solidFill>
              <a:srgbClr val="4A4430"/>
            </a:solidFill>
            <a:prstDash val="solid"/>
          </a:ln>
        </p:spPr>
      </p:sp>
      <p:sp>
        <p:nvSpPr>
          <p:cNvPr id="5" name="Text 2"/>
          <p:cNvSpPr txBox="1"/>
          <p:nvPr/>
        </p:nvSpPr>
        <p:spPr>
          <a:xfrm>
            <a:off x="777240" y="1783080"/>
            <a:ext cx="10634472" cy="1554480"/>
          </a:xfrm>
          <a:prstGeom prst="rect">
            <a:avLst/>
          </a:prstGeom>
          <a:noFill/>
          <a:ln/>
        </p:spPr>
        <p:txBody>
          <a:bodyPr wrap="square" lIns="0" tIns="0" rIns="0" bIns="0" rtlCol="0" anchor="ctr"/>
          <a:lstStyle/>
          <a:p>
            <a:pPr marL="0" indent="0">
              <a:lnSpc>
                <a:spcPct val="130000"/>
              </a:lnSpc>
              <a:buNone/>
            </a:pPr>
            <a:r>
              <a:rPr lang="ko-KR" sz="1500" b="1" dirty="0">
                <a:solidFill>
                  <a:srgbClr val="FFFFFF"/>
                </a:solidFill>
                <a:latin typeface="Malgun Gothic" pitchFamily="34" charset="0"/>
                <a:ea typeface="Malgun Gothic" pitchFamily="34" charset="-122"/>
                <a:cs typeface="Malgun Gothic" pitchFamily="34" charset="-120"/>
              </a:rPr>
              <a:t xml:space="preserve">모델별 입력 문법은 모델을 더 똑똑하게 만드는 것이 아니라, 지시를 오해 없이 전달해 가진 능력을 제대로 쓰게 하는 방법</a:t>
            </a:r>
            <a:endParaRPr lang="ko-KR" sz="1500" dirty="0"/>
          </a:p>
        </p:txBody>
      </p:sp>
      <p:sp>
        <p:nvSpPr>
          <p:cNvPr id="6" name="Shape 3"/>
          <p:cNvSpPr/>
          <p:nvPr/>
        </p:nvSpPr>
        <p:spPr>
          <a:xfrm>
            <a:off x="502920" y="3749040"/>
            <a:ext cx="11183112" cy="1417320"/>
          </a:xfrm>
          <a:prstGeom prst="roundRect">
            <a:avLst>
              <a:gd name="adj" fmla="val 2903"/>
            </a:avLst>
          </a:prstGeom>
          <a:solidFill>
            <a:srgbClr val="2B2719"/>
          </a:solidFill>
          <a:ln w="12700">
            <a:solidFill>
              <a:srgbClr val="4A4430"/>
            </a:solidFill>
            <a:prstDash val="solid"/>
          </a:ln>
        </p:spPr>
      </p:sp>
      <p:sp>
        <p:nvSpPr>
          <p:cNvPr id="7" name="Text 4"/>
          <p:cNvSpPr txBox="1"/>
          <p:nvPr/>
        </p:nvSpPr>
        <p:spPr>
          <a:xfrm>
            <a:off x="777240" y="3886200"/>
            <a:ext cx="10634472" cy="1143000"/>
          </a:xfrm>
          <a:prstGeom prst="rect">
            <a:avLst/>
          </a:prstGeom>
          <a:noFill/>
          <a:ln/>
        </p:spPr>
        <p:txBody>
          <a:bodyPr wrap="square" lIns="0" tIns="0" rIns="0" bIns="0" rtlCol="0" anchor="ctr"/>
          <a:lstStyle/>
          <a:p>
            <a:pPr marL="0" indent="0">
              <a:lnSpc>
                <a:spcPct val="125000"/>
              </a:lnSpc>
              <a:spcAft>
                <a:spcPts val="800"/>
              </a:spcAft>
              <a:buNone/>
            </a:pPr>
            <a:r>
              <a:rPr lang="ko-KR" sz="1400" dirty="0">
                <a:solidFill>
                  <a:srgbClr val="F5F1E4"/>
                </a:solidFill>
                <a:latin typeface="Malgun Gothic" pitchFamily="34" charset="0"/>
                <a:ea typeface="Malgun Gothic" pitchFamily="34" charset="-122"/>
                <a:cs typeface="Malgun Gothic" pitchFamily="34" charset="-120"/>
              </a:rPr>
              <a:t xml:space="preserve">다만 자동화 파이프라인(API 연동 등)을 만들 때는 모델에 맞춘 문법이 결과의 안정성에 도움이 될 수 있음</a:t>
            </a:r>
            <a:endParaRPr lang="ko-KR" sz="1400" dirty="0"/>
          </a:p>
          <a:p>
            <a:pPr marL="0" indent="0">
              <a:lnSpc>
                <a:spcPct val="125000"/>
              </a:lnSpc>
              <a:spcAft>
                <a:spcPts val="800"/>
              </a:spcAft>
              <a:buNone/>
            </a:pPr>
            <a:r>
              <a:rPr lang="ko-KR" sz="1400" dirty="0">
                <a:solidFill>
                  <a:srgbClr val="F5F1E4"/>
                </a:solidFill>
                <a:latin typeface="Malgun Gothic" pitchFamily="34" charset="0"/>
                <a:ea typeface="Malgun Gothic" pitchFamily="34" charset="-122"/>
                <a:cs typeface="Malgun Gothic" pitchFamily="34" charset="-120"/>
              </a:rPr>
              <a:t xml:space="preserve">세 회사 공식 가이드의 공통 권고: 지시는 명확·직접적으로, 과도한 강조 표현('CRITICAL', 'MUST')은 불필요</a:t>
            </a:r>
            <a:endParaRPr lang="ko-KR" sz="1400" dirty="0"/>
          </a:p>
        </p:txBody>
      </p:sp>
      <p:sp>
        <p:nvSpPr>
          <p:cNvPr id="8" name="Shape 5"/>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9" name="Text 6"/>
          <p:cNvSpPr txBox="1"/>
          <p:nvPr/>
        </p:nvSpPr>
        <p:spPr>
          <a:xfrm>
            <a:off x="758952" y="5779008"/>
            <a:ext cx="10671048" cy="566928"/>
          </a:xfrm>
          <a:prstGeom prst="rect">
            <a:avLst/>
          </a:prstGeom>
          <a:noFill/>
          <a:ln/>
        </p:spPr>
        <p:txBody>
          <a:bodyPr wrap="square" lIns="0" tIns="0" rIns="0" bIns="0" rtlCol="0" anchor="ctr"/>
          <a:lstStyle/>
          <a:p>
            <a:pPr marL="0" indent="0">
              <a:buNone/>
            </a:pPr>
            <a:r>
              <a:rPr lang="ko-KR" sz="1350" b="1" dirty="0">
                <a:solidFill>
                  <a:srgbClr val="FFDF57"/>
                </a:solidFill>
                <a:latin typeface="Malgun Gothic" pitchFamily="34" charset="0"/>
                <a:ea typeface="Malgun Gothic" pitchFamily="34" charset="-122"/>
                <a:cs typeface="Malgun Gothic" pitchFamily="34" charset="-120"/>
              </a:rPr>
              <a:t xml:space="preserve">작업이 복잡할수록 입력 문법을 맞춘 효과가 커짐</a:t>
            </a:r>
            <a:endParaRPr lang="ko-KR"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en-US" sz="2100" b="1" dirty="0">
                <a:solidFill>
                  <a:srgbClr val="FFDF57"/>
                </a:solidFill>
                <a:latin typeface="Malgun Gothic" pitchFamily="34" charset="0"/>
                <a:ea typeface="Malgun Gothic" pitchFamily="34" charset="-122"/>
                <a:cs typeface="Malgun Gothic" pitchFamily="34" charset="-120"/>
              </a:rPr>
              <a:t>프롬프트 내용은 같아도 입력 문법을 다르게 작성</a:t>
            </a:r>
            <a:endParaRPr lang="en-US"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en-US" sz="1350" dirty="0">
                <a:solidFill>
                  <a:srgbClr val="F5F1E4"/>
                </a:solidFill>
                <a:latin typeface="Malgun Gothic" pitchFamily="34" charset="0"/>
                <a:ea typeface="Malgun Gothic" pitchFamily="34" charset="-122"/>
                <a:cs typeface="Malgun Gothic" pitchFamily="34" charset="-120"/>
              </a:rPr>
              <a:t>과제: 붙임 보고서를 근거로 정책 시사점 3가지 요약 — '근거·인용·유보' 골격은 동일, 모델별로 포장만 다르게</a:t>
            </a:r>
            <a:endParaRPr lang="en-US" sz="1350" dirty="0"/>
          </a:p>
        </p:txBody>
      </p:sp>
      <p:sp>
        <p:nvSpPr>
          <p:cNvPr id="5" name="Shape 2"/>
          <p:cNvSpPr/>
          <p:nvPr/>
        </p:nvSpPr>
        <p:spPr>
          <a:xfrm>
            <a:off x="502920" y="1572768"/>
            <a:ext cx="3544824" cy="4023360"/>
          </a:xfrm>
          <a:prstGeom prst="roundRect">
            <a:avLst>
              <a:gd name="adj" fmla="val 1161"/>
            </a:avLst>
          </a:prstGeom>
          <a:solidFill>
            <a:srgbClr val="232016"/>
          </a:solidFill>
          <a:ln w="12700">
            <a:solidFill>
              <a:srgbClr val="4A4430"/>
            </a:solidFill>
            <a:prstDash val="solid"/>
          </a:ln>
        </p:spPr>
      </p:sp>
      <p:sp>
        <p:nvSpPr>
          <p:cNvPr id="6" name="Text 3"/>
          <p:cNvSpPr txBox="1"/>
          <p:nvPr/>
        </p:nvSpPr>
        <p:spPr>
          <a:xfrm>
            <a:off x="704088" y="1719072"/>
            <a:ext cx="3142488" cy="384048"/>
          </a:xfrm>
          <a:prstGeom prst="rect">
            <a:avLst/>
          </a:prstGeom>
          <a:noFill/>
          <a:ln/>
        </p:spPr>
        <p:txBody>
          <a:bodyPr wrap="square" lIns="0" tIns="0" rIns="0" bIns="0" rtlCol="0" anchor="ctr"/>
          <a:lstStyle/>
          <a:p>
            <a:pPr marL="0" indent="0">
              <a:buNone/>
            </a:pPr>
            <a:r>
              <a:rPr lang="en-US" sz="1600" b="1" dirty="0">
                <a:solidFill>
                  <a:srgbClr val="FFDF57"/>
                </a:solidFill>
                <a:latin typeface="Malgun Gothic" pitchFamily="34" charset="0"/>
                <a:ea typeface="Malgun Gothic" pitchFamily="34" charset="-122"/>
                <a:cs typeface="Malgun Gothic" pitchFamily="34" charset="-120"/>
              </a:rPr>
              <a:t>ChatGPT</a:t>
            </a:r>
            <a:endParaRPr lang="en-US" sz="1600" dirty="0"/>
          </a:p>
        </p:txBody>
      </p:sp>
      <p:sp>
        <p:nvSpPr>
          <p:cNvPr id="7" name="Text 4"/>
          <p:cNvSpPr txBox="1"/>
          <p:nvPr/>
        </p:nvSpPr>
        <p:spPr>
          <a:xfrm>
            <a:off x="704088" y="2121408"/>
            <a:ext cx="3142488" cy="347472"/>
          </a:xfrm>
          <a:prstGeom prst="rect">
            <a:avLst/>
          </a:prstGeom>
          <a:noFill/>
          <a:ln/>
        </p:spPr>
        <p:txBody>
          <a:bodyPr wrap="square" lIns="0" tIns="0" rIns="0" bIns="0" rtlCol="0" anchor="ctr"/>
          <a:lstStyle/>
          <a:p>
            <a:pPr marL="0" indent="0">
              <a:buNone/>
            </a:pPr>
            <a:r>
              <a:rPr lang="ko-KR" sz="1300" b="1" dirty="0">
                <a:solidFill>
                  <a:srgbClr val="FFD733"/>
                </a:solidFill>
                <a:latin typeface="Malgun Gothic" pitchFamily="34" charset="0"/>
                <a:ea typeface="Malgun Gothic" pitchFamily="34" charset="-122"/>
                <a:cs typeface="Malgun Gothic" pitchFamily="34" charset="-120"/>
              </a:rPr>
              <a:t xml:space="preserve">마크다운 # 구획 + 명령형 규칙</a:t>
            </a:r>
            <a:endParaRPr lang="ko-KR" sz="1300" dirty="0"/>
          </a:p>
        </p:txBody>
      </p:sp>
      <p:sp>
        <p:nvSpPr>
          <p:cNvPr id="8" name="Shape 5"/>
          <p:cNvSpPr/>
          <p:nvPr/>
        </p:nvSpPr>
        <p:spPr>
          <a:xfrm>
            <a:off x="704088" y="2596896"/>
            <a:ext cx="3142488" cy="2788920"/>
          </a:xfrm>
          <a:prstGeom prst="roundRect">
            <a:avLst>
              <a:gd name="adj" fmla="val 1475"/>
            </a:avLst>
          </a:prstGeom>
          <a:solidFill>
            <a:srgbClr val="1A1810"/>
          </a:solidFill>
          <a:ln w="12700">
            <a:solidFill>
              <a:srgbClr val="4A4430"/>
            </a:solidFill>
            <a:prstDash val="solid"/>
          </a:ln>
        </p:spPr>
      </p:sp>
      <p:sp>
        <p:nvSpPr>
          <p:cNvPr id="9" name="Text 6"/>
          <p:cNvSpPr txBox="1"/>
          <p:nvPr/>
        </p:nvSpPr>
        <p:spPr>
          <a:xfrm>
            <a:off x="850392" y="2724912"/>
            <a:ext cx="2849880" cy="2514600"/>
          </a:xfrm>
          <a:prstGeom prst="rect">
            <a:avLst/>
          </a:prstGeom>
          <a:noFill/>
          <a:ln/>
        </p:spPr>
        <p:txBody>
          <a:bodyPr wrap="square" lIns="0" tIns="0" rIns="0" bIns="0" rtlCol="0" anchor="t"/>
          <a:lstStyle/>
          <a:p>
            <a:pPr marL="0" indent="0">
              <a:lnSpc>
                <a:spcPct val="125000"/>
              </a:lnSpc>
              <a:buNone/>
            </a:pPr>
            <a:r>
              <a:rPr lang="ko-KR" sz="1300" dirty="0">
                <a:solidFill>
                  <a:srgbClr val="F5F1E4"/>
                </a:solidFill>
                <a:latin typeface="Malgun Gothic" pitchFamily="34" charset="0"/>
                <a:ea typeface="Malgun Gothic" pitchFamily="34" charset="-122"/>
                <a:cs typeface="Malgun Gothic" pitchFamily="34" charset="-120"/>
              </a:rPr>
              <a:t xml:space="preserve"># 역할  정책분석가</a:t>
            </a:r>
            <a:endParaRPr lang="ko-KR" sz="1300" dirty="0"/>
          </a:p>
          <a:p>
            <a:pPr marL="0" indent="0">
              <a:lnSpc>
                <a:spcPct val="125000"/>
              </a:lnSpc>
              <a:buNone/>
            </a:pPr>
            <a:r>
              <a:rPr lang="ko-KR" sz="1300" dirty="0">
                <a:solidFill>
                  <a:srgbClr val="F5F1E4"/>
                </a:solidFill>
                <a:latin typeface="Malgun Gothic" pitchFamily="34" charset="0"/>
                <a:ea typeface="Malgun Gothic" pitchFamily="34" charset="-122"/>
                <a:cs typeface="Malgun Gothic" pitchFamily="34" charset="-120"/>
              </a:rPr>
              <a:t xml:space="preserve"># 작업  아래 보고서만 근거로 시사점 3개, 각 2문장</a:t>
            </a:r>
            <a:endParaRPr lang="ko-KR" sz="1300" dirty="0"/>
          </a:p>
          <a:p>
            <a:pPr marL="0" indent="0">
              <a:lnSpc>
                <a:spcPct val="125000"/>
              </a:lnSpc>
              <a:buNone/>
            </a:pPr>
            <a:r>
              <a:rPr lang="ko-KR" sz="1300" dirty="0">
                <a:solidFill>
                  <a:srgbClr val="F5F1E4"/>
                </a:solidFill>
                <a:latin typeface="Malgun Gothic" pitchFamily="34" charset="0"/>
                <a:ea typeface="Malgun Gothic" pitchFamily="34" charset="-122"/>
                <a:cs typeface="Malgun Gothic" pitchFamily="34" charset="-120"/>
              </a:rPr>
              <a:t xml:space="preserve"># 규칙  각 항목 뒤 근거 인용 · 근거 없으면 '자료에 없음'</a:t>
            </a:r>
            <a:endParaRPr lang="ko-KR" sz="1300" dirty="0"/>
          </a:p>
        </p:txBody>
      </p:sp>
      <p:sp>
        <p:nvSpPr>
          <p:cNvPr id="10" name="Shape 7"/>
          <p:cNvSpPr/>
          <p:nvPr/>
        </p:nvSpPr>
        <p:spPr>
          <a:xfrm>
            <a:off x="4322064" y="1572768"/>
            <a:ext cx="3544824" cy="4023360"/>
          </a:xfrm>
          <a:prstGeom prst="roundRect">
            <a:avLst>
              <a:gd name="adj" fmla="val 1161"/>
            </a:avLst>
          </a:prstGeom>
          <a:solidFill>
            <a:srgbClr val="232016"/>
          </a:solidFill>
          <a:ln w="12700">
            <a:solidFill>
              <a:srgbClr val="4A4430"/>
            </a:solidFill>
            <a:prstDash val="solid"/>
          </a:ln>
        </p:spPr>
      </p:sp>
      <p:sp>
        <p:nvSpPr>
          <p:cNvPr id="11" name="Text 8"/>
          <p:cNvSpPr txBox="1"/>
          <p:nvPr/>
        </p:nvSpPr>
        <p:spPr>
          <a:xfrm>
            <a:off x="4523232" y="1719072"/>
            <a:ext cx="3142488" cy="384048"/>
          </a:xfrm>
          <a:prstGeom prst="rect">
            <a:avLst/>
          </a:prstGeom>
          <a:noFill/>
          <a:ln/>
        </p:spPr>
        <p:txBody>
          <a:bodyPr wrap="square" lIns="0" tIns="0" rIns="0" bIns="0" rtlCol="0" anchor="ctr"/>
          <a:lstStyle/>
          <a:p>
            <a:pPr marL="0" indent="0">
              <a:buNone/>
            </a:pPr>
            <a:r>
              <a:rPr lang="en-US" sz="1600" b="1" dirty="0">
                <a:solidFill>
                  <a:srgbClr val="FFDF57"/>
                </a:solidFill>
                <a:latin typeface="Malgun Gothic" pitchFamily="34" charset="0"/>
                <a:ea typeface="Malgun Gothic" pitchFamily="34" charset="-122"/>
                <a:cs typeface="Malgun Gothic" pitchFamily="34" charset="-120"/>
              </a:rPr>
              <a:t>Gemini</a:t>
            </a:r>
            <a:endParaRPr lang="en-US" sz="1600" dirty="0"/>
          </a:p>
        </p:txBody>
      </p:sp>
      <p:sp>
        <p:nvSpPr>
          <p:cNvPr id="12" name="Text 9"/>
          <p:cNvSpPr txBox="1"/>
          <p:nvPr/>
        </p:nvSpPr>
        <p:spPr>
          <a:xfrm>
            <a:off x="4523232" y="2121408"/>
            <a:ext cx="3142488" cy="347472"/>
          </a:xfrm>
          <a:prstGeom prst="rect">
            <a:avLst/>
          </a:prstGeom>
          <a:noFill/>
          <a:ln/>
        </p:spPr>
        <p:txBody>
          <a:bodyPr wrap="square" lIns="0" tIns="0" rIns="0" bIns="0" rtlCol="0" anchor="ctr"/>
          <a:lstStyle/>
          <a:p>
            <a:pPr marL="0" indent="0">
              <a:buNone/>
            </a:pPr>
            <a:r>
              <a:rPr lang="ko-KR" sz="1300" b="1" dirty="0">
                <a:solidFill>
                  <a:srgbClr val="FFD733"/>
                </a:solidFill>
                <a:latin typeface="Malgun Gothic" pitchFamily="34" charset="0"/>
                <a:ea typeface="Malgun Gothic" pitchFamily="34" charset="-122"/>
                <a:cs typeface="Malgun Gothic" pitchFamily="34" charset="-120"/>
              </a:rPr>
              <a:t xml:space="preserve">4칸 구성 + @파일로 근거 지정</a:t>
            </a:r>
            <a:endParaRPr lang="ko-KR" sz="1300" dirty="0"/>
          </a:p>
        </p:txBody>
      </p:sp>
      <p:sp>
        <p:nvSpPr>
          <p:cNvPr id="13" name="Shape 10"/>
          <p:cNvSpPr/>
          <p:nvPr/>
        </p:nvSpPr>
        <p:spPr>
          <a:xfrm>
            <a:off x="4523232" y="2596896"/>
            <a:ext cx="3142488" cy="2788920"/>
          </a:xfrm>
          <a:prstGeom prst="roundRect">
            <a:avLst>
              <a:gd name="adj" fmla="val 1475"/>
            </a:avLst>
          </a:prstGeom>
          <a:solidFill>
            <a:srgbClr val="1A1810"/>
          </a:solidFill>
          <a:ln w="12700">
            <a:solidFill>
              <a:srgbClr val="4A4430"/>
            </a:solidFill>
            <a:prstDash val="solid"/>
          </a:ln>
        </p:spPr>
      </p:sp>
      <p:sp>
        <p:nvSpPr>
          <p:cNvPr id="14" name="Text 11"/>
          <p:cNvSpPr txBox="1"/>
          <p:nvPr/>
        </p:nvSpPr>
        <p:spPr>
          <a:xfrm>
            <a:off x="4669536" y="2724912"/>
            <a:ext cx="2849880" cy="2514600"/>
          </a:xfrm>
          <a:prstGeom prst="rect">
            <a:avLst/>
          </a:prstGeom>
          <a:noFill/>
          <a:ln/>
        </p:spPr>
        <p:txBody>
          <a:bodyPr wrap="square" lIns="0" tIns="0" rIns="0" bIns="0" rtlCol="0" anchor="t"/>
          <a:lstStyle/>
          <a:p>
            <a:pPr marL="0" indent="0">
              <a:lnSpc>
                <a:spcPct val="125000"/>
              </a:lnSpc>
              <a:buNone/>
            </a:pPr>
            <a:r>
              <a:rPr lang="en-US" sz="1300" dirty="0">
                <a:solidFill>
                  <a:srgbClr val="F5F1E4"/>
                </a:solidFill>
                <a:latin typeface="Malgun Gothic" pitchFamily="34" charset="0"/>
                <a:ea typeface="Malgun Gothic" pitchFamily="34" charset="-122"/>
                <a:cs typeface="Malgun Gothic" pitchFamily="34" charset="-120"/>
              </a:rPr>
              <a:t>[역할] 정책분석가</a:t>
            </a:r>
            <a:endParaRPr lang="en-US" sz="1300" dirty="0"/>
          </a:p>
          <a:p>
            <a:pPr marL="0" indent="0">
              <a:lnSpc>
                <a:spcPct val="125000"/>
              </a:lnSpc>
              <a:buNone/>
            </a:pPr>
            <a:r>
              <a:rPr lang="en-US" sz="1300" dirty="0">
                <a:solidFill>
                  <a:srgbClr val="F5F1E4"/>
                </a:solidFill>
                <a:latin typeface="Malgun Gothic" pitchFamily="34" charset="0"/>
                <a:ea typeface="Malgun Gothic" pitchFamily="34" charset="-122"/>
                <a:cs typeface="Malgun Gothic" pitchFamily="34" charset="-120"/>
              </a:rPr>
              <a:t>[과제] 시사점 3개</a:t>
            </a:r>
            <a:endParaRPr lang="en-US" sz="1300" dirty="0"/>
          </a:p>
          <a:p>
            <a:pPr marL="0" indent="0">
              <a:lnSpc>
                <a:spcPct val="125000"/>
              </a:lnSpc>
              <a:buNone/>
            </a:pPr>
            <a:r>
              <a:rPr lang="en-US" sz="1300" dirty="0">
                <a:solidFill>
                  <a:srgbClr val="F5F1E4"/>
                </a:solidFill>
                <a:latin typeface="Malgun Gothic" pitchFamily="34" charset="0"/>
                <a:ea typeface="Malgun Gothic" pitchFamily="34" charset="-122"/>
                <a:cs typeface="Malgun Gothic" pitchFamily="34" charset="-120"/>
              </a:rPr>
              <a:t>[맥락] @보고서.pdf 내용만</a:t>
            </a:r>
            <a:endParaRPr lang="en-US" sz="1300" dirty="0"/>
          </a:p>
          <a:p>
            <a:pPr marL="0" indent="0">
              <a:lnSpc>
                <a:spcPct val="125000"/>
              </a:lnSpc>
              <a:buNone/>
            </a:pPr>
            <a:r>
              <a:rPr lang="en-US" sz="1300" dirty="0">
                <a:solidFill>
                  <a:srgbClr val="F5F1E4"/>
                </a:solidFill>
                <a:latin typeface="Malgun Gothic" pitchFamily="34" charset="0"/>
                <a:ea typeface="Malgun Gothic" pitchFamily="34" charset="-122"/>
                <a:cs typeface="Malgun Gothic" pitchFamily="34" charset="-120"/>
              </a:rPr>
              <a:t>[형식] 번호 목록·각 1~2문장.</a:t>
            </a:r>
            <a:endParaRPr lang="en-US" sz="1300" dirty="0"/>
          </a:p>
          <a:p>
            <a:pPr marL="0" indent="0">
              <a:lnSpc>
                <a:spcPct val="125000"/>
              </a:lnSpc>
              <a:buNone/>
            </a:pPr>
            <a:r>
              <a:rPr lang="en-US" sz="1300" dirty="0">
                <a:solidFill>
                  <a:srgbClr val="F5F1E4"/>
                </a:solidFill>
                <a:latin typeface="Malgun Gothic" pitchFamily="34" charset="0"/>
                <a:ea typeface="Malgun Gothic" pitchFamily="34" charset="-122"/>
                <a:cs typeface="Malgun Gothic" pitchFamily="34" charset="-120"/>
              </a:rPr>
              <a:t>[검증] 항목마다 근거 인용, 근거 없으면 '자료에 없음'</a:t>
            </a:r>
            <a:endParaRPr lang="en-US" sz="1300" dirty="0"/>
          </a:p>
        </p:txBody>
      </p:sp>
      <p:sp>
        <p:nvSpPr>
          <p:cNvPr id="15" name="Shape 12"/>
          <p:cNvSpPr/>
          <p:nvPr/>
        </p:nvSpPr>
        <p:spPr>
          <a:xfrm>
            <a:off x="8141208" y="1572768"/>
            <a:ext cx="3544824" cy="4023360"/>
          </a:xfrm>
          <a:prstGeom prst="roundRect">
            <a:avLst>
              <a:gd name="adj" fmla="val 1161"/>
            </a:avLst>
          </a:prstGeom>
          <a:solidFill>
            <a:srgbClr val="232016"/>
          </a:solidFill>
          <a:ln w="12700">
            <a:solidFill>
              <a:srgbClr val="4A4430"/>
            </a:solidFill>
            <a:prstDash val="solid"/>
          </a:ln>
        </p:spPr>
      </p:sp>
      <p:sp>
        <p:nvSpPr>
          <p:cNvPr id="16" name="Text 13"/>
          <p:cNvSpPr txBox="1"/>
          <p:nvPr/>
        </p:nvSpPr>
        <p:spPr>
          <a:xfrm>
            <a:off x="8342376" y="1719072"/>
            <a:ext cx="3142488" cy="384048"/>
          </a:xfrm>
          <a:prstGeom prst="rect">
            <a:avLst/>
          </a:prstGeom>
          <a:noFill/>
          <a:ln/>
        </p:spPr>
        <p:txBody>
          <a:bodyPr wrap="square" lIns="0" tIns="0" rIns="0" bIns="0" rtlCol="0" anchor="ctr"/>
          <a:lstStyle/>
          <a:p>
            <a:pPr marL="0" indent="0">
              <a:buNone/>
            </a:pPr>
            <a:r>
              <a:rPr lang="en-US" sz="1600" b="1" dirty="0">
                <a:solidFill>
                  <a:srgbClr val="FFDF57"/>
                </a:solidFill>
                <a:latin typeface="Malgun Gothic" pitchFamily="34" charset="0"/>
                <a:ea typeface="Malgun Gothic" pitchFamily="34" charset="-122"/>
                <a:cs typeface="Malgun Gothic" pitchFamily="34" charset="-120"/>
              </a:rPr>
              <a:t>Claude</a:t>
            </a:r>
            <a:endParaRPr lang="en-US" sz="1600" dirty="0"/>
          </a:p>
        </p:txBody>
      </p:sp>
      <p:sp>
        <p:nvSpPr>
          <p:cNvPr id="17" name="Text 14"/>
          <p:cNvSpPr txBox="1"/>
          <p:nvPr/>
        </p:nvSpPr>
        <p:spPr>
          <a:xfrm>
            <a:off x="8342376" y="2121408"/>
            <a:ext cx="3142488" cy="347472"/>
          </a:xfrm>
          <a:prstGeom prst="rect">
            <a:avLst/>
          </a:prstGeom>
          <a:noFill/>
          <a:ln/>
        </p:spPr>
        <p:txBody>
          <a:bodyPr wrap="square" lIns="0" tIns="0" rIns="0" bIns="0" rtlCol="0" anchor="ctr"/>
          <a:lstStyle/>
          <a:p>
            <a:pPr marL="0" indent="0">
              <a:buNone/>
            </a:pPr>
            <a:r>
              <a:rPr lang="en-US" sz="1300" b="1" dirty="0">
                <a:solidFill>
                  <a:srgbClr val="FFD733"/>
                </a:solidFill>
                <a:latin typeface="Malgun Gothic" pitchFamily="34" charset="0"/>
                <a:ea typeface="Malgun Gothic" pitchFamily="34" charset="-122"/>
                <a:cs typeface="Malgun Gothic" pitchFamily="34" charset="-120"/>
              </a:rPr>
              <a:t>XML 태그 + 인용 먼저</a:t>
            </a:r>
            <a:endParaRPr lang="en-US" sz="1300" dirty="0"/>
          </a:p>
        </p:txBody>
      </p:sp>
      <p:sp>
        <p:nvSpPr>
          <p:cNvPr id="18" name="Shape 15"/>
          <p:cNvSpPr/>
          <p:nvPr/>
        </p:nvSpPr>
        <p:spPr>
          <a:xfrm>
            <a:off x="8342376" y="2596896"/>
            <a:ext cx="3142488" cy="2788920"/>
          </a:xfrm>
          <a:prstGeom prst="roundRect">
            <a:avLst>
              <a:gd name="adj" fmla="val 1475"/>
            </a:avLst>
          </a:prstGeom>
          <a:solidFill>
            <a:srgbClr val="1A1810"/>
          </a:solidFill>
          <a:ln w="12700">
            <a:solidFill>
              <a:srgbClr val="4A4430"/>
            </a:solidFill>
            <a:prstDash val="solid"/>
          </a:ln>
        </p:spPr>
      </p:sp>
      <p:sp>
        <p:nvSpPr>
          <p:cNvPr id="19" name="Text 16"/>
          <p:cNvSpPr txBox="1"/>
          <p:nvPr/>
        </p:nvSpPr>
        <p:spPr>
          <a:xfrm>
            <a:off x="8488680" y="2724912"/>
            <a:ext cx="2849880" cy="2514600"/>
          </a:xfrm>
          <a:prstGeom prst="rect">
            <a:avLst/>
          </a:prstGeom>
          <a:noFill/>
          <a:ln/>
        </p:spPr>
        <p:txBody>
          <a:bodyPr wrap="square" lIns="0" tIns="0" rIns="0" bIns="0" rtlCol="0" anchor="t"/>
          <a:lstStyle/>
          <a:p>
            <a:pPr marL="0" indent="0">
              <a:lnSpc>
                <a:spcPct val="125000"/>
              </a:lnSpc>
              <a:buNone/>
            </a:pPr>
            <a:r>
              <a:rPr lang="en-US" sz="1300" dirty="0">
                <a:solidFill>
                  <a:srgbClr val="F5F1E4"/>
                </a:solidFill>
                <a:latin typeface="Malgun Gothic" pitchFamily="34" charset="0"/>
                <a:ea typeface="Malgun Gothic" pitchFamily="34" charset="-122"/>
                <a:cs typeface="Malgun Gothic" pitchFamily="34" charset="-120"/>
              </a:rPr>
              <a:t>&lt;doc&gt;에 보고서, 먼저 관련 구절을 &lt;quotes&gt;에 인용, 그 근거로만 &lt;answer&gt;에 시사점 3개.</a:t>
            </a:r>
            <a:endParaRPr lang="en-US" sz="1300" dirty="0"/>
          </a:p>
          <a:p>
            <a:pPr marL="0" indent="0">
              <a:lnSpc>
                <a:spcPct val="125000"/>
              </a:lnSpc>
              <a:buNone/>
            </a:pPr>
            <a:r>
              <a:rPr lang="en-US" sz="1300" dirty="0">
                <a:solidFill>
                  <a:srgbClr val="F5F1E4"/>
                </a:solidFill>
                <a:latin typeface="Malgun Gothic" pitchFamily="34" charset="0"/>
                <a:ea typeface="Malgun Gothic" pitchFamily="34" charset="-122"/>
                <a:cs typeface="Malgun Gothic" pitchFamily="34" charset="-120"/>
              </a:rPr>
              <a:t>근거 없으면 '자료에 없음'.</a:t>
            </a:r>
            <a:endParaRPr lang="en-US" sz="1300" dirty="0"/>
          </a:p>
        </p:txBody>
      </p:sp>
      <p:sp>
        <p:nvSpPr>
          <p:cNvPr id="20" name="Shape 17"/>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21" name="Text 18"/>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표현은 다르지만 핵심 원리(근거 한정 · 인용 · 유보)는 셋 다 동일 — 입력 문법으로 포장만 교체</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실습 5-1 · 모델별 최적화 문법 변환 — ChatGPT</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en-US" sz="1350" dirty="0">
                <a:solidFill>
                  <a:srgbClr val="F5F1E4"/>
                </a:solidFill>
                <a:latin typeface="Malgun Gothic" pitchFamily="34" charset="0"/>
                <a:ea typeface="Malgun Gothic" pitchFamily="34" charset="-122"/>
                <a:cs typeface="Malgun Gothic" pitchFamily="34" charset="-120"/>
              </a:rPr>
              <a:t>예시 문장: “직장인을 위한 비타민 영양제 출시 마케팅 문구를 3개 작성해 줘. 타깃은 30대 직장인이고, 피로 회복과 간편함을 강조해 줘”</a:t>
            </a:r>
            <a:endParaRPr lang="en-US" sz="1350" dirty="0"/>
          </a:p>
        </p:txBody>
      </p:sp>
      <p:sp>
        <p:nvSpPr>
          <p:cNvPr id="5" name="Shape 2"/>
          <p:cNvSpPr/>
          <p:nvPr/>
        </p:nvSpPr>
        <p:spPr>
          <a:xfrm>
            <a:off x="502920" y="1517904"/>
            <a:ext cx="7589520" cy="4114800"/>
          </a:xfrm>
          <a:prstGeom prst="roundRect">
            <a:avLst>
              <a:gd name="adj" fmla="val 1000"/>
            </a:avLst>
          </a:prstGeom>
          <a:solidFill>
            <a:srgbClr val="1A1810"/>
          </a:solidFill>
          <a:ln w="12700">
            <a:solidFill>
              <a:srgbClr val="FFD733"/>
            </a:solidFill>
            <a:prstDash val="solid"/>
          </a:ln>
        </p:spPr>
      </p:sp>
      <p:sp>
        <p:nvSpPr>
          <p:cNvPr id="6" name="Text 3"/>
          <p:cNvSpPr txBox="1"/>
          <p:nvPr/>
        </p:nvSpPr>
        <p:spPr>
          <a:xfrm>
            <a:off x="685800" y="1645920"/>
            <a:ext cx="7223760" cy="3858768"/>
          </a:xfrm>
          <a:prstGeom prst="rect">
            <a:avLst/>
          </a:prstGeom>
          <a:noFill/>
          <a:ln/>
        </p:spPr>
        <p:txBody>
          <a:bodyPr wrap="square" lIns="0" tIns="0" rIns="0" bIns="0" rtlCol="0" anchor="t"/>
          <a:lstStyle/>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역할  너는 유능한 카피라이터야.</a:t>
            </a:r>
            <a:endParaRPr lang="en-US" sz="1300" dirty="0"/>
          </a:p>
          <a:p>
            <a:pPr marL="0" indent="0">
              <a:lnSpc>
                <a:spcPct val="118000"/>
              </a:lnSpc>
              <a:buNone/>
            </a:pP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작업  30대 직장인을 위한 새로운 비타민 영양제 마케팅 카피를 작성해 줘.</a:t>
            </a:r>
            <a:endParaRPr lang="en-US" sz="1300" dirty="0"/>
          </a:p>
          <a:p>
            <a:pPr marL="0" indent="0">
              <a:lnSpc>
                <a:spcPct val="118000"/>
              </a:lnSpc>
              <a:buNone/>
            </a:pP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조건</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핵심 셀링 포인트: 피로 회복, 복용의 간편함</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출력 개수: 3개</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어조: 신뢰감을 주면서도 트렌디한 톤앤매너</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근거: 첨부한 제품 설명서에 있는 성분·효과만 사용 (없는 효능은 쓰지 말 것)</a:t>
            </a:r>
            <a:endParaRPr lang="en-US" sz="1300" dirty="0"/>
          </a:p>
          <a:p>
            <a:pPr marL="0" indent="0">
              <a:lnSpc>
                <a:spcPct val="118000"/>
              </a:lnSpc>
              <a:buNone/>
            </a:pP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출력 형식  1. [카피 제목] - 설명</a:t>
            </a:r>
            <a:endParaRPr lang="en-US" sz="1300" dirty="0"/>
          </a:p>
        </p:txBody>
      </p:sp>
      <p:sp>
        <p:nvSpPr>
          <p:cNvPr id="7" name="Shape 4"/>
          <p:cNvSpPr/>
          <p:nvPr/>
        </p:nvSpPr>
        <p:spPr>
          <a:xfrm>
            <a:off x="8412480" y="1517904"/>
            <a:ext cx="3273552" cy="4114800"/>
          </a:xfrm>
          <a:prstGeom prst="roundRect">
            <a:avLst>
              <a:gd name="adj" fmla="val 1257"/>
            </a:avLst>
          </a:prstGeom>
          <a:solidFill>
            <a:srgbClr val="2B2719"/>
          </a:solidFill>
          <a:ln w="12700">
            <a:solidFill>
              <a:srgbClr val="4A4430"/>
            </a:solidFill>
            <a:prstDash val="solid"/>
          </a:ln>
        </p:spPr>
      </p:sp>
      <p:sp>
        <p:nvSpPr>
          <p:cNvPr id="8" name="Text 5"/>
          <p:cNvSpPr txBox="1"/>
          <p:nvPr/>
        </p:nvSpPr>
        <p:spPr>
          <a:xfrm>
            <a:off x="8631936" y="1700784"/>
            <a:ext cx="2834640" cy="384048"/>
          </a:xfrm>
          <a:prstGeom prst="rect">
            <a:avLst/>
          </a:prstGeom>
          <a:noFill/>
          <a:ln/>
        </p:spPr>
        <p:txBody>
          <a:bodyPr wrap="square" lIns="0" tIns="0" rIns="0" bIns="0" rtlCol="0" anchor="ctr"/>
          <a:lstStyle/>
          <a:p>
            <a:pPr marL="0" indent="0">
              <a:buNone/>
            </a:pPr>
            <a:r>
              <a:rPr lang="en-US" sz="1500" b="1" dirty="0">
                <a:solidFill>
                  <a:srgbClr val="FFDF57"/>
                </a:solidFill>
                <a:latin typeface="Malgun Gothic" pitchFamily="34" charset="0"/>
                <a:ea typeface="Malgun Gothic" pitchFamily="34" charset="-122"/>
                <a:cs typeface="Malgun Gothic" pitchFamily="34" charset="-120"/>
              </a:rPr>
              <a:t>ChatGPT 쓰면</a:t>
            </a:r>
            <a:endParaRPr lang="en-US" sz="1500" dirty="0"/>
          </a:p>
        </p:txBody>
      </p:sp>
      <p:sp>
        <p:nvSpPr>
          <p:cNvPr id="9" name="Text 6"/>
          <p:cNvSpPr txBox="1"/>
          <p:nvPr/>
        </p:nvSpPr>
        <p:spPr>
          <a:xfrm>
            <a:off x="8631936" y="2194560"/>
            <a:ext cx="2834640" cy="3200400"/>
          </a:xfrm>
          <a:prstGeom prst="rect">
            <a:avLst/>
          </a:prstGeom>
          <a:noFill/>
          <a:ln/>
        </p:spPr>
        <p:txBody>
          <a:bodyPr wrap="square" lIns="0" tIns="0" rIns="0" bIns="0" rtlCol="0" anchor="t"/>
          <a:lstStyle/>
          <a:p>
            <a:pPr marL="0" indent="0">
              <a:lnSpc>
                <a:spcPct val="125000"/>
              </a:lnSpc>
              <a:buNone/>
            </a:pPr>
            <a:r>
              <a:rPr lang="ko-KR" sz="1350" dirty="0">
                <a:solidFill>
                  <a:srgbClr val="F5F1E4"/>
                </a:solidFill>
                <a:latin typeface="Malgun Gothic" pitchFamily="34" charset="0"/>
                <a:ea typeface="Malgun Gothic" pitchFamily="34" charset="-122"/>
                <a:cs typeface="Malgun Gothic" pitchFamily="34" charset="-120"/>
              </a:rPr>
              <a:t xml:space="preserve"># 제목으로 역할·작업·조건·출력 형식을 구획하고, 조건은 '-' 목록으로 짧게 정리 (OpenAI 공식 가이드 예시와 같은 형식)</a:t>
            </a:r>
            <a:endParaRPr lang="ko-KR" sz="1350" dirty="0"/>
          </a:p>
        </p:txBody>
      </p:sp>
      <p:sp>
        <p:nvSpPr>
          <p:cNvPr id="10" name="Shape 7"/>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1" name="Text 8"/>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핵심 원리는 그대로, 각 모델이 가장 잘 읽는 형태로 재포장</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실습 5-2 · 모델별 최적화 문법 변환 — Gemini</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en-US" sz="1350" dirty="0">
                <a:solidFill>
                  <a:srgbClr val="F5F1E4"/>
                </a:solidFill>
                <a:latin typeface="Malgun Gothic" pitchFamily="34" charset="0"/>
                <a:ea typeface="Malgun Gothic" pitchFamily="34" charset="-122"/>
                <a:cs typeface="Malgun Gothic" pitchFamily="34" charset="-120"/>
              </a:rPr>
              <a:t>예시 문장: “직장인을 위한 비타민 영양제 출시 마케팅 문구를 3개 작성해 줘. 타깃은 30대 직장인이고, 피로 회복과 간편함을 강조해 줘”</a:t>
            </a:r>
            <a:endParaRPr lang="en-US" sz="1350" dirty="0"/>
          </a:p>
        </p:txBody>
      </p:sp>
      <p:sp>
        <p:nvSpPr>
          <p:cNvPr id="5" name="Shape 2"/>
          <p:cNvSpPr/>
          <p:nvPr/>
        </p:nvSpPr>
        <p:spPr>
          <a:xfrm>
            <a:off x="502920" y="1517904"/>
            <a:ext cx="7589520" cy="4114800"/>
          </a:xfrm>
          <a:prstGeom prst="roundRect">
            <a:avLst>
              <a:gd name="adj" fmla="val 1000"/>
            </a:avLst>
          </a:prstGeom>
          <a:solidFill>
            <a:srgbClr val="1A1810"/>
          </a:solidFill>
          <a:ln w="12700">
            <a:solidFill>
              <a:srgbClr val="FFD733"/>
            </a:solidFill>
            <a:prstDash val="solid"/>
          </a:ln>
        </p:spPr>
      </p:sp>
      <p:sp>
        <p:nvSpPr>
          <p:cNvPr id="6" name="Text 3"/>
          <p:cNvSpPr txBox="1"/>
          <p:nvPr/>
        </p:nvSpPr>
        <p:spPr>
          <a:xfrm>
            <a:off x="685800" y="1645920"/>
            <a:ext cx="7223760" cy="3858768"/>
          </a:xfrm>
          <a:prstGeom prst="rect">
            <a:avLst/>
          </a:prstGeom>
          <a:noFill/>
          <a:ln/>
        </p:spPr>
        <p:txBody>
          <a:bodyPr wrap="square" lIns="0" tIns="0" rIns="0" bIns="0" rtlCol="0" anchor="t"/>
          <a:lstStyle/>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[역할] 너는 데이터 기반의 카피라이터 및 마케팅 전문가야.</a:t>
            </a:r>
            <a:endParaRPr lang="en-US" sz="1300" dirty="0"/>
          </a:p>
          <a:p>
            <a:pPr marL="0" indent="0">
              <a:lnSpc>
                <a:spcPct val="118000"/>
              </a:lnSpc>
              <a:buNone/>
            </a:pP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[과제] 제공된 제품 정보를 바탕으로 30대 직장인을 타깃으로 한 비타민 영양제 마케팅 카피를 3개 작성해 줘.</a:t>
            </a:r>
            <a:endParaRPr lang="en-US" sz="1300" dirty="0"/>
          </a:p>
          <a:p>
            <a:pPr marL="0" indent="0">
              <a:lnSpc>
                <a:spcPct val="118000"/>
              </a:lnSpc>
              <a:buNone/>
            </a:pP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[맥락]</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자료: @제품상세내역.pdf (또는 텍스트 붙여넣기)</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제약 조건: 반드시 위 [맥락] 자료에 포함된 성분과 효과만 사용. 자료에 없는 가상의 효능이나 사실을 절대 지어내지 말 것.</a:t>
            </a:r>
            <a:endParaRPr lang="en-US" sz="1300" dirty="0"/>
          </a:p>
          <a:p>
            <a:pPr marL="0" indent="0">
              <a:lnSpc>
                <a:spcPct val="118000"/>
              </a:lnSpc>
              <a:buNone/>
            </a:pP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[형식] 카피는 아래 형식으로 출력.</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카피 1: [문구 내용] (이유: 맥락 속 어떤 정보를 활용했는지 기재)</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카피 2: [문구 내용] (이유: …)</a:t>
            </a:r>
            <a:endParaRPr lang="en-US" sz="1300" dirty="0"/>
          </a:p>
        </p:txBody>
      </p:sp>
      <p:sp>
        <p:nvSpPr>
          <p:cNvPr id="7" name="Shape 4"/>
          <p:cNvSpPr/>
          <p:nvPr/>
        </p:nvSpPr>
        <p:spPr>
          <a:xfrm>
            <a:off x="8412480" y="1517904"/>
            <a:ext cx="3273552" cy="4114800"/>
          </a:xfrm>
          <a:prstGeom prst="roundRect">
            <a:avLst>
              <a:gd name="adj" fmla="val 1257"/>
            </a:avLst>
          </a:prstGeom>
          <a:solidFill>
            <a:srgbClr val="2B2719"/>
          </a:solidFill>
          <a:ln w="12700">
            <a:solidFill>
              <a:srgbClr val="4A4430"/>
            </a:solidFill>
            <a:prstDash val="solid"/>
          </a:ln>
        </p:spPr>
      </p:sp>
      <p:sp>
        <p:nvSpPr>
          <p:cNvPr id="8" name="Text 5"/>
          <p:cNvSpPr txBox="1"/>
          <p:nvPr/>
        </p:nvSpPr>
        <p:spPr>
          <a:xfrm>
            <a:off x="8631936" y="1700784"/>
            <a:ext cx="2834640" cy="384048"/>
          </a:xfrm>
          <a:prstGeom prst="rect">
            <a:avLst/>
          </a:prstGeom>
          <a:noFill/>
          <a:ln/>
        </p:spPr>
        <p:txBody>
          <a:bodyPr wrap="square" lIns="0" tIns="0" rIns="0" bIns="0" rtlCol="0" anchor="ctr"/>
          <a:lstStyle/>
          <a:p>
            <a:pPr marL="0" indent="0">
              <a:buNone/>
            </a:pPr>
            <a:r>
              <a:rPr lang="en-US" sz="1500" b="1" dirty="0">
                <a:solidFill>
                  <a:srgbClr val="FFDF57"/>
                </a:solidFill>
                <a:latin typeface="Malgun Gothic" pitchFamily="34" charset="0"/>
                <a:ea typeface="Malgun Gothic" pitchFamily="34" charset="-122"/>
                <a:cs typeface="Malgun Gothic" pitchFamily="34" charset="-120"/>
              </a:rPr>
              <a:t>Gemini 쓰면</a:t>
            </a:r>
            <a:endParaRPr lang="en-US" sz="1500" dirty="0"/>
          </a:p>
        </p:txBody>
      </p:sp>
      <p:sp>
        <p:nvSpPr>
          <p:cNvPr id="9" name="Text 6"/>
          <p:cNvSpPr txBox="1"/>
          <p:nvPr/>
        </p:nvSpPr>
        <p:spPr>
          <a:xfrm>
            <a:off x="8631936" y="2194560"/>
            <a:ext cx="2834640" cy="3200400"/>
          </a:xfrm>
          <a:prstGeom prst="rect">
            <a:avLst/>
          </a:prstGeom>
          <a:noFill/>
          <a:ln/>
        </p:spPr>
        <p:txBody>
          <a:bodyPr wrap="square" lIns="0" tIns="0" rIns="0" bIns="0" rtlCol="0" anchor="t"/>
          <a:lstStyle/>
          <a:p>
            <a:pPr marL="0" indent="0">
              <a:lnSpc>
                <a:spcPct val="125000"/>
              </a:lnSpc>
              <a:buNone/>
            </a:pPr>
            <a:r>
              <a:rPr lang="en-US" sz="1350" dirty="0">
                <a:solidFill>
                  <a:srgbClr val="F5F1E4"/>
                </a:solidFill>
                <a:latin typeface="Malgun Gothic" pitchFamily="34" charset="0"/>
                <a:ea typeface="Malgun Gothic" pitchFamily="34" charset="-122"/>
                <a:cs typeface="Malgun Gothic" pitchFamily="34" charset="-120"/>
              </a:rPr>
              <a:t>[역할][과제][맥락][형식] 4칸으로 재배치, 자료는 @파일/붙여넣기로 '제공한 맥락만 사용' 명시</a:t>
            </a:r>
            <a:endParaRPr lang="en-US" sz="1350" dirty="0"/>
          </a:p>
        </p:txBody>
      </p:sp>
      <p:sp>
        <p:nvSpPr>
          <p:cNvPr id="10" name="Shape 7"/>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1" name="Text 8"/>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핵심 원리는 그대로, 각 모델이 가장 잘 읽는 형태로 재포장</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실습 5-3 · 모델별 최적화 문법 변환 — Claude</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en-US" sz="1350" dirty="0">
                <a:solidFill>
                  <a:srgbClr val="F5F1E4"/>
                </a:solidFill>
                <a:latin typeface="Malgun Gothic" pitchFamily="34" charset="0"/>
                <a:ea typeface="Malgun Gothic" pitchFamily="34" charset="-122"/>
                <a:cs typeface="Malgun Gothic" pitchFamily="34" charset="-120"/>
              </a:rPr>
              <a:t>예시 문장: “직장인을 위한 비타민 영양제 출시 마케팅 문구를 3개 작성해 줘. 타깃은 30대 직장인이고, 피로 회복과 간편함을 강조해 줘”</a:t>
            </a:r>
            <a:endParaRPr lang="en-US" sz="1350" dirty="0"/>
          </a:p>
        </p:txBody>
      </p:sp>
      <p:sp>
        <p:nvSpPr>
          <p:cNvPr id="5" name="Shape 2"/>
          <p:cNvSpPr/>
          <p:nvPr/>
        </p:nvSpPr>
        <p:spPr>
          <a:xfrm>
            <a:off x="502920" y="1517904"/>
            <a:ext cx="7589520" cy="4114800"/>
          </a:xfrm>
          <a:prstGeom prst="roundRect">
            <a:avLst>
              <a:gd name="adj" fmla="val 1000"/>
            </a:avLst>
          </a:prstGeom>
          <a:solidFill>
            <a:srgbClr val="1A1810"/>
          </a:solidFill>
          <a:ln w="12700">
            <a:solidFill>
              <a:srgbClr val="FFD733"/>
            </a:solidFill>
            <a:prstDash val="solid"/>
          </a:ln>
        </p:spPr>
      </p:sp>
      <p:sp>
        <p:nvSpPr>
          <p:cNvPr id="6" name="Text 3"/>
          <p:cNvSpPr txBox="1"/>
          <p:nvPr/>
        </p:nvSpPr>
        <p:spPr>
          <a:xfrm>
            <a:off x="685800" y="1645920"/>
            <a:ext cx="7223760" cy="3858768"/>
          </a:xfrm>
          <a:prstGeom prst="rect">
            <a:avLst/>
          </a:prstGeom>
          <a:noFill/>
          <a:ln/>
        </p:spPr>
        <p:txBody>
          <a:bodyPr wrap="square" lIns="0" tIns="0" rIns="0" bIns="0" rtlCol="0" anchor="t"/>
          <a:lstStyle/>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너는 브랜드 마케팅 전문가야. 다음 지시 사항과 가이드라인을 바탕으로 마케팅 카피를 작성해 줘.</a:t>
            </a:r>
            <a:endParaRPr lang="en-US" sz="1300" dirty="0"/>
          </a:p>
          <a:p>
            <a:pPr marL="0" indent="0">
              <a:lnSpc>
                <a:spcPct val="118000"/>
              </a:lnSpc>
              <a:buNone/>
            </a:pP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&lt;context&gt;</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타깃: 30대 직장인</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제품: 비타민 영양제</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핵심 가치: 피로 회복, 간편함</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 자료: 첨부한 제품 설명서</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&lt;/context&gt;</a:t>
            </a:r>
            <a:endParaRPr lang="en-US" sz="1300" dirty="0"/>
          </a:p>
          <a:p>
            <a:pPr marL="0" indent="0">
              <a:lnSpc>
                <a:spcPct val="118000"/>
              </a:lnSpc>
              <a:buNone/>
            </a:pP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&lt;instructions&gt;</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1. 위의 &lt;context&gt; 정보를 반영하여 마케팅 문구를 정확히 3개 생성할 것.</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2. 각 문구는 30대 직장인의 피로한 일상에 공감하는 내용으로 시작할 것.</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3. 너무 과장된 표현은 지양하고 담백하게 작성할 것.</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4. 제품 설명서에 없는 효능은 쓰지 말 것.</a:t>
            </a:r>
            <a:endParaRPr lang="en-US" sz="1300" dirty="0"/>
          </a:p>
          <a:p>
            <a:pPr marL="0" indent="0">
              <a:lnSpc>
                <a:spcPct val="118000"/>
              </a:lnSpc>
              <a:buNone/>
            </a:pPr>
            <a:r>
              <a:rPr lang="en-US" sz="1300" dirty="0">
                <a:solidFill>
                  <a:srgbClr val="F5F1E4"/>
                </a:solidFill>
                <a:latin typeface="Malgun Gothic" pitchFamily="34" charset="0"/>
                <a:ea typeface="Malgun Gothic" pitchFamily="34" charset="-122"/>
                <a:cs typeface="Malgun Gothic" pitchFamily="34" charset="-120"/>
              </a:rPr>
              <a:t>&lt;/instructions&gt;</a:t>
            </a:r>
            <a:endParaRPr lang="en-US" sz="1300" dirty="0"/>
          </a:p>
        </p:txBody>
      </p:sp>
      <p:sp>
        <p:nvSpPr>
          <p:cNvPr id="7" name="Shape 4"/>
          <p:cNvSpPr/>
          <p:nvPr/>
        </p:nvSpPr>
        <p:spPr>
          <a:xfrm>
            <a:off x="8412480" y="1517904"/>
            <a:ext cx="3273552" cy="4114800"/>
          </a:xfrm>
          <a:prstGeom prst="roundRect">
            <a:avLst>
              <a:gd name="adj" fmla="val 1257"/>
            </a:avLst>
          </a:prstGeom>
          <a:solidFill>
            <a:srgbClr val="2B2719"/>
          </a:solidFill>
          <a:ln w="12700">
            <a:solidFill>
              <a:srgbClr val="4A4430"/>
            </a:solidFill>
            <a:prstDash val="solid"/>
          </a:ln>
        </p:spPr>
      </p:sp>
      <p:sp>
        <p:nvSpPr>
          <p:cNvPr id="8" name="Text 5"/>
          <p:cNvSpPr txBox="1"/>
          <p:nvPr/>
        </p:nvSpPr>
        <p:spPr>
          <a:xfrm>
            <a:off x="8631936" y="1700784"/>
            <a:ext cx="2834640" cy="384048"/>
          </a:xfrm>
          <a:prstGeom prst="rect">
            <a:avLst/>
          </a:prstGeom>
          <a:noFill/>
          <a:ln/>
        </p:spPr>
        <p:txBody>
          <a:bodyPr wrap="square" lIns="0" tIns="0" rIns="0" bIns="0" rtlCol="0" anchor="ctr"/>
          <a:lstStyle/>
          <a:p>
            <a:pPr marL="0" indent="0">
              <a:buNone/>
            </a:pPr>
            <a:r>
              <a:rPr lang="en-US" sz="1500" b="1" dirty="0">
                <a:solidFill>
                  <a:srgbClr val="FFDF57"/>
                </a:solidFill>
                <a:latin typeface="Malgun Gothic" pitchFamily="34" charset="0"/>
                <a:ea typeface="Malgun Gothic" pitchFamily="34" charset="-122"/>
                <a:cs typeface="Malgun Gothic" pitchFamily="34" charset="-120"/>
              </a:rPr>
              <a:t>Claude 쓰면</a:t>
            </a:r>
            <a:endParaRPr lang="en-US" sz="1500" dirty="0"/>
          </a:p>
        </p:txBody>
      </p:sp>
      <p:sp>
        <p:nvSpPr>
          <p:cNvPr id="9" name="Text 6"/>
          <p:cNvSpPr txBox="1"/>
          <p:nvPr/>
        </p:nvSpPr>
        <p:spPr>
          <a:xfrm>
            <a:off x="8631936" y="2194560"/>
            <a:ext cx="2834640" cy="3200400"/>
          </a:xfrm>
          <a:prstGeom prst="rect">
            <a:avLst/>
          </a:prstGeom>
          <a:noFill/>
          <a:ln/>
        </p:spPr>
        <p:txBody>
          <a:bodyPr wrap="square" lIns="0" tIns="0" rIns="0" bIns="0" rtlCol="0" anchor="t"/>
          <a:lstStyle/>
          <a:p>
            <a:pPr marL="0" indent="0">
              <a:lnSpc>
                <a:spcPct val="125000"/>
              </a:lnSpc>
              <a:buNone/>
            </a:pPr>
            <a:r>
              <a:rPr lang="en-US" sz="1350" dirty="0">
                <a:solidFill>
                  <a:srgbClr val="F5F1E4"/>
                </a:solidFill>
                <a:latin typeface="Malgun Gothic" pitchFamily="34" charset="0"/>
                <a:ea typeface="Malgun Gothic" pitchFamily="34" charset="-122"/>
                <a:cs typeface="Malgun Gothic" pitchFamily="34" charset="-120"/>
              </a:rPr>
              <a:t>&lt;context&gt; &lt;instructions&gt; 태그로 구획하고, 지시를 번호로 명확화</a:t>
            </a:r>
            <a:endParaRPr lang="en-US" sz="1350" dirty="0"/>
          </a:p>
        </p:txBody>
      </p:sp>
      <p:sp>
        <p:nvSpPr>
          <p:cNvPr id="10" name="Shape 7"/>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1" name="Text 8"/>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핵심 원리는 그대로, 각 모델이 가장 잘 읽는 형태로 재포장</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8229600" y="1005840"/>
            <a:ext cx="3474720" cy="4754880"/>
          </a:xfrm>
          <a:prstGeom prst="rect">
            <a:avLst/>
          </a:prstGeom>
          <a:noFill/>
          <a:ln/>
        </p:spPr>
        <p:txBody>
          <a:bodyPr wrap="square" lIns="0" tIns="0" rIns="0" bIns="0" rtlCol="0" anchor="ctr"/>
          <a:lstStyle/>
          <a:p>
            <a:pPr marL="0" indent="0" algn="r">
              <a:buNone/>
            </a:pPr>
            <a:r>
              <a:rPr lang="en-US" sz="26000" b="1" dirty="0">
                <a:solidFill>
                  <a:srgbClr val="26221A"/>
                </a:solidFill>
                <a:latin typeface="Malgun Gothic" pitchFamily="34" charset="0"/>
                <a:ea typeface="Malgun Gothic" pitchFamily="34" charset="-122"/>
                <a:cs typeface="Malgun Gothic" pitchFamily="34" charset="-120"/>
              </a:rPr>
              <a:t>4</a:t>
            </a:r>
            <a:endParaRPr lang="en-US" sz="26000" dirty="0"/>
          </a:p>
        </p:txBody>
      </p:sp>
      <p:sp>
        <p:nvSpPr>
          <p:cNvPr id="3" name="Text 1"/>
          <p:cNvSpPr txBox="1"/>
          <p:nvPr/>
        </p:nvSpPr>
        <p:spPr>
          <a:xfrm>
            <a:off x="502920" y="2331720"/>
            <a:ext cx="8778240" cy="1554480"/>
          </a:xfrm>
          <a:prstGeom prst="rect">
            <a:avLst/>
          </a:prstGeom>
          <a:noFill/>
          <a:ln/>
        </p:spPr>
        <p:txBody>
          <a:bodyPr wrap="square" lIns="0" tIns="0" rIns="0" bIns="0" rtlCol="0" anchor="ctr"/>
          <a:lstStyle/>
          <a:p>
            <a:pPr marL="0" indent="0">
              <a:lnSpc>
                <a:spcPct val="115000"/>
              </a:lnSpc>
              <a:buNone/>
            </a:pPr>
            <a:r>
              <a:rPr lang="en-US" sz="3000" b="1" dirty="0">
                <a:solidFill>
                  <a:srgbClr val="FFFFFF"/>
                </a:solidFill>
                <a:latin typeface="Malgun Gothic" pitchFamily="34" charset="0"/>
                <a:ea typeface="Malgun Gothic" pitchFamily="34" charset="-122"/>
                <a:cs typeface="Malgun Gothic" pitchFamily="34" charset="-120"/>
              </a:rPr>
              <a:t>부록</a:t>
            </a:r>
            <a:endParaRPr lang="en-US" sz="3000" dirty="0"/>
          </a:p>
        </p:txBody>
      </p:sp>
      <p:sp>
        <p:nvSpPr>
          <p:cNvPr id="4" name="Text 2"/>
          <p:cNvSpPr txBox="1"/>
          <p:nvPr/>
        </p:nvSpPr>
        <p:spPr>
          <a:xfrm>
            <a:off x="502920" y="3977640"/>
            <a:ext cx="8778240" cy="822960"/>
          </a:xfrm>
          <a:prstGeom prst="rect">
            <a:avLst/>
          </a:prstGeom>
          <a:noFill/>
          <a:ln/>
        </p:spPr>
        <p:txBody>
          <a:bodyPr wrap="square" lIns="0" tIns="0" rIns="0" bIns="0" rtlCol="0" anchor="t"/>
          <a:lstStyle/>
          <a:p>
            <a:pPr marL="0" indent="0">
              <a:lnSpc>
                <a:spcPct val="120000"/>
              </a:lnSpc>
              <a:buNone/>
            </a:pPr>
            <a:r>
              <a:rPr lang="ko-KR" sz="1400" dirty="0">
                <a:solidFill>
                  <a:srgbClr val="D4CEC0"/>
                </a:solidFill>
                <a:latin typeface="Malgun Gothic" pitchFamily="34" charset="0"/>
                <a:ea typeface="Malgun Gothic" pitchFamily="34" charset="-122"/>
                <a:cs typeface="Malgun Gothic" pitchFamily="34" charset="-120"/>
              </a:rPr>
              <a:t xml:space="preserve">복사해서 바로 쓰는 템플릿</a:t>
            </a:r>
            <a:endParaRPr lang="ko-KR" sz="1400" dirty="0"/>
          </a:p>
        </p:txBody>
      </p:sp>
      <p:sp>
        <p:nvSpPr>
          <p:cNvPr id="5" name="Shape 3"/>
          <p:cNvSpPr/>
          <p:nvPr/>
        </p:nvSpPr>
        <p:spPr>
          <a:xfrm>
            <a:off x="502920" y="2057400"/>
            <a:ext cx="566928" cy="50292"/>
          </a:xfrm>
          <a:prstGeom prst="rect">
            <a:avLst/>
          </a:prstGeom>
          <a:solidFill>
            <a:srgbClr val="FFD733"/>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en-US" sz="2100" b="1" dirty="0">
                <a:solidFill>
                  <a:srgbClr val="FFDF57"/>
                </a:solidFill>
                <a:latin typeface="Malgun Gothic" pitchFamily="34" charset="0"/>
                <a:ea typeface="Malgun Gothic" pitchFamily="34" charset="-122"/>
                <a:cs typeface="Malgun Gothic" pitchFamily="34" charset="-120"/>
              </a:rPr>
              <a:t>복사용 템플릿 ① 정책보고서 요약 (행정직)</a:t>
            </a:r>
            <a:endParaRPr lang="en-US"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en-US" sz="1350" dirty="0">
                <a:solidFill>
                  <a:srgbClr val="F5F1E4"/>
                </a:solidFill>
                <a:latin typeface="Malgun Gothic" pitchFamily="34" charset="0"/>
                <a:ea typeface="Malgun Gothic" pitchFamily="34" charset="-122"/>
                <a:cs typeface="Malgun Gothic" pitchFamily="34" charset="-120"/>
              </a:rPr>
              <a:t>인용 먼저 · 근거 한정 · '없으면 없음' — 행정직이 가장 자주 쓰는 골격</a:t>
            </a:r>
            <a:endParaRPr lang="en-US" sz="1350" dirty="0"/>
          </a:p>
        </p:txBody>
      </p:sp>
      <p:sp>
        <p:nvSpPr>
          <p:cNvPr id="5" name="Text 2"/>
          <p:cNvSpPr txBox="1"/>
          <p:nvPr/>
        </p:nvSpPr>
        <p:spPr>
          <a:xfrm>
            <a:off x="502920" y="1463040"/>
            <a:ext cx="6949440" cy="347472"/>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복사용 템플릿</a:t>
            </a:r>
            <a:endParaRPr lang="en-US" sz="1400" dirty="0"/>
          </a:p>
        </p:txBody>
      </p:sp>
      <p:sp>
        <p:nvSpPr>
          <p:cNvPr id="6" name="Shape 3"/>
          <p:cNvSpPr/>
          <p:nvPr/>
        </p:nvSpPr>
        <p:spPr>
          <a:xfrm>
            <a:off x="502920" y="1847088"/>
            <a:ext cx="6949440" cy="3749040"/>
          </a:xfrm>
          <a:prstGeom prst="roundRect">
            <a:avLst>
              <a:gd name="adj" fmla="val 1098"/>
            </a:avLst>
          </a:prstGeom>
          <a:solidFill>
            <a:srgbClr val="1A1810"/>
          </a:solidFill>
          <a:ln w="12700">
            <a:solidFill>
              <a:srgbClr val="FFD733"/>
            </a:solidFill>
            <a:prstDash val="solid"/>
          </a:ln>
        </p:spPr>
      </p:sp>
      <p:sp>
        <p:nvSpPr>
          <p:cNvPr id="7" name="Text 4"/>
          <p:cNvSpPr txBox="1"/>
          <p:nvPr/>
        </p:nvSpPr>
        <p:spPr>
          <a:xfrm>
            <a:off x="685800" y="1975104"/>
            <a:ext cx="6583680" cy="3493008"/>
          </a:xfrm>
          <a:prstGeom prst="rect">
            <a:avLst/>
          </a:prstGeom>
          <a:noFill/>
          <a:ln/>
        </p:spPr>
        <p:txBody>
          <a:bodyPr wrap="square" lIns="0" tIns="0" rIns="0" bIns="0" rtlCol="0" anchor="t"/>
          <a:lstStyle/>
          <a:p>
            <a:pPr marL="0" indent="0">
              <a:lnSpc>
                <a:spcPct val="140000"/>
              </a:lnSpc>
              <a:buNone/>
            </a:pPr>
            <a:r>
              <a:rPr lang="en-US" sz="1400" dirty="0">
                <a:solidFill>
                  <a:srgbClr val="F5F1E4"/>
                </a:solidFill>
                <a:latin typeface="Malgun Gothic" pitchFamily="34" charset="0"/>
                <a:ea typeface="Malgun Gothic" pitchFamily="34" charset="-122"/>
                <a:cs typeface="Malgun Gothic" pitchFamily="34" charset="-120"/>
              </a:rPr>
              <a:t>당신은 신중한 정책분석가입니다. 아래 보고서만 근거로 답하세요. 외부 지식은 쓰지 마세요.</a:t>
            </a:r>
            <a:endParaRPr lang="en-US" sz="1400" dirty="0"/>
          </a:p>
          <a:p>
            <a:pPr marL="0" indent="0">
              <a:lnSpc>
                <a:spcPct val="140000"/>
              </a:lnSpc>
              <a:buNone/>
            </a:pPr>
            <a:r>
              <a:rPr lang="en-US" sz="1400" dirty="0">
                <a:solidFill>
                  <a:srgbClr val="F5F1E4"/>
                </a:solidFill>
                <a:latin typeface="Malgun Gothic" pitchFamily="34" charset="0"/>
                <a:ea typeface="Malgun Gothic" pitchFamily="34" charset="-122"/>
                <a:cs typeface="Malgun Gothic" pitchFamily="34" charset="-120"/>
              </a:rPr>
              <a:t>1) 핵심 주장을 원문 그대로 인용.</a:t>
            </a:r>
            <a:endParaRPr lang="en-US" sz="1400" dirty="0"/>
          </a:p>
          <a:p>
            <a:pPr marL="0" indent="0">
              <a:lnSpc>
                <a:spcPct val="140000"/>
              </a:lnSpc>
              <a:buNone/>
            </a:pPr>
            <a:r>
              <a:rPr lang="en-US" sz="1400" dirty="0">
                <a:solidFill>
                  <a:srgbClr val="F5F1E4"/>
                </a:solidFill>
                <a:latin typeface="Malgun Gothic" pitchFamily="34" charset="0"/>
                <a:ea typeface="Malgun Gothic" pitchFamily="34" charset="-122"/>
                <a:cs typeface="Malgun Gothic" pitchFamily="34" charset="-120"/>
              </a:rPr>
              <a:t>2) 그 인용에 근거해 시사점 3가지를 각 2문장으로.</a:t>
            </a:r>
            <a:endParaRPr lang="en-US" sz="1400" dirty="0"/>
          </a:p>
          <a:p>
            <a:pPr marL="0" indent="0">
              <a:lnSpc>
                <a:spcPct val="140000"/>
              </a:lnSpc>
              <a:buNone/>
            </a:pPr>
            <a:r>
              <a:rPr lang="en-US" sz="1400" dirty="0">
                <a:solidFill>
                  <a:srgbClr val="F5F1E4"/>
                </a:solidFill>
                <a:latin typeface="Malgun Gothic" pitchFamily="34" charset="0"/>
                <a:ea typeface="Malgun Gothic" pitchFamily="34" charset="-122"/>
                <a:cs typeface="Malgun Gothic" pitchFamily="34" charset="-120"/>
              </a:rPr>
              <a:t>3) 근거가 없는 내용은 '자료에 없음'으로 표기.</a:t>
            </a:r>
            <a:endParaRPr lang="en-US" sz="1400" dirty="0"/>
          </a:p>
          <a:p>
            <a:pPr marL="0" indent="0">
              <a:lnSpc>
                <a:spcPct val="140000"/>
              </a:lnSpc>
              <a:buNone/>
            </a:pPr>
            <a:r>
              <a:rPr lang="en-US" sz="1400" dirty="0">
                <a:solidFill>
                  <a:srgbClr val="F5F1E4"/>
                </a:solidFill>
                <a:latin typeface="Malgun Gothic" pitchFamily="34" charset="0"/>
                <a:ea typeface="Malgun Gothic" pitchFamily="34" charset="-122"/>
                <a:cs typeface="Malgun Gothic" pitchFamily="34" charset="-120"/>
              </a:rPr>
              <a:t>[보고서] 여기에 붙여넣기</a:t>
            </a:r>
            <a:endParaRPr lang="en-US" sz="1400" dirty="0"/>
          </a:p>
        </p:txBody>
      </p:sp>
      <p:sp>
        <p:nvSpPr>
          <p:cNvPr id="8" name="Text 5"/>
          <p:cNvSpPr txBox="1"/>
          <p:nvPr/>
        </p:nvSpPr>
        <p:spPr>
          <a:xfrm>
            <a:off x="7772400" y="1463040"/>
            <a:ext cx="3913632" cy="347472"/>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왜 통하나</a:t>
            </a:r>
            <a:endParaRPr lang="en-US" sz="1400" dirty="0"/>
          </a:p>
        </p:txBody>
      </p:sp>
      <p:sp>
        <p:nvSpPr>
          <p:cNvPr id="9" name="Shape 6"/>
          <p:cNvSpPr/>
          <p:nvPr/>
        </p:nvSpPr>
        <p:spPr>
          <a:xfrm>
            <a:off x="7772400" y="1847088"/>
            <a:ext cx="3913632" cy="1115568"/>
          </a:xfrm>
          <a:prstGeom prst="roundRect">
            <a:avLst>
              <a:gd name="adj" fmla="val 3689"/>
            </a:avLst>
          </a:prstGeom>
          <a:solidFill>
            <a:srgbClr val="232016"/>
          </a:solidFill>
          <a:ln w="12700">
            <a:solidFill>
              <a:srgbClr val="4A4430"/>
            </a:solidFill>
            <a:prstDash val="solid"/>
          </a:ln>
        </p:spPr>
      </p:sp>
      <p:sp>
        <p:nvSpPr>
          <p:cNvPr id="10" name="Text 7"/>
          <p:cNvSpPr txBox="1"/>
          <p:nvPr/>
        </p:nvSpPr>
        <p:spPr>
          <a:xfrm>
            <a:off x="7973568" y="1993392"/>
            <a:ext cx="3511296" cy="365760"/>
          </a:xfrm>
          <a:prstGeom prst="rect">
            <a:avLst/>
          </a:prstGeom>
          <a:noFill/>
          <a:ln/>
        </p:spPr>
        <p:txBody>
          <a:bodyPr wrap="square" lIns="0" tIns="0" rIns="0" bIns="0" rtlCol="0" anchor="ctr"/>
          <a:lstStyle/>
          <a:p>
            <a:pPr marL="0" indent="0">
              <a:buNone/>
            </a:pPr>
            <a:r>
              <a:rPr lang="en-US" sz="1400" b="1" dirty="0">
                <a:solidFill>
                  <a:srgbClr val="FFFFFF"/>
                </a:solidFill>
                <a:latin typeface="Malgun Gothic" pitchFamily="34" charset="0"/>
                <a:ea typeface="Malgun Gothic" pitchFamily="34" charset="-122"/>
                <a:cs typeface="Malgun Gothic" pitchFamily="34" charset="-120"/>
              </a:rPr>
              <a:t>근거만 사용</a:t>
            </a:r>
            <a:endParaRPr lang="en-US" sz="1400" dirty="0"/>
          </a:p>
        </p:txBody>
      </p:sp>
      <p:sp>
        <p:nvSpPr>
          <p:cNvPr id="11" name="Text 8"/>
          <p:cNvSpPr txBox="1"/>
          <p:nvPr/>
        </p:nvSpPr>
        <p:spPr>
          <a:xfrm>
            <a:off x="7973568" y="2395728"/>
            <a:ext cx="3511296" cy="411480"/>
          </a:xfrm>
          <a:prstGeom prst="rect">
            <a:avLst/>
          </a:prstGeom>
          <a:noFill/>
          <a:ln/>
        </p:spPr>
        <p:txBody>
          <a:bodyPr wrap="square" lIns="0" tIns="0" rIns="0" bIns="0" rtlCol="0" anchor="t"/>
          <a:lstStyle/>
          <a:p>
            <a:pPr marL="0" indent="0">
              <a:buNone/>
            </a:pPr>
            <a:r>
              <a:rPr lang="en-US" sz="1350" dirty="0">
                <a:solidFill>
                  <a:srgbClr val="FFDF57"/>
                </a:solidFill>
                <a:latin typeface="Malgun Gothic" pitchFamily="34" charset="0"/>
                <a:ea typeface="Malgun Gothic" pitchFamily="34" charset="-122"/>
                <a:cs typeface="Malgun Gothic" pitchFamily="34" charset="-120"/>
              </a:rPr>
              <a:t>→ 날조 차단</a:t>
            </a:r>
            <a:endParaRPr lang="en-US" sz="1350" dirty="0"/>
          </a:p>
        </p:txBody>
      </p:sp>
      <p:sp>
        <p:nvSpPr>
          <p:cNvPr id="12" name="Shape 9"/>
          <p:cNvSpPr/>
          <p:nvPr/>
        </p:nvSpPr>
        <p:spPr>
          <a:xfrm>
            <a:off x="7772400" y="3145536"/>
            <a:ext cx="3913632" cy="1115568"/>
          </a:xfrm>
          <a:prstGeom prst="roundRect">
            <a:avLst>
              <a:gd name="adj" fmla="val 3689"/>
            </a:avLst>
          </a:prstGeom>
          <a:solidFill>
            <a:srgbClr val="232016"/>
          </a:solidFill>
          <a:ln w="12700">
            <a:solidFill>
              <a:srgbClr val="4A4430"/>
            </a:solidFill>
            <a:prstDash val="solid"/>
          </a:ln>
        </p:spPr>
      </p:sp>
      <p:sp>
        <p:nvSpPr>
          <p:cNvPr id="13" name="Text 10"/>
          <p:cNvSpPr txBox="1"/>
          <p:nvPr/>
        </p:nvSpPr>
        <p:spPr>
          <a:xfrm>
            <a:off x="7973568" y="3291840"/>
            <a:ext cx="3511296" cy="365760"/>
          </a:xfrm>
          <a:prstGeom prst="rect">
            <a:avLst/>
          </a:prstGeom>
          <a:noFill/>
          <a:ln/>
        </p:spPr>
        <p:txBody>
          <a:bodyPr wrap="square" lIns="0" tIns="0" rIns="0" bIns="0" rtlCol="0" anchor="ctr"/>
          <a:lstStyle/>
          <a:p>
            <a:pPr marL="0" indent="0">
              <a:buNone/>
            </a:pPr>
            <a:r>
              <a:rPr lang="en-US" sz="1400" b="1" dirty="0">
                <a:solidFill>
                  <a:srgbClr val="FFFFFF"/>
                </a:solidFill>
                <a:latin typeface="Malgun Gothic" pitchFamily="34" charset="0"/>
                <a:ea typeface="Malgun Gothic" pitchFamily="34" charset="-122"/>
                <a:cs typeface="Malgun Gothic" pitchFamily="34" charset="-120"/>
              </a:rPr>
              <a:t>인용 먼저</a:t>
            </a:r>
            <a:endParaRPr lang="en-US" sz="1400" dirty="0"/>
          </a:p>
        </p:txBody>
      </p:sp>
      <p:sp>
        <p:nvSpPr>
          <p:cNvPr id="14" name="Text 11"/>
          <p:cNvSpPr txBox="1"/>
          <p:nvPr/>
        </p:nvSpPr>
        <p:spPr>
          <a:xfrm>
            <a:off x="7973568" y="3694176"/>
            <a:ext cx="3511296" cy="411480"/>
          </a:xfrm>
          <a:prstGeom prst="rect">
            <a:avLst/>
          </a:prstGeom>
          <a:noFill/>
          <a:ln/>
        </p:spPr>
        <p:txBody>
          <a:bodyPr wrap="square" lIns="0" tIns="0" rIns="0" bIns="0" rtlCol="0" anchor="t"/>
          <a:lstStyle/>
          <a:p>
            <a:pPr marL="0" indent="0">
              <a:buNone/>
            </a:pPr>
            <a:r>
              <a:rPr lang="en-US" sz="1350" dirty="0">
                <a:solidFill>
                  <a:srgbClr val="FFDF57"/>
                </a:solidFill>
                <a:latin typeface="Malgun Gothic" pitchFamily="34" charset="0"/>
                <a:ea typeface="Malgun Gothic" pitchFamily="34" charset="-122"/>
                <a:cs typeface="Malgun Gothic" pitchFamily="34" charset="-120"/>
              </a:rPr>
              <a:t>→ 맥락 이탈 방지</a:t>
            </a:r>
            <a:endParaRPr lang="en-US" sz="1350" dirty="0"/>
          </a:p>
        </p:txBody>
      </p:sp>
      <p:sp>
        <p:nvSpPr>
          <p:cNvPr id="15" name="Shape 12"/>
          <p:cNvSpPr/>
          <p:nvPr/>
        </p:nvSpPr>
        <p:spPr>
          <a:xfrm>
            <a:off x="7772400" y="4443984"/>
            <a:ext cx="3913632" cy="1115568"/>
          </a:xfrm>
          <a:prstGeom prst="roundRect">
            <a:avLst>
              <a:gd name="adj" fmla="val 3689"/>
            </a:avLst>
          </a:prstGeom>
          <a:solidFill>
            <a:srgbClr val="232016"/>
          </a:solidFill>
          <a:ln w="12700">
            <a:solidFill>
              <a:srgbClr val="4A4430"/>
            </a:solidFill>
            <a:prstDash val="solid"/>
          </a:ln>
        </p:spPr>
      </p:sp>
      <p:sp>
        <p:nvSpPr>
          <p:cNvPr id="16" name="Text 13"/>
          <p:cNvSpPr txBox="1"/>
          <p:nvPr/>
        </p:nvSpPr>
        <p:spPr>
          <a:xfrm>
            <a:off x="7973568" y="4590288"/>
            <a:ext cx="3511296" cy="365760"/>
          </a:xfrm>
          <a:prstGeom prst="rect">
            <a:avLst/>
          </a:prstGeom>
          <a:noFill/>
          <a:ln/>
        </p:spPr>
        <p:txBody>
          <a:bodyPr wrap="square" lIns="0" tIns="0" rIns="0" bIns="0" rtlCol="0" anchor="ctr"/>
          <a:lstStyle/>
          <a:p>
            <a:pPr marL="0" indent="0">
              <a:buNone/>
            </a:pPr>
            <a:r>
              <a:rPr lang="en-US" sz="1400" b="1" dirty="0">
                <a:solidFill>
                  <a:srgbClr val="FFFFFF"/>
                </a:solidFill>
                <a:latin typeface="Malgun Gothic" pitchFamily="34" charset="0"/>
                <a:ea typeface="Malgun Gothic" pitchFamily="34" charset="-122"/>
                <a:cs typeface="Malgun Gothic" pitchFamily="34" charset="-120"/>
              </a:rPr>
              <a:t>'없음' 허용</a:t>
            </a:r>
            <a:endParaRPr lang="en-US" sz="1400" dirty="0"/>
          </a:p>
        </p:txBody>
      </p:sp>
      <p:sp>
        <p:nvSpPr>
          <p:cNvPr id="17" name="Text 14"/>
          <p:cNvSpPr txBox="1"/>
          <p:nvPr/>
        </p:nvSpPr>
        <p:spPr>
          <a:xfrm>
            <a:off x="7973568" y="4992624"/>
            <a:ext cx="3511296" cy="411480"/>
          </a:xfrm>
          <a:prstGeom prst="rect">
            <a:avLst/>
          </a:prstGeom>
          <a:noFill/>
          <a:ln/>
        </p:spPr>
        <p:txBody>
          <a:bodyPr wrap="square" lIns="0" tIns="0" rIns="0" bIns="0" rtlCol="0" anchor="t"/>
          <a:lstStyle/>
          <a:p>
            <a:pPr marL="0" indent="0">
              <a:buNone/>
            </a:pPr>
            <a:r>
              <a:rPr lang="en-US" sz="1350" dirty="0">
                <a:solidFill>
                  <a:srgbClr val="FFDF57"/>
                </a:solidFill>
                <a:latin typeface="Malgun Gothic" pitchFamily="34" charset="0"/>
                <a:ea typeface="Malgun Gothic" pitchFamily="34" charset="-122"/>
                <a:cs typeface="Malgun Gothic" pitchFamily="34" charset="-120"/>
              </a:rPr>
              <a:t>→ 추측 차단</a:t>
            </a:r>
            <a:endParaRPr lang="en-US" sz="1350" dirty="0"/>
          </a:p>
        </p:txBody>
      </p:sp>
      <p:sp>
        <p:nvSpPr>
          <p:cNvPr id="18" name="Shape 15"/>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9" name="Text 16"/>
          <p:cNvSpPr txBox="1"/>
          <p:nvPr/>
        </p:nvSpPr>
        <p:spPr>
          <a:xfrm>
            <a:off x="758952" y="5779008"/>
            <a:ext cx="10671048" cy="566928"/>
          </a:xfrm>
          <a:prstGeom prst="rect">
            <a:avLst/>
          </a:prstGeom>
          <a:noFill/>
          <a:ln/>
        </p:spPr>
        <p:txBody>
          <a:bodyPr wrap="square" lIns="0" tIns="0" rIns="0" bIns="0" rtlCol="0" anchor="ctr"/>
          <a:lstStyle/>
          <a:p>
            <a:pPr marL="0" indent="0">
              <a:buNone/>
            </a:pPr>
            <a:r>
              <a:rPr lang="ko-KR" sz="1350" b="1" dirty="0">
                <a:solidFill>
                  <a:srgbClr val="FFDF57"/>
                </a:solidFill>
                <a:latin typeface="Malgun Gothic" pitchFamily="34" charset="0"/>
                <a:ea typeface="Malgun Gothic" pitchFamily="34" charset="-122"/>
                <a:cs typeface="Malgun Gothic" pitchFamily="34" charset="-120"/>
              </a:rPr>
              <a:t xml:space="preserve">이 한 템플릿에 4요소가 모두 포함 — 핵심은 근거·검증·형식, 역할은 보조</a:t>
            </a:r>
            <a:endParaRPr lang="ko-KR"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en-US" sz="2100" b="1" dirty="0">
                <a:solidFill>
                  <a:srgbClr val="FFDF57"/>
                </a:solidFill>
                <a:latin typeface="Malgun Gothic" pitchFamily="34" charset="0"/>
                <a:ea typeface="Malgun Gothic" pitchFamily="34" charset="-122"/>
                <a:cs typeface="Malgun Gothic" pitchFamily="34" charset="-120"/>
              </a:rPr>
              <a:t>복사용 템플릿 ② 문헌·논문 검토 (연구직)</a:t>
            </a:r>
            <a:endParaRPr lang="en-US"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en-US" sz="1350" dirty="0">
                <a:solidFill>
                  <a:srgbClr val="F5F1E4"/>
                </a:solidFill>
                <a:latin typeface="Malgun Gothic" pitchFamily="34" charset="0"/>
                <a:ea typeface="Malgun Gothic" pitchFamily="34" charset="-122"/>
                <a:cs typeface="Malgun Gothic" pitchFamily="34" charset="-120"/>
              </a:rPr>
              <a:t>핵심 한 줄: '인용에 없는 수치·결론은 절대 만들지 마라'</a:t>
            </a:r>
            <a:endParaRPr lang="en-US" sz="1350" dirty="0"/>
          </a:p>
        </p:txBody>
      </p:sp>
      <p:sp>
        <p:nvSpPr>
          <p:cNvPr id="5" name="Text 2"/>
          <p:cNvSpPr txBox="1"/>
          <p:nvPr/>
        </p:nvSpPr>
        <p:spPr>
          <a:xfrm>
            <a:off x="502920" y="1463040"/>
            <a:ext cx="6949440" cy="347472"/>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복사용 템플릿</a:t>
            </a:r>
            <a:endParaRPr lang="en-US" sz="1400" dirty="0"/>
          </a:p>
        </p:txBody>
      </p:sp>
      <p:sp>
        <p:nvSpPr>
          <p:cNvPr id="6" name="Shape 3"/>
          <p:cNvSpPr/>
          <p:nvPr/>
        </p:nvSpPr>
        <p:spPr>
          <a:xfrm>
            <a:off x="502920" y="1847088"/>
            <a:ext cx="6949440" cy="3749040"/>
          </a:xfrm>
          <a:prstGeom prst="roundRect">
            <a:avLst>
              <a:gd name="adj" fmla="val 1098"/>
            </a:avLst>
          </a:prstGeom>
          <a:solidFill>
            <a:srgbClr val="1A1810"/>
          </a:solidFill>
          <a:ln w="12700">
            <a:solidFill>
              <a:srgbClr val="FFD733"/>
            </a:solidFill>
            <a:prstDash val="solid"/>
          </a:ln>
        </p:spPr>
      </p:sp>
      <p:sp>
        <p:nvSpPr>
          <p:cNvPr id="7" name="Text 4"/>
          <p:cNvSpPr txBox="1"/>
          <p:nvPr/>
        </p:nvSpPr>
        <p:spPr>
          <a:xfrm>
            <a:off x="685800" y="1975104"/>
            <a:ext cx="6583680" cy="3493008"/>
          </a:xfrm>
          <a:prstGeom prst="rect">
            <a:avLst/>
          </a:prstGeom>
          <a:noFill/>
          <a:ln/>
        </p:spPr>
        <p:txBody>
          <a:bodyPr wrap="square" lIns="0" tIns="0" rIns="0" bIns="0" rtlCol="0" anchor="t"/>
          <a:lstStyle/>
          <a:p>
            <a:pPr marL="0" indent="0">
              <a:lnSpc>
                <a:spcPct val="135000"/>
              </a:lnSpc>
              <a:buNone/>
            </a:pPr>
            <a:r>
              <a:rPr lang="en-US" sz="1400" dirty="0">
                <a:solidFill>
                  <a:srgbClr val="F5F1E4"/>
                </a:solidFill>
                <a:latin typeface="Malgun Gothic" pitchFamily="34" charset="0"/>
                <a:ea typeface="Malgun Gothic" pitchFamily="34" charset="-122"/>
                <a:cs typeface="Malgun Gothic" pitchFamily="34" charset="-120"/>
              </a:rPr>
              <a:t>당신은 꼼꼼한 연구분석가입니다. 아래 논문을 단계별로 검토하세요.</a:t>
            </a:r>
            <a:endParaRPr lang="en-US" sz="1400" dirty="0"/>
          </a:p>
          <a:p>
            <a:pPr marL="0" indent="0">
              <a:lnSpc>
                <a:spcPct val="135000"/>
              </a:lnSpc>
              <a:buNone/>
            </a:pPr>
            <a:r>
              <a:rPr lang="en-US" sz="1400" dirty="0">
                <a:solidFill>
                  <a:srgbClr val="F5F1E4"/>
                </a:solidFill>
                <a:latin typeface="Malgun Gothic" pitchFamily="34" charset="0"/>
                <a:ea typeface="Malgun Gothic" pitchFamily="34" charset="-122"/>
                <a:cs typeface="Malgun Gothic" pitchFamily="34" charset="-120"/>
              </a:rPr>
              <a:t>1) 연구질문·방법·결과를 원문 인용으로 추출.</a:t>
            </a:r>
            <a:endParaRPr lang="en-US" sz="1400" dirty="0"/>
          </a:p>
          <a:p>
            <a:pPr marL="0" indent="0">
              <a:lnSpc>
                <a:spcPct val="135000"/>
              </a:lnSpc>
              <a:buNone/>
            </a:pPr>
            <a:r>
              <a:rPr lang="en-US" sz="1400" dirty="0">
                <a:solidFill>
                  <a:srgbClr val="F5F1E4"/>
                </a:solidFill>
                <a:latin typeface="Malgun Gothic" pitchFamily="34" charset="0"/>
                <a:ea typeface="Malgun Gothic" pitchFamily="34" charset="-122"/>
                <a:cs typeface="Malgun Gothic" pitchFamily="34" charset="-120"/>
              </a:rPr>
              <a:t>2) 한계점을 인용 근거와 함께 정리.</a:t>
            </a:r>
            <a:endParaRPr lang="en-US" sz="1400" dirty="0"/>
          </a:p>
          <a:p>
            <a:pPr marL="0" indent="0">
              <a:lnSpc>
                <a:spcPct val="135000"/>
              </a:lnSpc>
              <a:buNone/>
            </a:pPr>
            <a:r>
              <a:rPr lang="en-US" sz="1400" dirty="0">
                <a:solidFill>
                  <a:srgbClr val="F5F1E4"/>
                </a:solidFill>
                <a:latin typeface="Malgun Gothic" pitchFamily="34" charset="0"/>
                <a:ea typeface="Malgun Gothic" pitchFamily="34" charset="-122"/>
                <a:cs typeface="Malgun Gothic" pitchFamily="34" charset="-120"/>
              </a:rPr>
              <a:t>3) 확실하지 않으면 추측 말고 '확인 필요'로 표시.</a:t>
            </a:r>
            <a:endParaRPr lang="en-US" sz="1400" dirty="0"/>
          </a:p>
          <a:p>
            <a:pPr marL="0" indent="0">
              <a:lnSpc>
                <a:spcPct val="135000"/>
              </a:lnSpc>
              <a:buNone/>
            </a:pPr>
            <a:r>
              <a:rPr lang="en-US" sz="1400" dirty="0">
                <a:solidFill>
                  <a:srgbClr val="F5F1E4"/>
                </a:solidFill>
                <a:latin typeface="Malgun Gothic" pitchFamily="34" charset="0"/>
                <a:ea typeface="Malgun Gothic" pitchFamily="34" charset="-122"/>
                <a:cs typeface="Malgun Gothic" pitchFamily="34" charset="-120"/>
              </a:rPr>
              <a:t>주의: 인용에 없는 수치·결론은 절대 만들지 마세요.</a:t>
            </a:r>
            <a:endParaRPr lang="en-US" sz="1400" dirty="0"/>
          </a:p>
          <a:p>
            <a:pPr marL="0" indent="0">
              <a:lnSpc>
                <a:spcPct val="135000"/>
              </a:lnSpc>
              <a:buNone/>
            </a:pPr>
            <a:r>
              <a:rPr lang="en-US" sz="1400" dirty="0">
                <a:solidFill>
                  <a:srgbClr val="F5F1E4"/>
                </a:solidFill>
                <a:latin typeface="Malgun Gothic" pitchFamily="34" charset="0"/>
                <a:ea typeface="Malgun Gothic" pitchFamily="34" charset="-122"/>
                <a:cs typeface="Malgun Gothic" pitchFamily="34" charset="-120"/>
              </a:rPr>
              <a:t>[논문] 여기에 붙여넣기</a:t>
            </a:r>
            <a:endParaRPr lang="en-US" sz="1400" dirty="0"/>
          </a:p>
        </p:txBody>
      </p:sp>
      <p:sp>
        <p:nvSpPr>
          <p:cNvPr id="8" name="Text 5"/>
          <p:cNvSpPr txBox="1"/>
          <p:nvPr/>
        </p:nvSpPr>
        <p:spPr>
          <a:xfrm>
            <a:off x="7772400" y="1463040"/>
            <a:ext cx="3913632" cy="347472"/>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작동 원리</a:t>
            </a:r>
            <a:endParaRPr lang="en-US" sz="1400" dirty="0"/>
          </a:p>
        </p:txBody>
      </p:sp>
      <p:sp>
        <p:nvSpPr>
          <p:cNvPr id="9" name="Shape 6"/>
          <p:cNvSpPr/>
          <p:nvPr/>
        </p:nvSpPr>
        <p:spPr>
          <a:xfrm>
            <a:off x="7772400" y="1847088"/>
            <a:ext cx="3913632" cy="1115568"/>
          </a:xfrm>
          <a:prstGeom prst="roundRect">
            <a:avLst>
              <a:gd name="adj" fmla="val 3689"/>
            </a:avLst>
          </a:prstGeom>
          <a:solidFill>
            <a:srgbClr val="232016"/>
          </a:solidFill>
          <a:ln w="12700">
            <a:solidFill>
              <a:srgbClr val="4A4430"/>
            </a:solidFill>
            <a:prstDash val="solid"/>
          </a:ln>
        </p:spPr>
      </p:sp>
      <p:sp>
        <p:nvSpPr>
          <p:cNvPr id="10" name="Text 7"/>
          <p:cNvSpPr txBox="1"/>
          <p:nvPr/>
        </p:nvSpPr>
        <p:spPr>
          <a:xfrm>
            <a:off x="7973568" y="1993392"/>
            <a:ext cx="3511296" cy="365760"/>
          </a:xfrm>
          <a:prstGeom prst="rect">
            <a:avLst/>
          </a:prstGeom>
          <a:noFill/>
          <a:ln/>
        </p:spPr>
        <p:txBody>
          <a:bodyPr wrap="square" lIns="0" tIns="0" rIns="0" bIns="0" rtlCol="0" anchor="ctr"/>
          <a:lstStyle/>
          <a:p>
            <a:pPr marL="0" indent="0">
              <a:buNone/>
            </a:pPr>
            <a:r>
              <a:rPr lang="en-US" sz="1400" b="1" dirty="0">
                <a:solidFill>
                  <a:srgbClr val="FFFFFF"/>
                </a:solidFill>
                <a:latin typeface="Malgun Gothic" pitchFamily="34" charset="0"/>
                <a:ea typeface="Malgun Gothic" pitchFamily="34" charset="-122"/>
                <a:cs typeface="Malgun Gothic" pitchFamily="34" charset="-120"/>
              </a:rPr>
              <a:t>단계별 지시</a:t>
            </a:r>
            <a:endParaRPr lang="en-US" sz="1400" dirty="0"/>
          </a:p>
        </p:txBody>
      </p:sp>
      <p:sp>
        <p:nvSpPr>
          <p:cNvPr id="11" name="Text 8"/>
          <p:cNvSpPr txBox="1"/>
          <p:nvPr/>
        </p:nvSpPr>
        <p:spPr>
          <a:xfrm>
            <a:off x="7973568" y="2395728"/>
            <a:ext cx="3511296" cy="411480"/>
          </a:xfrm>
          <a:prstGeom prst="rect">
            <a:avLst/>
          </a:prstGeom>
          <a:noFill/>
          <a:ln/>
        </p:spPr>
        <p:txBody>
          <a:bodyPr wrap="square" lIns="0" tIns="0" rIns="0" bIns="0" rtlCol="0" anchor="t"/>
          <a:lstStyle/>
          <a:p>
            <a:pPr marL="0" indent="0">
              <a:buNone/>
            </a:pPr>
            <a:r>
              <a:rPr lang="en-US" sz="1350" dirty="0">
                <a:solidFill>
                  <a:srgbClr val="FFDF57"/>
                </a:solidFill>
                <a:latin typeface="Malgun Gothic" pitchFamily="34" charset="0"/>
                <a:ea typeface="Malgun Gothic" pitchFamily="34" charset="-122"/>
                <a:cs typeface="Malgun Gothic" pitchFamily="34" charset="-120"/>
              </a:rPr>
              <a:t>→ 논리 비약 차단</a:t>
            </a:r>
            <a:endParaRPr lang="en-US" sz="1350" dirty="0"/>
          </a:p>
        </p:txBody>
      </p:sp>
      <p:sp>
        <p:nvSpPr>
          <p:cNvPr id="12" name="Shape 9"/>
          <p:cNvSpPr/>
          <p:nvPr/>
        </p:nvSpPr>
        <p:spPr>
          <a:xfrm>
            <a:off x="7772400" y="3145536"/>
            <a:ext cx="3913632" cy="1115568"/>
          </a:xfrm>
          <a:prstGeom prst="roundRect">
            <a:avLst>
              <a:gd name="adj" fmla="val 3689"/>
            </a:avLst>
          </a:prstGeom>
          <a:solidFill>
            <a:srgbClr val="232016"/>
          </a:solidFill>
          <a:ln w="12700">
            <a:solidFill>
              <a:srgbClr val="4A4430"/>
            </a:solidFill>
            <a:prstDash val="solid"/>
          </a:ln>
        </p:spPr>
      </p:sp>
      <p:sp>
        <p:nvSpPr>
          <p:cNvPr id="13" name="Text 10"/>
          <p:cNvSpPr txBox="1"/>
          <p:nvPr/>
        </p:nvSpPr>
        <p:spPr>
          <a:xfrm>
            <a:off x="7973568" y="3291840"/>
            <a:ext cx="3511296" cy="365760"/>
          </a:xfrm>
          <a:prstGeom prst="rect">
            <a:avLst/>
          </a:prstGeom>
          <a:noFill/>
          <a:ln/>
        </p:spPr>
        <p:txBody>
          <a:bodyPr wrap="square" lIns="0" tIns="0" rIns="0" bIns="0" rtlCol="0" anchor="ctr"/>
          <a:lstStyle/>
          <a:p>
            <a:pPr marL="0" indent="0">
              <a:buNone/>
            </a:pPr>
            <a:r>
              <a:rPr lang="en-US" sz="1400" b="1" dirty="0">
                <a:solidFill>
                  <a:srgbClr val="FFFFFF"/>
                </a:solidFill>
                <a:latin typeface="Malgun Gothic" pitchFamily="34" charset="0"/>
                <a:ea typeface="Malgun Gothic" pitchFamily="34" charset="-122"/>
                <a:cs typeface="Malgun Gothic" pitchFamily="34" charset="-120"/>
              </a:rPr>
              <a:t>인용 추출</a:t>
            </a:r>
            <a:endParaRPr lang="en-US" sz="1400" dirty="0"/>
          </a:p>
        </p:txBody>
      </p:sp>
      <p:sp>
        <p:nvSpPr>
          <p:cNvPr id="14" name="Text 11"/>
          <p:cNvSpPr txBox="1"/>
          <p:nvPr/>
        </p:nvSpPr>
        <p:spPr>
          <a:xfrm>
            <a:off x="7973568" y="3694176"/>
            <a:ext cx="3511296" cy="411480"/>
          </a:xfrm>
          <a:prstGeom prst="rect">
            <a:avLst/>
          </a:prstGeom>
          <a:noFill/>
          <a:ln/>
        </p:spPr>
        <p:txBody>
          <a:bodyPr wrap="square" lIns="0" tIns="0" rIns="0" bIns="0" rtlCol="0" anchor="t"/>
          <a:lstStyle/>
          <a:p>
            <a:pPr marL="0" indent="0">
              <a:buNone/>
            </a:pPr>
            <a:r>
              <a:rPr lang="en-US" sz="1350" dirty="0">
                <a:solidFill>
                  <a:srgbClr val="FFDF57"/>
                </a:solidFill>
                <a:latin typeface="Malgun Gothic" pitchFamily="34" charset="0"/>
                <a:ea typeface="Malgun Gothic" pitchFamily="34" charset="-122"/>
                <a:cs typeface="Malgun Gothic" pitchFamily="34" charset="-120"/>
              </a:rPr>
              <a:t>→ 수치 날조 방지</a:t>
            </a:r>
            <a:endParaRPr lang="en-US" sz="1350" dirty="0"/>
          </a:p>
        </p:txBody>
      </p:sp>
      <p:sp>
        <p:nvSpPr>
          <p:cNvPr id="15" name="Shape 12"/>
          <p:cNvSpPr/>
          <p:nvPr/>
        </p:nvSpPr>
        <p:spPr>
          <a:xfrm>
            <a:off x="7772400" y="4443984"/>
            <a:ext cx="3913632" cy="1115568"/>
          </a:xfrm>
          <a:prstGeom prst="roundRect">
            <a:avLst>
              <a:gd name="adj" fmla="val 3689"/>
            </a:avLst>
          </a:prstGeom>
          <a:solidFill>
            <a:srgbClr val="232016"/>
          </a:solidFill>
          <a:ln w="12700">
            <a:solidFill>
              <a:srgbClr val="4A4430"/>
            </a:solidFill>
            <a:prstDash val="solid"/>
          </a:ln>
        </p:spPr>
      </p:sp>
      <p:sp>
        <p:nvSpPr>
          <p:cNvPr id="16" name="Text 13"/>
          <p:cNvSpPr txBox="1"/>
          <p:nvPr/>
        </p:nvSpPr>
        <p:spPr>
          <a:xfrm>
            <a:off x="7973568" y="4590288"/>
            <a:ext cx="3511296" cy="365760"/>
          </a:xfrm>
          <a:prstGeom prst="rect">
            <a:avLst/>
          </a:prstGeom>
          <a:noFill/>
          <a:ln/>
        </p:spPr>
        <p:txBody>
          <a:bodyPr wrap="square" lIns="0" tIns="0" rIns="0" bIns="0" rtlCol="0" anchor="ctr"/>
          <a:lstStyle/>
          <a:p>
            <a:pPr marL="0" indent="0">
              <a:buNone/>
            </a:pPr>
            <a:r>
              <a:rPr lang="en-US" sz="1400" b="1" dirty="0">
                <a:solidFill>
                  <a:srgbClr val="FFFFFF"/>
                </a:solidFill>
                <a:latin typeface="Malgun Gothic" pitchFamily="34" charset="0"/>
                <a:ea typeface="Malgun Gothic" pitchFamily="34" charset="-122"/>
                <a:cs typeface="Malgun Gothic" pitchFamily="34" charset="-120"/>
              </a:rPr>
              <a:t>'확인 필요'</a:t>
            </a:r>
            <a:endParaRPr lang="en-US" sz="1400" dirty="0"/>
          </a:p>
        </p:txBody>
      </p:sp>
      <p:sp>
        <p:nvSpPr>
          <p:cNvPr id="17" name="Text 14"/>
          <p:cNvSpPr txBox="1"/>
          <p:nvPr/>
        </p:nvSpPr>
        <p:spPr>
          <a:xfrm>
            <a:off x="7973568" y="4992624"/>
            <a:ext cx="3511296" cy="411480"/>
          </a:xfrm>
          <a:prstGeom prst="rect">
            <a:avLst/>
          </a:prstGeom>
          <a:noFill/>
          <a:ln/>
        </p:spPr>
        <p:txBody>
          <a:bodyPr wrap="square" lIns="0" tIns="0" rIns="0" bIns="0" rtlCol="0" anchor="t"/>
          <a:lstStyle/>
          <a:p>
            <a:pPr marL="0" indent="0">
              <a:buNone/>
            </a:pPr>
            <a:r>
              <a:rPr lang="en-US" sz="1350" dirty="0">
                <a:solidFill>
                  <a:srgbClr val="FFDF57"/>
                </a:solidFill>
                <a:latin typeface="Malgun Gothic" pitchFamily="34" charset="0"/>
                <a:ea typeface="Malgun Gothic" pitchFamily="34" charset="-122"/>
                <a:cs typeface="Malgun Gothic" pitchFamily="34" charset="-120"/>
              </a:rPr>
              <a:t>→ 정직 유도</a:t>
            </a:r>
            <a:endParaRPr lang="en-US" sz="1350" dirty="0"/>
          </a:p>
        </p:txBody>
      </p:sp>
      <p:sp>
        <p:nvSpPr>
          <p:cNvPr id="18" name="Shape 15"/>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9" name="Text 16"/>
          <p:cNvSpPr txBox="1"/>
          <p:nvPr/>
        </p:nvSpPr>
        <p:spPr>
          <a:xfrm>
            <a:off x="758952" y="5779008"/>
            <a:ext cx="10671048" cy="566928"/>
          </a:xfrm>
          <a:prstGeom prst="rect">
            <a:avLst/>
          </a:prstGeom>
          <a:noFill/>
          <a:ln/>
        </p:spPr>
        <p:txBody>
          <a:bodyPr wrap="square" lIns="0" tIns="0" rIns="0" bIns="0" rtlCol="0" anchor="ctr"/>
          <a:lstStyle/>
          <a:p>
            <a:pPr marL="0" indent="0">
              <a:buNone/>
            </a:pPr>
            <a:r>
              <a:rPr lang="en-US" sz="1350" b="1" dirty="0">
                <a:solidFill>
                  <a:srgbClr val="FFDF57"/>
                </a:solidFill>
                <a:latin typeface="Malgun Gothic" pitchFamily="34" charset="0"/>
                <a:ea typeface="Malgun Gothic" pitchFamily="34" charset="-122"/>
                <a:cs typeface="Malgun Gothic" pitchFamily="34" charset="-120"/>
              </a:rPr>
              <a:t>출처 날조·사실 날조에 대한 직접 대응책</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1A1810"/>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실습 6 · 메타 프롬프트로 기존 프롬프트를 자동 보강</a:t>
            </a:r>
            <a:endParaRPr lang="ko-KR" sz="2100" dirty="0"/>
          </a:p>
        </p:txBody>
      </p:sp>
      <p:sp>
        <p:nvSpPr>
          <p:cNvPr id="3" name="Text 1"/>
          <p:cNvSpPr txBox="1"/>
          <p:nvPr/>
        </p:nvSpPr>
        <p:spPr>
          <a:xfrm>
            <a:off x="502920" y="969264"/>
            <a:ext cx="11183112" cy="384048"/>
          </a:xfrm>
          <a:prstGeom prst="rect">
            <a:avLst/>
          </a:prstGeom>
          <a:noFill/>
          <a:ln/>
        </p:spPr>
        <p:txBody>
          <a:bodyPr wrap="square" lIns="0" tIns="0" rIns="0" bIns="0" rtlCol="0" anchor="ctr"/>
          <a:lstStyle/>
          <a:p>
            <a:pPr marL="0" indent="0">
              <a:buNone/>
            </a:pPr>
            <a:r>
              <a:rPr lang="ko-KR" sz="1350" dirty="0">
                <a:solidFill>
                  <a:srgbClr val="F5F1E4"/>
                </a:solidFill>
                <a:latin typeface="Malgun Gothic" pitchFamily="34" charset="0"/>
                <a:ea typeface="Malgun Gothic" pitchFamily="34" charset="-122"/>
                <a:cs typeface="Malgun Gothic" pitchFamily="34" charset="-120"/>
              </a:rPr>
              <a:t xml:space="preserve">환각을 줄이도록 프롬프트 보강을 LLM에 요청 — 기법을 못 외워도 OK (OpenAI Playground의 프롬프트 최적화 기능도 같은 원리)</a:t>
            </a:r>
            <a:endParaRPr lang="ko-KR" sz="1350" dirty="0"/>
          </a:p>
        </p:txBody>
      </p:sp>
      <p:sp>
        <p:nvSpPr>
          <p:cNvPr id="5" name="Text 2"/>
          <p:cNvSpPr txBox="1"/>
          <p:nvPr/>
        </p:nvSpPr>
        <p:spPr>
          <a:xfrm>
            <a:off x="502920" y="1463040"/>
            <a:ext cx="7223760" cy="347472"/>
          </a:xfrm>
          <a:prstGeom prst="rect">
            <a:avLst/>
          </a:prstGeom>
          <a:noFill/>
          <a:ln/>
        </p:spPr>
        <p:txBody>
          <a:bodyPr wrap="square" lIns="0" tIns="0" rIns="0" bIns="0" rtlCol="0" anchor="ctr"/>
          <a:lstStyle/>
          <a:p>
            <a:pPr marL="0" indent="0">
              <a:buNone/>
            </a:pPr>
            <a:r>
              <a:rPr lang="en-US" sz="1400" b="1" dirty="0">
                <a:solidFill>
                  <a:srgbClr val="FFD733"/>
                </a:solidFill>
                <a:latin typeface="Malgun Gothic" pitchFamily="34" charset="0"/>
                <a:ea typeface="Malgun Gothic" pitchFamily="34" charset="-122"/>
                <a:cs typeface="Malgun Gothic" pitchFamily="34" charset="-120"/>
              </a:rPr>
              <a:t>메타 프롬프트 — 복사해서 사용</a:t>
            </a:r>
            <a:endParaRPr lang="en-US" sz="1400" dirty="0"/>
          </a:p>
        </p:txBody>
      </p:sp>
      <p:sp>
        <p:nvSpPr>
          <p:cNvPr id="6" name="Shape 3"/>
          <p:cNvSpPr/>
          <p:nvPr/>
        </p:nvSpPr>
        <p:spPr>
          <a:xfrm>
            <a:off x="502920" y="1847088"/>
            <a:ext cx="7223760" cy="3749040"/>
          </a:xfrm>
          <a:prstGeom prst="roundRect">
            <a:avLst>
              <a:gd name="adj" fmla="val 1098"/>
            </a:avLst>
          </a:prstGeom>
          <a:solidFill>
            <a:srgbClr val="1A1810"/>
          </a:solidFill>
          <a:ln w="12700">
            <a:solidFill>
              <a:srgbClr val="FFD733"/>
            </a:solidFill>
            <a:prstDash val="solid"/>
          </a:ln>
        </p:spPr>
      </p:sp>
      <p:sp>
        <p:nvSpPr>
          <p:cNvPr id="7" name="Text 4"/>
          <p:cNvSpPr txBox="1"/>
          <p:nvPr/>
        </p:nvSpPr>
        <p:spPr>
          <a:xfrm>
            <a:off x="685800" y="1975104"/>
            <a:ext cx="6858000" cy="3493008"/>
          </a:xfrm>
          <a:prstGeom prst="rect">
            <a:avLst/>
          </a:prstGeom>
          <a:noFill/>
          <a:ln/>
        </p:spPr>
        <p:txBody>
          <a:bodyPr wrap="square" lIns="0" tIns="0" rIns="0" bIns="0" rtlCol="0" anchor="t"/>
          <a:lstStyle/>
          <a:p>
            <a:pPr marL="0" indent="0">
              <a:lnSpc>
                <a:spcPct val="128000"/>
              </a:lnSpc>
              <a:buNone/>
            </a:pPr>
            <a:r>
              <a:rPr lang="en-US" sz="1350" dirty="0">
                <a:solidFill>
                  <a:srgbClr val="F5F1E4"/>
                </a:solidFill>
                <a:latin typeface="Malgun Gothic" pitchFamily="34" charset="0"/>
                <a:ea typeface="Malgun Gothic" pitchFamily="34" charset="-122"/>
                <a:cs typeface="Malgun Gothic" pitchFamily="34" charset="-120"/>
              </a:rPr>
              <a:t>다음 [원본 프롬프트]를 환각을 줄이도록 보강해줘. 아래 규칙을 모두 반영해.</a:t>
            </a:r>
            <a:endParaRPr lang="en-US" sz="1350" dirty="0"/>
          </a:p>
          <a:p>
            <a:pPr marL="0" indent="0">
              <a:lnSpc>
                <a:spcPct val="128000"/>
              </a:lnSpc>
              <a:buNone/>
            </a:pPr>
            <a:r>
              <a:rPr lang="en-US" sz="1350" dirty="0">
                <a:solidFill>
                  <a:srgbClr val="F5F1E4"/>
                </a:solidFill>
                <a:latin typeface="Malgun Gothic" pitchFamily="34" charset="0"/>
                <a:ea typeface="Malgun Gothic" pitchFamily="34" charset="-122"/>
                <a:cs typeface="Malgun Gothic" pitchFamily="34" charset="-120"/>
              </a:rPr>
              <a:t>1. 제공 자료만 쓰고, 없으면 '자료에 없음'.</a:t>
            </a:r>
            <a:endParaRPr lang="en-US" sz="1350" dirty="0"/>
          </a:p>
          <a:p>
            <a:pPr marL="0" indent="0">
              <a:lnSpc>
                <a:spcPct val="128000"/>
              </a:lnSpc>
              <a:buNone/>
            </a:pPr>
            <a:r>
              <a:rPr lang="en-US" sz="1350" dirty="0">
                <a:solidFill>
                  <a:srgbClr val="F5F1E4"/>
                </a:solidFill>
                <a:latin typeface="Malgun Gothic" pitchFamily="34" charset="0"/>
                <a:ea typeface="Malgun Gothic" pitchFamily="34" charset="-122"/>
                <a:cs typeface="Malgun Gothic" pitchFamily="34" charset="-120"/>
              </a:rPr>
              <a:t>2. 불확실하면 '확인 필요'.</a:t>
            </a:r>
            <a:endParaRPr lang="en-US" sz="1350" dirty="0"/>
          </a:p>
          <a:p>
            <a:pPr marL="0" indent="0">
              <a:lnSpc>
                <a:spcPct val="128000"/>
              </a:lnSpc>
              <a:buNone/>
            </a:pPr>
            <a:r>
              <a:rPr lang="en-US" sz="1350" dirty="0">
                <a:solidFill>
                  <a:srgbClr val="F5F1E4"/>
                </a:solidFill>
                <a:latin typeface="Malgun Gothic" pitchFamily="34" charset="0"/>
                <a:ea typeface="Malgun Gothic" pitchFamily="34" charset="-122"/>
                <a:cs typeface="Malgun Gothic" pitchFamily="34" charset="-120"/>
              </a:rPr>
              <a:t>3. 주장마다 근거를 달고, 근거 없는 문장은 삭제.</a:t>
            </a:r>
            <a:endParaRPr lang="en-US" sz="1350" dirty="0"/>
          </a:p>
          <a:p>
            <a:pPr marL="0" indent="0">
              <a:lnSpc>
                <a:spcPct val="128000"/>
              </a:lnSpc>
              <a:buNone/>
            </a:pPr>
            <a:r>
              <a:rPr lang="en-US" sz="1350" dirty="0">
                <a:solidFill>
                  <a:srgbClr val="F5F1E4"/>
                </a:solidFill>
                <a:latin typeface="Malgun Gothic" pitchFamily="34" charset="0"/>
                <a:ea typeface="Malgun Gothic" pitchFamily="34" charset="-122"/>
                <a:cs typeface="Malgun Gothic" pitchFamily="34" charset="-120"/>
              </a:rPr>
              <a:t>4. 역할·출력 형식을 구체화.</a:t>
            </a:r>
            <a:endParaRPr lang="en-US" sz="1350" dirty="0"/>
          </a:p>
          <a:p>
            <a:pPr marL="0" indent="0">
              <a:lnSpc>
                <a:spcPct val="128000"/>
              </a:lnSpc>
              <a:buNone/>
            </a:pPr>
            <a:r>
              <a:rPr lang="en-US" sz="1350" dirty="0">
                <a:solidFill>
                  <a:srgbClr val="F5F1E4"/>
                </a:solidFill>
                <a:latin typeface="Malgun Gothic" pitchFamily="34" charset="0"/>
                <a:ea typeface="Malgun Gothic" pitchFamily="34" charset="-122"/>
                <a:cs typeface="Malgun Gothic" pitchFamily="34" charset="-120"/>
              </a:rPr>
              <a:t>5. 수치·고유명사·날짜는 자료와 대조하도록 지시.</a:t>
            </a:r>
            <a:endParaRPr lang="en-US" sz="1350" dirty="0"/>
          </a:p>
          <a:p>
            <a:pPr marL="0" indent="0">
              <a:lnSpc>
                <a:spcPct val="128000"/>
              </a:lnSpc>
              <a:buNone/>
            </a:pPr>
            <a:r>
              <a:rPr lang="en-US" sz="1350" dirty="0">
                <a:solidFill>
                  <a:srgbClr val="F5F1E4"/>
                </a:solidFill>
                <a:latin typeface="Malgun Gothic" pitchFamily="34" charset="0"/>
                <a:ea typeface="Malgun Gothic" pitchFamily="34" charset="-122"/>
                <a:cs typeface="Malgun Gothic" pitchFamily="34" charset="-120"/>
              </a:rPr>
              <a:t>보강한 프롬프트를 출력하고, 끝에 무엇을 왜 바꿨는지 3줄로 요약해줘.</a:t>
            </a:r>
            <a:endParaRPr lang="en-US" sz="1350" dirty="0"/>
          </a:p>
          <a:p>
            <a:pPr marL="0" indent="0">
              <a:lnSpc>
                <a:spcPct val="128000"/>
              </a:lnSpc>
              <a:buNone/>
            </a:pPr>
            <a:r>
              <a:rPr lang="en-US" sz="1350" dirty="0">
                <a:solidFill>
                  <a:srgbClr val="F5F1E4"/>
                </a:solidFill>
                <a:latin typeface="Malgun Gothic" pitchFamily="34" charset="0"/>
                <a:ea typeface="Malgun Gothic" pitchFamily="34" charset="-122"/>
                <a:cs typeface="Malgun Gothic" pitchFamily="34" charset="-120"/>
              </a:rPr>
              <a:t>[원본 프롬프트] (여기에 평소 쓰던 프롬프트 붙여넣기)</a:t>
            </a:r>
            <a:endParaRPr lang="en-US" sz="1350" dirty="0"/>
          </a:p>
        </p:txBody>
      </p:sp>
      <p:sp>
        <p:nvSpPr>
          <p:cNvPr id="8" name="Shape 5"/>
          <p:cNvSpPr/>
          <p:nvPr/>
        </p:nvSpPr>
        <p:spPr>
          <a:xfrm>
            <a:off x="8046720" y="1847088"/>
            <a:ext cx="3639312" cy="1115568"/>
          </a:xfrm>
          <a:prstGeom prst="roundRect">
            <a:avLst>
              <a:gd name="adj" fmla="val 3689"/>
            </a:avLst>
          </a:prstGeom>
          <a:solidFill>
            <a:srgbClr val="232016"/>
          </a:solidFill>
          <a:ln w="12700">
            <a:solidFill>
              <a:srgbClr val="4A4430"/>
            </a:solidFill>
            <a:prstDash val="solid"/>
          </a:ln>
        </p:spPr>
      </p:sp>
      <p:sp>
        <p:nvSpPr>
          <p:cNvPr id="9" name="Text 6"/>
          <p:cNvSpPr txBox="1"/>
          <p:nvPr/>
        </p:nvSpPr>
        <p:spPr>
          <a:xfrm>
            <a:off x="8247888" y="1975104"/>
            <a:ext cx="502920" cy="859536"/>
          </a:xfrm>
          <a:prstGeom prst="rect">
            <a:avLst/>
          </a:prstGeom>
          <a:noFill/>
          <a:ln/>
        </p:spPr>
        <p:txBody>
          <a:bodyPr wrap="square" lIns="0" tIns="0" rIns="0" bIns="0" rtlCol="0" anchor="ctr"/>
          <a:lstStyle/>
          <a:p>
            <a:pPr marL="0" indent="0">
              <a:buNone/>
            </a:pPr>
            <a:r>
              <a:rPr lang="en-US" sz="2200" b="1" dirty="0">
                <a:solidFill>
                  <a:srgbClr val="FFD733"/>
                </a:solidFill>
                <a:latin typeface="Malgun Gothic" pitchFamily="34" charset="0"/>
                <a:ea typeface="Malgun Gothic" pitchFamily="34" charset="-122"/>
                <a:cs typeface="Malgun Gothic" pitchFamily="34" charset="-120"/>
              </a:rPr>
              <a:t>1</a:t>
            </a:r>
            <a:endParaRPr lang="en-US" sz="2200" dirty="0"/>
          </a:p>
        </p:txBody>
      </p:sp>
      <p:sp>
        <p:nvSpPr>
          <p:cNvPr id="10" name="Text 7"/>
          <p:cNvSpPr txBox="1"/>
          <p:nvPr/>
        </p:nvSpPr>
        <p:spPr>
          <a:xfrm>
            <a:off x="8796528" y="1975104"/>
            <a:ext cx="2679192" cy="859536"/>
          </a:xfrm>
          <a:prstGeom prst="rect">
            <a:avLst/>
          </a:prstGeom>
          <a:noFill/>
          <a:ln/>
        </p:spPr>
        <p:txBody>
          <a:bodyPr wrap="square" lIns="0" tIns="0" rIns="0" bIns="0" rtlCol="0" anchor="ctr"/>
          <a:lstStyle/>
          <a:p>
            <a:pPr marL="0" indent="0">
              <a:lnSpc>
                <a:spcPct val="115000"/>
              </a:lnSpc>
              <a:buNone/>
            </a:pPr>
            <a:r>
              <a:rPr lang="en-US" sz="1350" dirty="0">
                <a:solidFill>
                  <a:srgbClr val="F5F1E4"/>
                </a:solidFill>
                <a:latin typeface="Malgun Gothic" pitchFamily="34" charset="0"/>
                <a:ea typeface="Malgun Gothic" pitchFamily="34" charset="-122"/>
                <a:cs typeface="Malgun Gothic" pitchFamily="34" charset="-120"/>
              </a:rPr>
              <a:t>맨 아래에 기존 프롬프트 붙여넣기</a:t>
            </a:r>
            <a:endParaRPr lang="en-US" sz="1350" dirty="0"/>
          </a:p>
        </p:txBody>
      </p:sp>
      <p:sp>
        <p:nvSpPr>
          <p:cNvPr id="11" name="Shape 8"/>
          <p:cNvSpPr/>
          <p:nvPr/>
        </p:nvSpPr>
        <p:spPr>
          <a:xfrm>
            <a:off x="8046720" y="3145536"/>
            <a:ext cx="3639312" cy="1115568"/>
          </a:xfrm>
          <a:prstGeom prst="roundRect">
            <a:avLst>
              <a:gd name="adj" fmla="val 3689"/>
            </a:avLst>
          </a:prstGeom>
          <a:solidFill>
            <a:srgbClr val="232016"/>
          </a:solidFill>
          <a:ln w="12700">
            <a:solidFill>
              <a:srgbClr val="4A4430"/>
            </a:solidFill>
            <a:prstDash val="solid"/>
          </a:ln>
        </p:spPr>
      </p:sp>
      <p:sp>
        <p:nvSpPr>
          <p:cNvPr id="12" name="Text 9"/>
          <p:cNvSpPr txBox="1"/>
          <p:nvPr/>
        </p:nvSpPr>
        <p:spPr>
          <a:xfrm>
            <a:off x="8247888" y="3273552"/>
            <a:ext cx="502920" cy="859536"/>
          </a:xfrm>
          <a:prstGeom prst="rect">
            <a:avLst/>
          </a:prstGeom>
          <a:noFill/>
          <a:ln/>
        </p:spPr>
        <p:txBody>
          <a:bodyPr wrap="square" lIns="0" tIns="0" rIns="0" bIns="0" rtlCol="0" anchor="ctr"/>
          <a:lstStyle/>
          <a:p>
            <a:pPr marL="0" indent="0">
              <a:buNone/>
            </a:pPr>
            <a:r>
              <a:rPr lang="en-US" sz="2200" b="1" dirty="0">
                <a:solidFill>
                  <a:srgbClr val="FFD733"/>
                </a:solidFill>
                <a:latin typeface="Malgun Gothic" pitchFamily="34" charset="0"/>
                <a:ea typeface="Malgun Gothic" pitchFamily="34" charset="-122"/>
                <a:cs typeface="Malgun Gothic" pitchFamily="34" charset="-120"/>
              </a:rPr>
              <a:t>2</a:t>
            </a:r>
            <a:endParaRPr lang="en-US" sz="2200" dirty="0"/>
          </a:p>
        </p:txBody>
      </p:sp>
      <p:sp>
        <p:nvSpPr>
          <p:cNvPr id="13" name="Text 10"/>
          <p:cNvSpPr txBox="1"/>
          <p:nvPr/>
        </p:nvSpPr>
        <p:spPr>
          <a:xfrm>
            <a:off x="8796528" y="3273552"/>
            <a:ext cx="2679192" cy="859536"/>
          </a:xfrm>
          <a:prstGeom prst="rect">
            <a:avLst/>
          </a:prstGeom>
          <a:noFill/>
          <a:ln/>
        </p:spPr>
        <p:txBody>
          <a:bodyPr wrap="square" lIns="0" tIns="0" rIns="0" bIns="0" rtlCol="0" anchor="ctr"/>
          <a:lstStyle/>
          <a:p>
            <a:pPr marL="0" indent="0">
              <a:lnSpc>
                <a:spcPct val="115000"/>
              </a:lnSpc>
              <a:buNone/>
            </a:pPr>
            <a:r>
              <a:rPr lang="en-US" sz="1350" dirty="0">
                <a:solidFill>
                  <a:srgbClr val="F5F1E4"/>
                </a:solidFill>
                <a:latin typeface="Malgun Gothic" pitchFamily="34" charset="0"/>
                <a:ea typeface="Malgun Gothic" pitchFamily="34" charset="-122"/>
                <a:cs typeface="Malgun Gothic" pitchFamily="34" charset="-120"/>
              </a:rPr>
              <a:t>모델이 5규칙 반영한 새 프롬프트 생성</a:t>
            </a:r>
            <a:endParaRPr lang="en-US" sz="1350" dirty="0"/>
          </a:p>
        </p:txBody>
      </p:sp>
      <p:sp>
        <p:nvSpPr>
          <p:cNvPr id="14" name="Shape 11"/>
          <p:cNvSpPr/>
          <p:nvPr/>
        </p:nvSpPr>
        <p:spPr>
          <a:xfrm>
            <a:off x="8046720" y="4443984"/>
            <a:ext cx="3639312" cy="1115568"/>
          </a:xfrm>
          <a:prstGeom prst="roundRect">
            <a:avLst>
              <a:gd name="adj" fmla="val 3689"/>
            </a:avLst>
          </a:prstGeom>
          <a:solidFill>
            <a:srgbClr val="232016"/>
          </a:solidFill>
          <a:ln w="12700">
            <a:solidFill>
              <a:srgbClr val="4A4430"/>
            </a:solidFill>
            <a:prstDash val="solid"/>
          </a:ln>
        </p:spPr>
      </p:sp>
      <p:sp>
        <p:nvSpPr>
          <p:cNvPr id="15" name="Text 12"/>
          <p:cNvSpPr txBox="1"/>
          <p:nvPr/>
        </p:nvSpPr>
        <p:spPr>
          <a:xfrm>
            <a:off x="8247888" y="4572000"/>
            <a:ext cx="502920" cy="859536"/>
          </a:xfrm>
          <a:prstGeom prst="rect">
            <a:avLst/>
          </a:prstGeom>
          <a:noFill/>
          <a:ln/>
        </p:spPr>
        <p:txBody>
          <a:bodyPr wrap="square" lIns="0" tIns="0" rIns="0" bIns="0" rtlCol="0" anchor="ctr"/>
          <a:lstStyle/>
          <a:p>
            <a:pPr marL="0" indent="0">
              <a:buNone/>
            </a:pPr>
            <a:r>
              <a:rPr lang="en-US" sz="2200" b="1" dirty="0">
                <a:solidFill>
                  <a:srgbClr val="FFD733"/>
                </a:solidFill>
                <a:latin typeface="Malgun Gothic" pitchFamily="34" charset="0"/>
                <a:ea typeface="Malgun Gothic" pitchFamily="34" charset="-122"/>
                <a:cs typeface="Malgun Gothic" pitchFamily="34" charset="-120"/>
              </a:rPr>
              <a:t>3</a:t>
            </a:r>
            <a:endParaRPr lang="en-US" sz="2200" dirty="0"/>
          </a:p>
        </p:txBody>
      </p:sp>
      <p:sp>
        <p:nvSpPr>
          <p:cNvPr id="16" name="Text 13"/>
          <p:cNvSpPr txBox="1"/>
          <p:nvPr/>
        </p:nvSpPr>
        <p:spPr>
          <a:xfrm>
            <a:off x="8796528" y="4572000"/>
            <a:ext cx="2679192" cy="859536"/>
          </a:xfrm>
          <a:prstGeom prst="rect">
            <a:avLst/>
          </a:prstGeom>
          <a:noFill/>
          <a:ln/>
        </p:spPr>
        <p:txBody>
          <a:bodyPr wrap="square" lIns="0" tIns="0" rIns="0" bIns="0" rtlCol="0" anchor="ctr"/>
          <a:lstStyle/>
          <a:p>
            <a:pPr marL="0" indent="0">
              <a:lnSpc>
                <a:spcPct val="115000"/>
              </a:lnSpc>
              <a:buNone/>
            </a:pPr>
            <a:r>
              <a:rPr lang="en-US" sz="1350" dirty="0">
                <a:solidFill>
                  <a:srgbClr val="F5F1E4"/>
                </a:solidFill>
                <a:latin typeface="Malgun Gothic" pitchFamily="34" charset="0"/>
                <a:ea typeface="Malgun Gothic" pitchFamily="34" charset="-122"/>
                <a:cs typeface="Malgun Gothic" pitchFamily="34" charset="-120"/>
              </a:rPr>
              <a:t>보강된 프롬프트로 실제 작업 수행</a:t>
            </a:r>
            <a:endParaRPr lang="en-US" sz="1350" dirty="0"/>
          </a:p>
        </p:txBody>
      </p:sp>
      <p:sp>
        <p:nvSpPr>
          <p:cNvPr id="17" name="Shape 14"/>
          <p:cNvSpPr/>
          <p:nvPr/>
        </p:nvSpPr>
        <p:spPr>
          <a:xfrm>
            <a:off x="502920" y="5779008"/>
            <a:ext cx="11183112" cy="566928"/>
          </a:xfrm>
          <a:prstGeom prst="roundRect">
            <a:avLst>
              <a:gd name="adj" fmla="val 7258"/>
            </a:avLst>
          </a:prstGeom>
          <a:solidFill>
            <a:srgbClr val="2B2719"/>
          </a:solidFill>
          <a:ln w="12700">
            <a:solidFill>
              <a:srgbClr val="4A4430"/>
            </a:solidFill>
            <a:prstDash val="solid"/>
          </a:ln>
        </p:spPr>
      </p:sp>
      <p:sp>
        <p:nvSpPr>
          <p:cNvPr id="18" name="Text 15"/>
          <p:cNvSpPr txBox="1"/>
          <p:nvPr/>
        </p:nvSpPr>
        <p:spPr>
          <a:xfrm>
            <a:off x="758952" y="5779008"/>
            <a:ext cx="10671048" cy="566928"/>
          </a:xfrm>
          <a:prstGeom prst="rect">
            <a:avLst/>
          </a:prstGeom>
          <a:noFill/>
          <a:ln/>
        </p:spPr>
        <p:txBody>
          <a:bodyPr wrap="square" lIns="0" tIns="0" rIns="0" bIns="0" rtlCol="0" anchor="ctr"/>
          <a:lstStyle/>
          <a:p>
            <a:pPr marL="0" indent="0">
              <a:buNone/>
            </a:pPr>
            <a:r>
              <a:rPr lang="ko-KR" sz="1350" b="1" dirty="0">
                <a:solidFill>
                  <a:srgbClr val="FFDF57"/>
                </a:solidFill>
                <a:latin typeface="Malgun Gothic" pitchFamily="34" charset="0"/>
                <a:ea typeface="Malgun Gothic" pitchFamily="34" charset="-122"/>
                <a:cs typeface="Malgun Gothic" pitchFamily="34" charset="-120"/>
              </a:rPr>
              <a:t xml:space="preserve">보강 전/후를 비교해 4요소가 자동으로 채워졌는지 확인</a:t>
            </a:r>
            <a:endParaRPr lang="ko-KR"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5">
    <p:bg>
      <p:bgPr>
        <a:solidFill>
          <a:srgbClr val="1A1810"/>
        </a:solidFill>
        <a:effectLst/>
      </p:bgPr>
    </p:bg>
    <p:spTree>
      <p:nvGrpSpPr>
        <p:cNvPr id="1" name=""/>
        <p:cNvGrpSpPr/>
        <p:nvPr/>
      </p:nvGrpSpPr>
      <p:grpSpPr>
        <a:xfrm>
          <a:off x="0" y="0"/>
          <a:ext cx="0" cy="0"/>
          <a:chOff x="0" y="0"/>
          <a:chExt cx="0" cy="0"/>
        </a:xfrm>
      </p:grpSpPr>
      <p:sp>
        <p:nvSpPr>
          <p:cNvPr id="2" name="Title"/>
          <p:cNvSpPr txBox="1"/>
          <p:nvPr/>
        </p:nvSpPr>
        <p:spPr>
          <a:xfrm>
            <a:off x="502920" y="384048"/>
            <a:ext cx="11183112" cy="566928"/>
          </a:xfrm>
          <a:prstGeom prst="rect">
            <a:avLst/>
          </a:prstGeom>
          <a:noFill/>
          <a:ln/>
        </p:spPr>
        <p:txBody>
          <a:bodyPr wrap="square" lIns="0" tIns="0" rIns="0" bIns="0" rtlCol="0" anchor="ctr"/>
          <a:lstStyle/>
          <a:p>
            <a:pPr marL="0" indent="0">
              <a:buNone/>
            </a:pPr>
            <a:r>
              <a:rPr lang="ko-KR" sz="2100" b="1" dirty="0">
                <a:solidFill>
                  <a:srgbClr val="FFDF57"/>
                </a:solidFill>
                <a:latin typeface="Malgun Gothic" pitchFamily="34" charset="0"/>
                <a:ea typeface="Malgun Gothic" pitchFamily="34" charset="-122"/>
                <a:cs typeface="Malgun Gothic" pitchFamily="34" charset="-120"/>
              </a:rPr>
              <a:t xml:space="preserve">'모른다'에 점수를 주기 시작 — 채점 규칙이 바뀌는 중</a:t>
            </a:r>
            <a:endParaRPr lang="ko-KR" sz="2100" dirty="0"/>
          </a:p>
        </p:txBody>
      </p:sp>
      <p:sp>
        <p:nvSpPr>
          <p:cNvPr id="3" name="Subtitle"/>
          <p:cNvSpPr txBox="1"/>
          <p:nvPr/>
        </p:nvSpPr>
        <p:spPr>
          <a:xfrm>
            <a:off x="502920" y="969264"/>
            <a:ext cx="11183112" cy="384048"/>
          </a:xfrm>
          <a:prstGeom prst="rect">
            <a:avLst/>
          </a:prstGeom>
          <a:noFill/>
          <a:ln/>
        </p:spPr>
        <p:txBody>
          <a:bodyPr wrap="square" lIns="0" tIns="0" rIns="0" bIns="0" rtlCol="0" anchor="ctr"/>
          <a:lstStyle/>
          <a:p>
            <a:pPr marL="0" indent="0">
              <a:buNone/>
            </a:pPr>
            <a:r>
              <a:rPr lang="ko-KR" sz="1350" dirty="0">
                <a:solidFill>
                  <a:srgbClr val="F5F1E4"/>
                </a:solidFill>
                <a:latin typeface="Malgun Gothic" pitchFamily="34" charset="0"/>
                <a:ea typeface="Malgun Gothic" pitchFamily="34" charset="-122"/>
                <a:cs typeface="Malgun Gothic" pitchFamily="34" charset="-120"/>
              </a:rPr>
              <a:t xml:space="preserve">2025년 하반기부터 '확신에 찬 오답'을 '모른다'보다 더 감점하는 평가·학습이 등장</a:t>
            </a:r>
            <a:endParaRPr lang="ko-KR" sz="1350" dirty="0"/>
          </a:p>
        </p:txBody>
      </p:sp>
      <p:sp>
        <p:nvSpPr>
          <p:cNvPr id="4" name="Card L"/>
          <p:cNvSpPr/>
          <p:nvPr/>
        </p:nvSpPr>
        <p:spPr>
          <a:xfrm>
            <a:off x="502920" y="1481328"/>
            <a:ext cx="5413248" cy="4114800"/>
          </a:xfrm>
          <a:prstGeom prst="roundRect">
            <a:avLst>
              <a:gd name="adj" fmla="val 1589"/>
            </a:avLst>
          </a:prstGeom>
          <a:solidFill>
            <a:srgbClr val="232016"/>
          </a:solidFill>
          <a:ln w="12700">
            <a:solidFill>
              <a:srgbClr val="4A4430"/>
            </a:solidFill>
            <a:prstDash val="solid"/>
          </a:ln>
        </p:spPr>
      </p:sp>
      <p:sp>
        <p:nvSpPr>
          <p:cNvPr id="5" name="L head"/>
          <p:cNvSpPr txBox="1"/>
          <p:nvPr/>
        </p:nvSpPr>
        <p:spPr>
          <a:xfrm>
            <a:off x="722376" y="1627632"/>
            <a:ext cx="4965192" cy="365760"/>
          </a:xfrm>
          <a:prstGeom prst="rect">
            <a:avLst/>
          </a:prstGeom>
          <a:noFill/>
          <a:ln/>
        </p:spPr>
        <p:txBody>
          <a:bodyPr wrap="square" lIns="0" tIns="0" rIns="0" bIns="0" rtlCol="0" anchor="ctr"/>
          <a:lstStyle/>
          <a:p>
            <a:pPr marL="0" indent="0">
              <a:buNone/>
            </a:pPr>
            <a:r>
              <a:rPr lang="ko-KR" sz="1450" b="1" dirty="0">
                <a:solidFill>
                  <a:srgbClr val="FFD733"/>
                </a:solidFill>
                <a:latin typeface="Malgun Gothic" pitchFamily="34" charset="0"/>
                <a:ea typeface="Malgun Gothic" pitchFamily="34" charset="-122"/>
                <a:cs typeface="Malgun Gothic" pitchFamily="34" charset="-120"/>
              </a:rPr>
              <a:t xml:space="preserve">OpenAI · Why Language Models Hallucinate (2025.9)</a:t>
            </a:r>
            <a:endParaRPr lang="ko-KR" sz="1450" dirty="0"/>
          </a:p>
        </p:txBody>
      </p:sp>
      <p:sp>
        <p:nvSpPr>
          <p:cNvPr id="6" name="L body"/>
          <p:cNvSpPr txBox="1"/>
          <p:nvPr/>
        </p:nvSpPr>
        <p:spPr>
          <a:xfrm>
            <a:off x="722376" y="2048256"/>
            <a:ext cx="4965192" cy="658368"/>
          </a:xfrm>
          <a:prstGeom prst="rect">
            <a:avLst/>
          </a:prstGeom>
          <a:noFill/>
          <a:ln/>
        </p:spPr>
        <p:txBody>
          <a:bodyPr wrap="square" lIns="0" tIns="0" rIns="0" bIns="0" rtlCol="0" anchor="t"/>
          <a:lstStyle/>
          <a:p>
            <a:pPr marL="0" indent="0">
              <a:lnSpc>
                <a:spcPct val="118000"/>
              </a:lnSpc>
              <a:buNone/>
            </a:pPr>
            <a:r>
              <a:rPr lang="ko-KR" sz="1300" dirty="0">
                <a:solidFill>
                  <a:srgbClr val="F5F1E4"/>
                </a:solidFill>
                <a:latin typeface="Malgun Gothic" pitchFamily="34" charset="0"/>
                <a:ea typeface="Malgun Gothic" pitchFamily="34" charset="-122"/>
                <a:cs typeface="Malgun Gothic" pitchFamily="34" charset="-120"/>
              </a:rPr>
              <a:t xml:space="preserve">정확도만 보는 평가가 '찍기'를 보상 → 제안: 확신에 찬 오답은 유보(답변 보류, '모른다')보다 더 감점, 적절한 유보엔 부분 점수</a:t>
            </a:r>
            <a:endParaRPr lang="ko-KR" sz="1300" dirty="0"/>
          </a:p>
        </p:txBody>
      </p:sp>
      <p:sp>
        <p:nvSpPr>
          <p:cNvPr id="7" name="L tlabel"/>
          <p:cNvSpPr txBox="1"/>
          <p:nvPr/>
        </p:nvSpPr>
        <p:spPr>
          <a:xfrm>
            <a:off x="722376" y="2743200"/>
            <a:ext cx="4965192" cy="292608"/>
          </a:xfrm>
          <a:prstGeom prst="rect">
            <a:avLst/>
          </a:prstGeom>
          <a:noFill/>
          <a:ln/>
        </p:spPr>
        <p:txBody>
          <a:bodyPr wrap="square" lIns="0" tIns="0" rIns="0" bIns="0" rtlCol="0" anchor="ctr"/>
          <a:lstStyle/>
          <a:p>
            <a:pPr marL="0" indent="0">
              <a:buNone/>
            </a:pPr>
            <a:r>
              <a:rPr lang="ko-KR" sz="1300" b="1" dirty="0">
                <a:solidFill>
                  <a:srgbClr val="FFFFFF"/>
                </a:solidFill>
                <a:latin typeface="Malgun Gothic" pitchFamily="34" charset="0"/>
                <a:ea typeface="Malgun Gothic" pitchFamily="34" charset="-122"/>
                <a:cs typeface="Malgun Gothic" pitchFamily="34" charset="-120"/>
              </a:rPr>
              <a:t xml:space="preserve">SimpleQA 사실 질문 평가 (GPT-5 시스템 카드)</a:t>
            </a:r>
            <a:endParaRPr lang="ko-KR" sz="1300" dirty="0"/>
          </a:p>
        </p:txBody>
      </p:sp>
      <p:sp>
        <p:nvSpPr>
          <p:cNvPr id="8" name="L tbox"/>
          <p:cNvSpPr/>
          <p:nvPr/>
        </p:nvSpPr>
        <p:spPr>
          <a:xfrm>
            <a:off x="722376" y="3072384"/>
            <a:ext cx="4965192" cy="1481328"/>
          </a:xfrm>
          <a:prstGeom prst="roundRect">
            <a:avLst>
              <a:gd name="adj" fmla="val 1589"/>
            </a:avLst>
          </a:prstGeom>
          <a:solidFill>
            <a:srgbClr val="1A1810"/>
          </a:solidFill>
          <a:ln w="12700">
            <a:solidFill>
              <a:srgbClr val="4A4430"/>
            </a:solidFill>
            <a:prstDash val="solid"/>
          </a:ln>
        </p:spPr>
      </p:sp>
      <p:sp>
        <p:nvSpPr>
          <p:cNvPr id="9" name="Cell 0-1"/>
          <p:cNvSpPr txBox="1"/>
          <p:nvPr/>
        </p:nvSpPr>
        <p:spPr>
          <a:xfrm>
            <a:off x="2560320" y="3145536"/>
            <a:ext cx="1691640" cy="329184"/>
          </a:xfrm>
          <a:prstGeom prst="rect">
            <a:avLst/>
          </a:prstGeom>
          <a:noFill/>
          <a:ln/>
        </p:spPr>
        <p:txBody>
          <a:bodyPr wrap="square" lIns="0" tIns="0" rIns="0" bIns="0" rtlCol="0" anchor="ctr"/>
          <a:lstStyle/>
          <a:p>
            <a:pPr marL="0" indent="0">
              <a:buNone/>
            </a:pPr>
            <a:r>
              <a:rPr lang="ko-KR" sz="1200" b="1" dirty="0">
                <a:solidFill>
                  <a:srgbClr val="D4CEC0"/>
                </a:solidFill>
                <a:latin typeface="Malgun Gothic" pitchFamily="34" charset="0"/>
                <a:ea typeface="Malgun Gothic" pitchFamily="34" charset="-122"/>
                <a:cs typeface="Malgun Gothic" pitchFamily="34" charset="-120"/>
              </a:rPr>
              <a:t xml:space="preserve">gpt-5-thinking-mini</a:t>
            </a:r>
            <a:endParaRPr lang="ko-KR" sz="1200" dirty="0"/>
          </a:p>
        </p:txBody>
      </p:sp>
      <p:sp>
        <p:nvSpPr>
          <p:cNvPr id="10" name="Cell 0-2"/>
          <p:cNvSpPr txBox="1"/>
          <p:nvPr/>
        </p:nvSpPr>
        <p:spPr>
          <a:xfrm>
            <a:off x="4297680" y="3145536"/>
            <a:ext cx="1280160" cy="329184"/>
          </a:xfrm>
          <a:prstGeom prst="rect">
            <a:avLst/>
          </a:prstGeom>
          <a:noFill/>
          <a:ln/>
        </p:spPr>
        <p:txBody>
          <a:bodyPr wrap="square" lIns="0" tIns="0" rIns="0" bIns="0" rtlCol="0" anchor="ctr"/>
          <a:lstStyle/>
          <a:p>
            <a:pPr marL="0" indent="0">
              <a:buNone/>
            </a:pPr>
            <a:r>
              <a:rPr lang="ko-KR" sz="1200" b="1" dirty="0">
                <a:solidFill>
                  <a:srgbClr val="D4CEC0"/>
                </a:solidFill>
                <a:latin typeface="Malgun Gothic" pitchFamily="34" charset="0"/>
                <a:ea typeface="Malgun Gothic" pitchFamily="34" charset="-122"/>
                <a:cs typeface="Malgun Gothic" pitchFamily="34" charset="-120"/>
              </a:rPr>
              <a:t xml:space="preserve">o4-mini</a:t>
            </a:r>
            <a:endParaRPr lang="ko-KR" sz="1200" dirty="0"/>
          </a:p>
        </p:txBody>
      </p:sp>
      <p:sp>
        <p:nvSpPr>
          <p:cNvPr id="11" name="Cell 1-0"/>
          <p:cNvSpPr txBox="1"/>
          <p:nvPr/>
        </p:nvSpPr>
        <p:spPr>
          <a:xfrm>
            <a:off x="886968" y="3502152"/>
            <a:ext cx="1600200" cy="329184"/>
          </a:xfrm>
          <a:prstGeom prst="rect">
            <a:avLst/>
          </a:prstGeom>
          <a:noFill/>
          <a:ln/>
        </p:spPr>
        <p:txBody>
          <a:bodyPr wrap="square" lIns="0" tIns="0" rIns="0" bIns="0" rtlCol="0" anchor="ctr"/>
          <a:lstStyle/>
          <a:p>
            <a:pPr marL="0" indent="0">
              <a:buNone/>
            </a:pPr>
            <a:r>
              <a:rPr lang="ko-KR" sz="1300" dirty="0">
                <a:solidFill>
                  <a:srgbClr val="F5F1E4"/>
                </a:solidFill>
                <a:latin typeface="Malgun Gothic" pitchFamily="34" charset="0"/>
                <a:ea typeface="Malgun Gothic" pitchFamily="34" charset="-122"/>
                <a:cs typeface="Malgun Gothic" pitchFamily="34" charset="-120"/>
              </a:rPr>
              <a:t xml:space="preserve">유보율</a:t>
            </a:r>
            <a:endParaRPr lang="ko-KR" sz="1300" dirty="0"/>
          </a:p>
        </p:txBody>
      </p:sp>
      <p:sp>
        <p:nvSpPr>
          <p:cNvPr id="12" name="Cell 1-1"/>
          <p:cNvSpPr txBox="1"/>
          <p:nvPr/>
        </p:nvSpPr>
        <p:spPr>
          <a:xfrm>
            <a:off x="2560320" y="3502152"/>
            <a:ext cx="1691640" cy="329184"/>
          </a:xfrm>
          <a:prstGeom prst="rect">
            <a:avLst/>
          </a:prstGeom>
          <a:noFill/>
          <a:ln/>
        </p:spPr>
        <p:txBody>
          <a:bodyPr wrap="square" lIns="0" tIns="0" rIns="0" bIns="0" rtlCol="0" anchor="ctr"/>
          <a:lstStyle/>
          <a:p>
            <a:pPr marL="0" indent="0">
              <a:buNone/>
            </a:pPr>
            <a:r>
              <a:rPr lang="ko-KR" sz="1350" b="1" dirty="0">
                <a:solidFill>
                  <a:srgbClr val="FFFFFF"/>
                </a:solidFill>
                <a:latin typeface="Malgun Gothic" pitchFamily="34" charset="0"/>
                <a:ea typeface="Malgun Gothic" pitchFamily="34" charset="-122"/>
                <a:cs typeface="Malgun Gothic" pitchFamily="34" charset="-120"/>
              </a:rPr>
              <a:t xml:space="preserve">52%</a:t>
            </a:r>
            <a:endParaRPr lang="ko-KR" sz="1350" dirty="0"/>
          </a:p>
        </p:txBody>
      </p:sp>
      <p:sp>
        <p:nvSpPr>
          <p:cNvPr id="13" name="Cell 1-2"/>
          <p:cNvSpPr txBox="1"/>
          <p:nvPr/>
        </p:nvSpPr>
        <p:spPr>
          <a:xfrm>
            <a:off x="4297680" y="3502152"/>
            <a:ext cx="1280160" cy="329184"/>
          </a:xfrm>
          <a:prstGeom prst="rect">
            <a:avLst/>
          </a:prstGeom>
          <a:noFill/>
          <a:ln/>
        </p:spPr>
        <p:txBody>
          <a:bodyPr wrap="square" lIns="0" tIns="0" rIns="0" bIns="0" rtlCol="0" anchor="ctr"/>
          <a:lstStyle/>
          <a:p>
            <a:pPr marL="0" indent="0">
              <a:buNone/>
            </a:pPr>
            <a:r>
              <a:rPr lang="ko-KR" sz="1350" b="1" dirty="0">
                <a:solidFill>
                  <a:srgbClr val="FFFFFF"/>
                </a:solidFill>
                <a:latin typeface="Malgun Gothic" pitchFamily="34" charset="0"/>
                <a:ea typeface="Malgun Gothic" pitchFamily="34" charset="-122"/>
                <a:cs typeface="Malgun Gothic" pitchFamily="34" charset="-120"/>
              </a:rPr>
              <a:t xml:space="preserve">1%</a:t>
            </a:r>
            <a:endParaRPr lang="ko-KR" sz="1350" dirty="0"/>
          </a:p>
        </p:txBody>
      </p:sp>
      <p:sp>
        <p:nvSpPr>
          <p:cNvPr id="14" name="Cell 2-0"/>
          <p:cNvSpPr txBox="1"/>
          <p:nvPr/>
        </p:nvSpPr>
        <p:spPr>
          <a:xfrm>
            <a:off x="886968" y="3858768"/>
            <a:ext cx="1600200" cy="329184"/>
          </a:xfrm>
          <a:prstGeom prst="rect">
            <a:avLst/>
          </a:prstGeom>
          <a:noFill/>
          <a:ln/>
        </p:spPr>
        <p:txBody>
          <a:bodyPr wrap="square" lIns="0" tIns="0" rIns="0" bIns="0" rtlCol="0" anchor="ctr"/>
          <a:lstStyle/>
          <a:p>
            <a:pPr marL="0" indent="0">
              <a:buNone/>
            </a:pPr>
            <a:r>
              <a:rPr lang="ko-KR" sz="1300" dirty="0">
                <a:solidFill>
                  <a:srgbClr val="F5F1E4"/>
                </a:solidFill>
                <a:latin typeface="Malgun Gothic" pitchFamily="34" charset="0"/>
                <a:ea typeface="Malgun Gothic" pitchFamily="34" charset="-122"/>
                <a:cs typeface="Malgun Gothic" pitchFamily="34" charset="-120"/>
              </a:rPr>
              <a:t xml:space="preserve">정답률</a:t>
            </a:r>
            <a:endParaRPr lang="ko-KR" sz="1300" dirty="0"/>
          </a:p>
        </p:txBody>
      </p:sp>
      <p:sp>
        <p:nvSpPr>
          <p:cNvPr id="15" name="Cell 2-1"/>
          <p:cNvSpPr txBox="1"/>
          <p:nvPr/>
        </p:nvSpPr>
        <p:spPr>
          <a:xfrm>
            <a:off x="2560320" y="3858768"/>
            <a:ext cx="1691640" cy="329184"/>
          </a:xfrm>
          <a:prstGeom prst="rect">
            <a:avLst/>
          </a:prstGeom>
          <a:noFill/>
          <a:ln/>
        </p:spPr>
        <p:txBody>
          <a:bodyPr wrap="square" lIns="0" tIns="0" rIns="0" bIns="0" rtlCol="0" anchor="ctr"/>
          <a:lstStyle/>
          <a:p>
            <a:pPr marL="0" indent="0">
              <a:buNone/>
            </a:pPr>
            <a:r>
              <a:rPr lang="ko-KR" sz="1350" b="1" dirty="0">
                <a:solidFill>
                  <a:srgbClr val="FFFFFF"/>
                </a:solidFill>
                <a:latin typeface="Malgun Gothic" pitchFamily="34" charset="0"/>
                <a:ea typeface="Malgun Gothic" pitchFamily="34" charset="-122"/>
                <a:cs typeface="Malgun Gothic" pitchFamily="34" charset="-120"/>
              </a:rPr>
              <a:t xml:space="preserve">22%</a:t>
            </a:r>
            <a:endParaRPr lang="ko-KR" sz="1350" dirty="0"/>
          </a:p>
        </p:txBody>
      </p:sp>
      <p:sp>
        <p:nvSpPr>
          <p:cNvPr id="16" name="Cell 2-2"/>
          <p:cNvSpPr txBox="1"/>
          <p:nvPr/>
        </p:nvSpPr>
        <p:spPr>
          <a:xfrm>
            <a:off x="4297680" y="3858768"/>
            <a:ext cx="1280160" cy="329184"/>
          </a:xfrm>
          <a:prstGeom prst="rect">
            <a:avLst/>
          </a:prstGeom>
          <a:noFill/>
          <a:ln/>
        </p:spPr>
        <p:txBody>
          <a:bodyPr wrap="square" lIns="0" tIns="0" rIns="0" bIns="0" rtlCol="0" anchor="ctr"/>
          <a:lstStyle/>
          <a:p>
            <a:pPr marL="0" indent="0">
              <a:buNone/>
            </a:pPr>
            <a:r>
              <a:rPr lang="ko-KR" sz="1350" b="1" dirty="0">
                <a:solidFill>
                  <a:srgbClr val="FFFFFF"/>
                </a:solidFill>
                <a:latin typeface="Malgun Gothic" pitchFamily="34" charset="0"/>
                <a:ea typeface="Malgun Gothic" pitchFamily="34" charset="-122"/>
                <a:cs typeface="Malgun Gothic" pitchFamily="34" charset="-120"/>
              </a:rPr>
              <a:t xml:space="preserve">24%</a:t>
            </a:r>
            <a:endParaRPr lang="ko-KR" sz="1350" dirty="0"/>
          </a:p>
        </p:txBody>
      </p:sp>
      <p:sp>
        <p:nvSpPr>
          <p:cNvPr id="17" name="Cell 3-0"/>
          <p:cNvSpPr txBox="1"/>
          <p:nvPr/>
        </p:nvSpPr>
        <p:spPr>
          <a:xfrm>
            <a:off x="886968" y="4215384"/>
            <a:ext cx="1600200" cy="329184"/>
          </a:xfrm>
          <a:prstGeom prst="rect">
            <a:avLst/>
          </a:prstGeom>
          <a:noFill/>
          <a:ln/>
        </p:spPr>
        <p:txBody>
          <a:bodyPr wrap="square" lIns="0" tIns="0" rIns="0" bIns="0" rtlCol="0" anchor="ctr"/>
          <a:lstStyle/>
          <a:p>
            <a:pPr marL="0" indent="0">
              <a:buNone/>
            </a:pPr>
            <a:r>
              <a:rPr lang="ko-KR" sz="1300" dirty="0">
                <a:solidFill>
                  <a:srgbClr val="F5F1E4"/>
                </a:solidFill>
                <a:latin typeface="Malgun Gothic" pitchFamily="34" charset="0"/>
                <a:ea typeface="Malgun Gothic" pitchFamily="34" charset="-122"/>
                <a:cs typeface="Malgun Gothic" pitchFamily="34" charset="-120"/>
              </a:rPr>
              <a:t xml:space="preserve">오류율 (오답)</a:t>
            </a:r>
            <a:endParaRPr lang="ko-KR" sz="1300" dirty="0"/>
          </a:p>
        </p:txBody>
      </p:sp>
      <p:sp>
        <p:nvSpPr>
          <p:cNvPr id="18" name="Cell 3-1"/>
          <p:cNvSpPr txBox="1"/>
          <p:nvPr/>
        </p:nvSpPr>
        <p:spPr>
          <a:xfrm>
            <a:off x="2560320" y="4215384"/>
            <a:ext cx="1691640" cy="329184"/>
          </a:xfrm>
          <a:prstGeom prst="rect">
            <a:avLst/>
          </a:prstGeom>
          <a:noFill/>
          <a:ln/>
        </p:spPr>
        <p:txBody>
          <a:bodyPr wrap="square" lIns="0" tIns="0" rIns="0" bIns="0" rtlCol="0" anchor="ctr"/>
          <a:lstStyle/>
          <a:p>
            <a:pPr marL="0" indent="0">
              <a:buNone/>
            </a:pPr>
            <a:r>
              <a:rPr lang="ko-KR" sz="1350" b="1" dirty="0">
                <a:solidFill>
                  <a:srgbClr val="8FDDA4"/>
                </a:solidFill>
                <a:latin typeface="Malgun Gothic" pitchFamily="34" charset="0"/>
                <a:ea typeface="Malgun Gothic" pitchFamily="34" charset="-122"/>
                <a:cs typeface="Malgun Gothic" pitchFamily="34" charset="-120"/>
              </a:rPr>
              <a:t xml:space="preserve">26%</a:t>
            </a:r>
            <a:endParaRPr lang="ko-KR" sz="1350" dirty="0"/>
          </a:p>
        </p:txBody>
      </p:sp>
      <p:sp>
        <p:nvSpPr>
          <p:cNvPr id="19" name="Cell 3-2"/>
          <p:cNvSpPr txBox="1"/>
          <p:nvPr/>
        </p:nvSpPr>
        <p:spPr>
          <a:xfrm>
            <a:off x="4297680" y="4215384"/>
            <a:ext cx="1280160" cy="329184"/>
          </a:xfrm>
          <a:prstGeom prst="rect">
            <a:avLst/>
          </a:prstGeom>
          <a:noFill/>
          <a:ln/>
        </p:spPr>
        <p:txBody>
          <a:bodyPr wrap="square" lIns="0" tIns="0" rIns="0" bIns="0" rtlCol="0" anchor="ctr"/>
          <a:lstStyle/>
          <a:p>
            <a:pPr marL="0" indent="0">
              <a:buNone/>
            </a:pPr>
            <a:r>
              <a:rPr lang="ko-KR" sz="1350" b="1" dirty="0">
                <a:solidFill>
                  <a:srgbClr val="FF9B8A"/>
                </a:solidFill>
                <a:latin typeface="Malgun Gothic" pitchFamily="34" charset="0"/>
                <a:ea typeface="Malgun Gothic" pitchFamily="34" charset="-122"/>
                <a:cs typeface="Malgun Gothic" pitchFamily="34" charset="-120"/>
              </a:rPr>
              <a:t xml:space="preserve">75%</a:t>
            </a:r>
            <a:endParaRPr lang="ko-KR" sz="1350" dirty="0"/>
          </a:p>
        </p:txBody>
      </p:sp>
      <p:sp>
        <p:nvSpPr>
          <p:cNvPr id="20" name="L note"/>
          <p:cNvSpPr txBox="1"/>
          <p:nvPr/>
        </p:nvSpPr>
        <p:spPr>
          <a:xfrm>
            <a:off x="722376" y="4663440"/>
            <a:ext cx="4965192" cy="822960"/>
          </a:xfrm>
          <a:prstGeom prst="rect">
            <a:avLst/>
          </a:prstGeom>
          <a:noFill/>
          <a:ln/>
        </p:spPr>
        <p:txBody>
          <a:bodyPr wrap="square" lIns="0" tIns="0" rIns="0" bIns="0" rtlCol="0" anchor="t"/>
          <a:lstStyle/>
          <a:p>
            <a:pPr marL="0" indent="0">
              <a:lnSpc>
                <a:spcPct val="118000"/>
              </a:lnSpc>
              <a:buNone/>
            </a:pPr>
            <a:r>
              <a:rPr lang="ko-KR" sz="1250" dirty="0">
                <a:solidFill>
                  <a:srgbClr val="D4CEC0"/>
                </a:solidFill>
                <a:latin typeface="Malgun Gothic" pitchFamily="34" charset="0"/>
                <a:ea typeface="Malgun Gothic" pitchFamily="34" charset="-122"/>
                <a:cs typeface="Malgun Gothic" pitchFamily="34" charset="-120"/>
              </a:rPr>
              <a:t xml:space="preserve">유보가 많은 모델: 정답률은 2%p 낮을 뿐인데 오류율은 약 1/3 — 찍기를 줄이면 정답은 거의 그대로, 오답만 크게 감소</a:t>
            </a:r>
            <a:endParaRPr lang="ko-KR" sz="1250" dirty="0"/>
          </a:p>
        </p:txBody>
      </p:sp>
      <p:sp>
        <p:nvSpPr>
          <p:cNvPr id="21" name="Card R"/>
          <p:cNvSpPr/>
          <p:nvPr/>
        </p:nvSpPr>
        <p:spPr>
          <a:xfrm>
            <a:off x="6281928" y="1481328"/>
            <a:ext cx="5413248" cy="4114800"/>
          </a:xfrm>
          <a:prstGeom prst="roundRect">
            <a:avLst>
              <a:gd name="adj" fmla="val 1589"/>
            </a:avLst>
          </a:prstGeom>
          <a:solidFill>
            <a:srgbClr val="232016"/>
          </a:solidFill>
          <a:ln w="12700">
            <a:solidFill>
              <a:srgbClr val="4A4430"/>
            </a:solidFill>
            <a:prstDash val="solid"/>
          </a:ln>
        </p:spPr>
      </p:sp>
      <p:sp>
        <p:nvSpPr>
          <p:cNvPr id="22" name="R head"/>
          <p:cNvSpPr txBox="1"/>
          <p:nvPr/>
        </p:nvSpPr>
        <p:spPr>
          <a:xfrm>
            <a:off x="6501384" y="1627632"/>
            <a:ext cx="4965192" cy="365760"/>
          </a:xfrm>
          <a:prstGeom prst="rect">
            <a:avLst/>
          </a:prstGeom>
          <a:noFill/>
          <a:ln/>
        </p:spPr>
        <p:txBody>
          <a:bodyPr wrap="square" lIns="0" tIns="0" rIns="0" bIns="0" rtlCol="0" anchor="ctr"/>
          <a:lstStyle/>
          <a:p>
            <a:pPr marL="0" indent="0">
              <a:buNone/>
            </a:pPr>
            <a:r>
              <a:rPr lang="ko-KR" sz="1450" b="1" dirty="0">
                <a:solidFill>
                  <a:srgbClr val="FFD733"/>
                </a:solidFill>
                <a:latin typeface="Malgun Gothic" pitchFamily="34" charset="0"/>
                <a:ea typeface="Malgun Gothic" pitchFamily="34" charset="-122"/>
                <a:cs typeface="Malgun Gothic" pitchFamily="34" charset="-120"/>
              </a:rPr>
              <a:t xml:space="preserve">Artificial Analysis · AA-Omniscience (2025.11)</a:t>
            </a:r>
            <a:endParaRPr lang="ko-KR" sz="1450" dirty="0"/>
          </a:p>
        </p:txBody>
      </p:sp>
      <p:sp>
        <p:nvSpPr>
          <p:cNvPr id="23" name="R body"/>
          <p:cNvSpPr txBox="1"/>
          <p:nvPr/>
        </p:nvSpPr>
        <p:spPr>
          <a:xfrm>
            <a:off x="6501384" y="2139696"/>
            <a:ext cx="4965192" cy="1828800"/>
          </a:xfrm>
          <a:prstGeom prst="rect">
            <a:avLst/>
          </a:prstGeom>
          <a:noFill/>
          <a:ln/>
        </p:spPr>
        <p:txBody>
          <a:bodyPr wrap="square" lIns="0" tIns="0" rIns="0" bIns="0" rtlCol="0" anchor="t"/>
          <a:lstStyle/>
          <a:p>
            <a:pPr marL="0" indent="0">
              <a:lnSpc>
                <a:spcPct val="118000"/>
              </a:lnSpc>
              <a:spcAft>
                <a:spcPts val="1600"/>
              </a:spcAft>
              <a:buNone/>
            </a:pPr>
            <a:r>
              <a:rPr lang="ko-KR" sz="1300" b="1" dirty="0">
                <a:solidFill>
                  <a:srgbClr val="FFD733"/>
                </a:solidFill>
                <a:latin typeface="Malgun Gothic" pitchFamily="34" charset="0"/>
                <a:ea typeface="Malgun Gothic" pitchFamily="34" charset="-122"/>
                <a:cs typeface="Malgun Gothic" pitchFamily="34" charset="-120"/>
              </a:rPr>
              <a:t xml:space="preserve">채점  </a:t>
            </a:r>
            <a:r>
              <a:rPr lang="ko-KR" sz="1300" dirty="0">
                <a:solidFill>
                  <a:srgbClr val="F5F1E4"/>
                </a:solidFill>
                <a:latin typeface="Malgun Gothic" pitchFamily="34" charset="0"/>
                <a:ea typeface="Malgun Gothic" pitchFamily="34" charset="-122"/>
                <a:cs typeface="Malgun Gothic" pitchFamily="34" charset="-120"/>
              </a:rPr>
              <a:t xml:space="preserve">정답 +1 · 오답 −1 · 유보 0 — 모르면서 찍으면 감점</a:t>
            </a:r>
            <a:endParaRPr lang="ko-KR" sz="1300" dirty="0"/>
          </a:p>
          <a:p>
            <a:pPr marL="0" indent="0">
              <a:lnSpc>
                <a:spcPct val="118000"/>
              </a:lnSpc>
              <a:spcAft>
                <a:spcPts val="1600"/>
              </a:spcAft>
              <a:buNone/>
            </a:pPr>
            <a:r>
              <a:rPr lang="ko-KR" sz="1300" b="1" dirty="0">
                <a:solidFill>
                  <a:srgbClr val="FFD733"/>
                </a:solidFill>
                <a:latin typeface="Malgun Gothic" pitchFamily="34" charset="0"/>
                <a:ea typeface="Malgun Gothic" pitchFamily="34" charset="-122"/>
                <a:cs typeface="Malgun Gothic" pitchFamily="34" charset="-120"/>
              </a:rPr>
              <a:t xml:space="preserve">환각률  </a:t>
            </a:r>
            <a:r>
              <a:rPr lang="ko-KR" sz="1300" dirty="0">
                <a:solidFill>
                  <a:srgbClr val="F5F1E4"/>
                </a:solidFill>
                <a:latin typeface="Malgun Gothic" pitchFamily="34" charset="0"/>
                <a:ea typeface="Malgun Gothic" pitchFamily="34" charset="-122"/>
                <a:cs typeface="Malgun Gothic" pitchFamily="34" charset="-120"/>
              </a:rPr>
              <a:t xml:space="preserve">모를 때 찍는 비율 = 오답 ÷ (오답 + 유보)</a:t>
            </a:r>
            <a:endParaRPr lang="ko-KR" sz="1300" dirty="0"/>
          </a:p>
          <a:p>
            <a:pPr marL="0" indent="0">
              <a:lnSpc>
                <a:spcPct val="118000"/>
              </a:lnSpc>
              <a:buNone/>
            </a:pPr>
            <a:r>
              <a:rPr lang="ko-KR" sz="1300" b="1" dirty="0">
                <a:solidFill>
                  <a:srgbClr val="FFD733"/>
                </a:solidFill>
                <a:latin typeface="Malgun Gothic" pitchFamily="34" charset="0"/>
                <a:ea typeface="Malgun Gothic" pitchFamily="34" charset="-122"/>
                <a:cs typeface="Malgun Gothic" pitchFamily="34" charset="-120"/>
              </a:rPr>
              <a:t xml:space="preserve">결과  </a:t>
            </a:r>
            <a:r>
              <a:rPr lang="ko-KR" sz="1300" dirty="0">
                <a:solidFill>
                  <a:srgbClr val="F5F1E4"/>
                </a:solidFill>
                <a:latin typeface="Malgun Gothic" pitchFamily="34" charset="0"/>
                <a:ea typeface="Malgun Gothic" pitchFamily="34" charset="-122"/>
                <a:cs typeface="Malgun Gothic" pitchFamily="34" charset="-120"/>
              </a:rPr>
              <a:t xml:space="preserve">정답률이 높아도 모를 때 찍으면 환각률이 높음 — 예: Gemini 3 Pro(2025.11)는 정답률 1위, 환각률 88%</a:t>
            </a:r>
            <a:endParaRPr lang="ko-KR" sz="1300" dirty="0"/>
          </a:p>
        </p:txBody>
      </p:sp>
      <p:sp>
        <p:nvSpPr>
          <p:cNvPr id="24" name="R box"/>
          <p:cNvSpPr/>
          <p:nvPr/>
        </p:nvSpPr>
        <p:spPr>
          <a:xfrm>
            <a:off x="6501384" y="4041648"/>
            <a:ext cx="4965192" cy="1371600"/>
          </a:xfrm>
          <a:prstGeom prst="roundRect">
            <a:avLst>
              <a:gd name="adj" fmla="val 1589"/>
            </a:avLst>
          </a:prstGeom>
          <a:solidFill>
            <a:srgbClr val="2B2719"/>
          </a:solidFill>
          <a:ln w="12700">
            <a:solidFill>
              <a:srgbClr val="4A4430"/>
            </a:solidFill>
            <a:prstDash val="solid"/>
          </a:ln>
        </p:spPr>
      </p:sp>
      <p:sp>
        <p:nvSpPr>
          <p:cNvPr id="25" name="R box text"/>
          <p:cNvSpPr txBox="1"/>
          <p:nvPr/>
        </p:nvSpPr>
        <p:spPr>
          <a:xfrm>
            <a:off x="6665976" y="4114800"/>
            <a:ext cx="4645152" cy="1225296"/>
          </a:xfrm>
          <a:prstGeom prst="rect">
            <a:avLst/>
          </a:prstGeom>
          <a:noFill/>
          <a:ln/>
        </p:spPr>
        <p:txBody>
          <a:bodyPr wrap="square" lIns="0" tIns="0" rIns="0" bIns="0" rtlCol="0" anchor="ctr"/>
          <a:lstStyle/>
          <a:p>
            <a:pPr marL="0" indent="0">
              <a:lnSpc>
                <a:spcPct val="118000"/>
              </a:lnSpc>
              <a:buNone/>
            </a:pPr>
            <a:r>
              <a:rPr lang="ko-KR" sz="1250" b="1" dirty="0">
                <a:solidFill>
                  <a:srgbClr val="FFD733"/>
                </a:solidFill>
                <a:latin typeface="Malgun Gothic" pitchFamily="34" charset="0"/>
                <a:ea typeface="Malgun Gothic" pitchFamily="34" charset="-122"/>
                <a:cs typeface="Malgun Gothic" pitchFamily="34" charset="-120"/>
              </a:rPr>
              <a:t xml:space="preserve">시사점  </a:t>
            </a:r>
            <a:r>
              <a:rPr lang="ko-KR" sz="1250" dirty="0">
                <a:solidFill>
                  <a:srgbClr val="F5F1E4"/>
                </a:solidFill>
                <a:latin typeface="Malgun Gothic" pitchFamily="34" charset="0"/>
                <a:ea typeface="Malgun Gothic" pitchFamily="34" charset="-122"/>
                <a:cs typeface="Malgun Gothic" pitchFamily="34" charset="-120"/>
              </a:rPr>
              <a:t xml:space="preserve">최신 모델은 모를 때 '확인 필요'라고 답하는 경우가 늘어남 → 실습에서 환각이 바로 안 보일 수 있음. 다만 오류율이 0은 아니므로 근거 제공은 여전히 필요</a:t>
            </a:r>
            <a:endParaRPr lang="ko-KR" sz="1250" dirty="0"/>
          </a:p>
        </p:txBody>
      </p:sp>
      <p:sp>
        <p:nvSpPr>
          <p:cNvPr id="26" name="Bar"/>
          <p:cNvSpPr/>
          <p:nvPr/>
        </p:nvSpPr>
        <p:spPr>
          <a:xfrm>
            <a:off x="502920" y="5779008"/>
            <a:ext cx="11183112" cy="566928"/>
          </a:xfrm>
          <a:prstGeom prst="roundRect">
            <a:avLst>
              <a:gd name="adj" fmla="val 1589"/>
            </a:avLst>
          </a:prstGeom>
          <a:solidFill>
            <a:srgbClr val="2B2719"/>
          </a:solidFill>
          <a:ln w="12700">
            <a:solidFill>
              <a:srgbClr val="4A4430"/>
            </a:solidFill>
            <a:prstDash val="solid"/>
          </a:ln>
        </p:spPr>
      </p:sp>
      <p:sp>
        <p:nvSpPr>
          <p:cNvPr id="27" name="Bar text"/>
          <p:cNvSpPr txBox="1"/>
          <p:nvPr/>
        </p:nvSpPr>
        <p:spPr>
          <a:xfrm>
            <a:off x="758952" y="5779008"/>
            <a:ext cx="10671048" cy="566928"/>
          </a:xfrm>
          <a:prstGeom prst="rect">
            <a:avLst/>
          </a:prstGeom>
          <a:noFill/>
          <a:ln/>
        </p:spPr>
        <p:txBody>
          <a:bodyPr wrap="square" lIns="0" tIns="0" rIns="0" bIns="0" rtlCol="0" anchor="ctr"/>
          <a:lstStyle/>
          <a:p>
            <a:pPr marL="0" indent="0">
              <a:buNone/>
            </a:pPr>
            <a:r>
              <a:rPr lang="ko-KR" sz="1350" b="1" dirty="0">
                <a:solidFill>
                  <a:srgbClr val="FFDF57"/>
                </a:solidFill>
                <a:latin typeface="Malgun Gothic" pitchFamily="34" charset="0"/>
                <a:ea typeface="Malgun Gothic" pitchFamily="34" charset="-122"/>
                <a:cs typeface="Malgun Gothic" pitchFamily="34" charset="-120"/>
              </a:rPr>
              <a:t xml:space="preserve">모델은 '모른다'를 배우는 중이지만 오류율은 0이 아님 — 사용자 쪽에서는 프롬프트로 채점 규칙을 바꾸는 것이 가장 빠른 방법</a:t>
            </a:r>
            <a:endParaRPr lang="ko-KR"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3817</Words>
  <Application>Microsoft Office PowerPoint</Application>
  <PresentationFormat>와이드스크린</PresentationFormat>
  <Paragraphs>420</Paragraphs>
  <Slides>32</Slides>
  <Notes>32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32</vt:i4>
      </vt:variant>
    </vt:vector>
  </HeadingPairs>
  <TitlesOfParts>
    <vt:vector size="35" baseType="lpstr">
      <vt:lpstr>Malgun Gothic</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think</cp:lastModifiedBy>
  <cp:revision>1</cp:revision>
  <dcterms:created xsi:type="dcterms:W3CDTF">2026-08-28T02:55:08Z</dcterms:created>
  <dcterms:modified xsi:type="dcterms:W3CDTF">2026-08-28T02:59:17Z</dcterms:modified>
</cp:coreProperties>
</file>