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7" r:id="rId2"/>
    <p:sldId id="258" r:id="rId3"/>
    <p:sldId id="259" r:id="rId4"/>
    <p:sldId id="260" r:id="rId5"/>
    <p:sldId id="261" r:id="rId6"/>
    <p:sldId id="262" r:id="rId7"/>
    <p:sldId id="274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5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026" autoAdjust="0"/>
  </p:normalViewPr>
  <p:slideViewPr>
    <p:cSldViewPr snapToGrid="0">
      <p:cViewPr varScale="1">
        <p:scale>
          <a:sx n="105" d="100"/>
          <a:sy n="105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51781-2FAD-4408-9D2B-9AAF0E28779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E68971-8A18-4432-9241-6F774AE9F4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1393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8587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7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1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준비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979295" y="598932"/>
            <a:ext cx="938944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시작 전 준비 사항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5148072" cy="22860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9339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2416" y="23042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강의자료 다운로드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2416" y="2688336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수강 신청 시 등록한 개인 이메일로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148072" cy="22860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199339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37376" y="23042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 설치 · 로그인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37376" y="2688336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claude.ai/download에서 운영체제(Windows 10·macOS 13 이상)에 맞는 설치 파일 다운로드 후 설치. 유료 계정(Pro 이상) 로그인 필수 — 비교 실습에 쓰는 Opus는 유료 플랜에서만 선택 가능.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821528" y="2441448"/>
            <a:ext cx="548640" cy="4572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0"/>
            <a:ext cx="109115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Grilling으로 원하는 결과를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이끌어내는 프롬프트 만들기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621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문제 진단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490470" y="598932"/>
            <a:ext cx="8878265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프롬프트를 써도 원하는 결과가 나오지 않는 이유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지시하지 않은 부분을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스스로 메우는 구조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이기 때문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10545775" cy="8686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11680"/>
            <a:ext cx="50292" cy="86868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13969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모호한 한 줄 지시의 예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280" y="2432304"/>
            <a:ext cx="9997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“보도자료 어떻게 써?”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3200400"/>
            <a:ext cx="3088538" cy="10515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00400"/>
            <a:ext cx="308853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227832"/>
            <a:ext cx="286908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모호한 한 줄 지시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의도의 일부만 글로 전달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948074" y="3200400"/>
            <a:ext cx="5669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51578" y="3200400"/>
            <a:ext cx="3088538" cy="10515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1578" y="3200400"/>
            <a:ext cx="308853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6" name="Text 14"/>
          <p:cNvSpPr/>
          <p:nvPr/>
        </p:nvSpPr>
        <p:spPr>
          <a:xfrm>
            <a:off x="4661306" y="3227832"/>
            <a:ext cx="286908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빈칸을 임의로 가정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 없는 부분을 스스로 결정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76693" y="3200400"/>
            <a:ext cx="5669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80197" y="3200400"/>
            <a:ext cx="3088538" cy="10515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80197" y="3200400"/>
            <a:ext cx="308853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20" name="Text 18"/>
          <p:cNvSpPr/>
          <p:nvPr/>
        </p:nvSpPr>
        <p:spPr>
          <a:xfrm>
            <a:off x="8389925" y="3227832"/>
            <a:ext cx="286908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원치 않은 결과 · 환각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일반론 답변 · 사실과 다른 내용까지 생성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0545775" cy="8686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" y="4736592"/>
            <a:ext cx="101068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42416" y="5001768"/>
            <a:ext cx="10106863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지시하지 않은 것은 모델에게 모호한 의도로 남는 부분 — 결국 임의 생성과 환각의 출발점.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621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근본 원인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490470" y="598932"/>
            <a:ext cx="8878265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작성한 프롬프트에는 빈틈이 많음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148072" cy="19659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476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아는 것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2416" y="225856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기재 → 모델이 정확히 반영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2416" y="2642616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적힌 내용은 그대로 반영. 다만 전문가일수록 '이건 당연하지'라며 생략하는 내용이 많은 편 — 모델은 그 '당연한 것'을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알지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못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148072" cy="19659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37376" y="19476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모르는 것 · BLIND SPOT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37376" y="225856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기재되지 않음 → 모델이 임의로 생성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37376" y="2642616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적히지 않은 빈칸이 곧 blind spot. 모델이 스스로 채우는 과정에서 원치 않은 결과와 환각으로 연결.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Guide Box"/>
          <p:cNvSpPr/>
          <p:nvPr/>
        </p:nvSpPr>
        <p:spPr>
          <a:xfrm>
            <a:off x="822960" y="4069080"/>
            <a:ext cx="10545775" cy="16459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9" name="Guide Bar"/>
          <p:cNvSpPr/>
          <p:nvPr/>
        </p:nvSpPr>
        <p:spPr>
          <a:xfrm>
            <a:off x="822960" y="4069080"/>
            <a:ext cx="50292" cy="164592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20" name="Guide Label"/>
          <p:cNvSpPr/>
          <p:nvPr/>
        </p:nvSpPr>
        <p:spPr>
          <a:xfrm>
            <a:off x="1097280" y="419709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 공식 프롬프트 가이드의 같은 진단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Guide Body"/>
          <p:cNvSpPr/>
          <p:nvPr/>
        </p:nvSpPr>
        <p:spPr>
          <a:xfrm>
            <a:off x="1097280" y="4489704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Claude는 뛰어나지만 우리 조직의 규칙과 업무 방식은 모르는 신입 직원과 같음 — 원하는 것을 정확히 설명할수록 결과가 좋아짐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방법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업무를 잘 모르는 동료에게 프롬프트를 보여주고 그대로 해 보게 할 것. 동료가 헷갈리면 Claude도 헷갈림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Guide Source"/>
          <p:cNvSpPr/>
          <p:nvPr/>
        </p:nvSpPr>
        <p:spPr>
          <a:xfrm>
            <a:off x="1097280" y="534924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Anthropic, Prompting best practices (platform.claude.com) · 2026. 10. 확인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53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해법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4065" y="598932"/>
            <a:ext cx="932467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Grilling — AI가 질문을 던져 나와 AI의 이해를 일치시킴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10545775" cy="10972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65960"/>
            <a:ext cx="50292" cy="109728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09397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2386584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대략적인 아이디어만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나에게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끝까지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질문하도록 해서, 이 문제에 어떤 관점이 더 필요하고 어떤 정보가 빠져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있는지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끌어내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싶어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.”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3611880"/>
            <a:ext cx="2844698" cy="10972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611880"/>
            <a:ext cx="284469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639312"/>
            <a:ext cx="262524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대략적 아이디어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막연한 출발점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04234" y="3611880"/>
            <a:ext cx="932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→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73498" y="3611880"/>
            <a:ext cx="2844698" cy="10972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73498" y="3611880"/>
            <a:ext cx="284469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5" name="Text 13"/>
          <p:cNvSpPr/>
          <p:nvPr/>
        </p:nvSpPr>
        <p:spPr>
          <a:xfrm>
            <a:off x="4783226" y="3639312"/>
            <a:ext cx="262524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 이해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관점 · 정보 보강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554773" y="3611880"/>
            <a:ext cx="932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→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524037" y="3611880"/>
            <a:ext cx="2844698" cy="109728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24037" y="3611880"/>
            <a:ext cx="284469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9" name="Text 17"/>
          <p:cNvSpPr/>
          <p:nvPr/>
        </p:nvSpPr>
        <p:spPr>
          <a:xfrm>
            <a:off x="8633765" y="3639312"/>
            <a:ext cx="262524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실행 가능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프롬프트는 이해의 구체성에서 출발 — Grilling은 그 이해를 빠르게 끌어올리는 수단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621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작동 원리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490470" y="598932"/>
            <a:ext cx="8878265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질문은 묶어서 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답은 추천과 함께 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합의되면 종합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3271418" cy="248716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4767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2416" y="225856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</a:t>
            </a: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질문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2416" y="2642616"/>
            <a:ext cx="283250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하나씩 주고받지 않고, 지금 답할 수 있는 질문을 한 묶음(라운드)으로 물어봄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답에 따라 다음 질문 묶음이 정해짐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찾을 수 있는 사실은 AI가 직접 확인 — 사용자에게는 결정만 질문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60138" y="1783080"/>
            <a:ext cx="3271418" cy="248716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9594" y="194767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79594" y="225856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추천답 동반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79594" y="2642616"/>
            <a:ext cx="283250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추천답 제시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'예'라고만 답하면 추천답이 채택되도록 질문을 구성 — 잘 모르는 질문은 '예'로 넘어갈 수 있음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97317" y="1783080"/>
            <a:ext cx="3271418" cy="248716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16773" y="194767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16773" y="225856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 후 종합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16773" y="2642616"/>
            <a:ext cx="283250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물어볼 질문이 남지 않을 때까지 묶음 질문을 반복. 이해가 일치했다고 사용자가 확인한 뒤 최종안 생성.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설치와 사용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660904" y="598932"/>
            <a:ext cx="8705088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— 자주 쓰는 작업 지시를 저장해 두고 자동으로 불러 쓰는 기능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3271418" cy="21031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4767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2416" y="225856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SKILL.md 파일 하나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2416" y="2642616"/>
            <a:ext cx="28325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SKILL.md 파일 하나가 기본 단위 — 참고 파일이 있으면 폴더로 묶음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위에 이름·설명, 그 아래에 작업 지시 본문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60138" y="1783080"/>
            <a:ext cx="3271418" cy="21031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9594" y="194767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작동 방식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79594" y="225856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설명과 맞으면 자동 적용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79594" y="2642616"/>
            <a:ext cx="28325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평소에는 Claude가 스킬의 이름과 설명만 읽어 둠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내용이 설명과 맞으면 본문 전체를 불러와 그대로 따름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97317" y="1783080"/>
            <a:ext cx="3271418" cy="21031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16773" y="194767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범위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16773" y="225856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AI 도구에서 같은 형식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16773" y="2642616"/>
            <a:ext cx="28325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Anthropic이 Agent Skills라는 공개 표준으로 발표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Copilot(VS Code)·Cursor 등 다른 AI 도구도 같은 형식 지원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kill Note"/>
          <p:cNvSpPr/>
          <p:nvPr/>
        </p:nvSpPr>
        <p:spPr>
          <a:xfrm>
            <a:off x="822960" y="42062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grilling도 이 형식의 스킬 — 설명(description)에 'grill' 표현이 있어 대화 중 “grill” 입력 시 자동 적용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7938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설치와 사용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662555" y="598932"/>
            <a:ext cx="870618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2960" y="496519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10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</a:t>
            </a:r>
            <a:r>
              <a:rPr kumimoji="0" lang="en-US" sz="11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100" b="1" i="0" u="none" strike="noStrike" kern="0" cap="none" spc="10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r>
              <a:rPr kumimoji="0" lang="en-US" sz="11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https://github.com/mattpocock/skills/blob/main/skills/productivity/grilling/SKILL.md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Inst Box"/>
          <p:cNvSpPr/>
          <p:nvPr/>
        </p:nvSpPr>
        <p:spPr>
          <a:xfrm>
            <a:off x="822960" y="1783080"/>
            <a:ext cx="6949440" cy="30175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1" name="Inst Num0"/>
          <p:cNvSpPr/>
          <p:nvPr/>
        </p:nvSpPr>
        <p:spPr>
          <a:xfrm>
            <a:off x="1060704" y="1783080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Inst Txt0"/>
          <p:cNvSpPr/>
          <p:nvPr/>
        </p:nvSpPr>
        <p:spPr>
          <a:xfrm>
            <a:off x="1563624" y="1783080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→ 기능 → '코드 실행 및 파일 생성'의 '클라우드에서 코드 실행'이 켜져 있는지 확인 (Skills 사용에 필요)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Inst Num1"/>
          <p:cNvSpPr/>
          <p:nvPr/>
        </p:nvSpPr>
        <p:spPr>
          <a:xfrm>
            <a:off x="1060704" y="2386584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Inst Txt1"/>
          <p:cNvSpPr/>
          <p:nvPr/>
        </p:nvSpPr>
        <p:spPr>
          <a:xfrm>
            <a:off x="1563624" y="2386584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 — 배포 강의자료의 SKILL.md 사용, 또는 아래 주소에서 Download raw file(다운로드 아이콘) 클릭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Inst Line1"/>
          <p:cNvSpPr/>
          <p:nvPr/>
        </p:nvSpPr>
        <p:spPr>
          <a:xfrm>
            <a:off x="1005840" y="2386584"/>
            <a:ext cx="65836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26" name="Inst Num2"/>
          <p:cNvSpPr/>
          <p:nvPr/>
        </p:nvSpPr>
        <p:spPr>
          <a:xfrm>
            <a:off x="1060704" y="299008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Inst Txt2"/>
          <p:cNvSpPr/>
          <p:nvPr/>
        </p:nvSpPr>
        <p:spPr>
          <a:xfrm>
            <a:off x="1563624" y="2990088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 → Skills → 오른쪽 위 '+ 추가' → 'Skill 업로드'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Inst Line2"/>
          <p:cNvSpPr/>
          <p:nvPr/>
        </p:nvSpPr>
        <p:spPr>
          <a:xfrm>
            <a:off x="1005840" y="2990088"/>
            <a:ext cx="65836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29" name="Inst Num3"/>
          <p:cNvSpPr/>
          <p:nvPr/>
        </p:nvSpPr>
        <p:spPr>
          <a:xfrm>
            <a:off x="1060704" y="3593592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Inst Txt3"/>
          <p:cNvSpPr/>
          <p:nvPr/>
        </p:nvSpPr>
        <p:spPr>
          <a:xfrm>
            <a:off x="1563624" y="3593592"/>
            <a:ext cx="5989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SKILL.md를 끌어다 놓거나 '찾아보기'로 선택 후 '업로드' — ZIP 압축 없이 .md 파일 그대로 가능하나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압축해서 업로드하는 것이 일반적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Inst Line3"/>
          <p:cNvSpPr/>
          <p:nvPr/>
        </p:nvSpPr>
        <p:spPr>
          <a:xfrm>
            <a:off x="1005840" y="3593592"/>
            <a:ext cx="65836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34" name="Inst Line4"/>
          <p:cNvSpPr/>
          <p:nvPr/>
        </p:nvSpPr>
        <p:spPr>
          <a:xfrm>
            <a:off x="1005840" y="4197096"/>
            <a:ext cx="65836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pic>
        <p:nvPicPr>
          <p:cNvPr id="36" name="Shot Add Menu" descr="사용자 지정 &gt; Skills 화면의 + 추가 메뉴 (Skill 업로드, Skill 만들기, Claude로 만들기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1572768"/>
            <a:ext cx="3200400" cy="1471448"/>
          </a:xfrm>
          <a:prstGeom prst="rect">
            <a:avLst/>
          </a:prstGeom>
          <a:ln w="12700">
            <a:solidFill>
              <a:srgbClr val="4A4430"/>
            </a:solidFill>
          </a:ln>
        </p:spPr>
      </p:pic>
      <p:sp>
        <p:nvSpPr>
          <p:cNvPr id="37" name="Mark add"/>
          <p:cNvSpPr/>
          <p:nvPr/>
        </p:nvSpPr>
        <p:spPr>
          <a:xfrm>
            <a:off x="10409551" y="1911201"/>
            <a:ext cx="728367" cy="286932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38" name="Mark 03"/>
          <p:cNvSpPr/>
          <p:nvPr/>
        </p:nvSpPr>
        <p:spPr>
          <a:xfrm>
            <a:off x="9946044" y="2234920"/>
            <a:ext cx="1162444" cy="272218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39" name="Badge 03"/>
          <p:cNvSpPr/>
          <p:nvPr/>
        </p:nvSpPr>
        <p:spPr>
          <a:xfrm>
            <a:off x="9571140" y="2215581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03</a:t>
            </a:r>
          </a:p>
        </p:txBody>
      </p:sp>
      <p:pic>
        <p:nvPicPr>
          <p:cNvPr id="40" name="Shot Upload" descr="Skill 업로드 화면: .md 파일 또는 .zip/.skill 파일을 끌어다 놓는 영역과 안내 문구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3208808"/>
            <a:ext cx="3200400" cy="1795167"/>
          </a:xfrm>
          <a:prstGeom prst="rect">
            <a:avLst/>
          </a:prstGeom>
          <a:ln w="12700">
            <a:solidFill>
              <a:srgbClr val="4A4430"/>
            </a:solidFill>
          </a:ln>
        </p:spPr>
      </p:pic>
      <p:sp>
        <p:nvSpPr>
          <p:cNvPr id="41" name="Mark 04"/>
          <p:cNvSpPr/>
          <p:nvPr/>
        </p:nvSpPr>
        <p:spPr>
          <a:xfrm>
            <a:off x="8312737" y="3444240"/>
            <a:ext cx="2832538" cy="1000585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42" name="Badge 04"/>
          <p:cNvSpPr/>
          <p:nvPr/>
        </p:nvSpPr>
        <p:spPr>
          <a:xfrm>
            <a:off x="7937833" y="3789084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621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 준비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490470" y="598932"/>
            <a:ext cx="8878265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실습에 사용할 모델 — Sonnet 기본, Opus는 비교용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5148072" cy="148132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사용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2416" y="221284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2416" y="2596896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간단하고 범위가 분명한 작업에 효율적. 빠른 응답과 적은 사용량 — 빠른 실습과 사용량 절약을 위한 기본 선택.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48072" cy="1481328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37376" y="190195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비교용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37376" y="221284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37376" y="2596896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복잡하고 판단이 많이 필요한 작업에 강점. 사용 한도를 Sonnet보다 많이 씀 — 결과 차이를 확인하는 비교 용도로만 사용.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34747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Haiku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가장 빠르고 저렴한 경량 모델. 요약·분류 같은 대량 단순 작업용 — 이번 실습에서 제외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Fable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가장 어려운 과제용 최상위 모델. Max 플랜 등에는 기본 포함, Pro는 별도 사용 크레딧 필요 — 이번 실습에서 제외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Effort Box"/>
          <p:cNvSpPr/>
          <p:nvPr/>
        </p:nvSpPr>
        <p:spPr>
          <a:xfrm>
            <a:off x="822960" y="4480560"/>
            <a:ext cx="10545775" cy="1719072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Effort Label"/>
          <p:cNvSpPr/>
          <p:nvPr/>
        </p:nvSpPr>
        <p:spPr>
          <a:xfrm>
            <a:off x="1042416" y="4590288"/>
            <a:ext cx="101068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함께 정하는 '노력(Effort)'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Effort Body"/>
          <p:cNvSpPr/>
          <p:nvPr/>
        </p:nvSpPr>
        <p:spPr>
          <a:xfrm>
            <a:off x="1042416" y="4846320"/>
            <a:ext cx="10106863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내기 위해 얼마나 많이 생각할지 정하는 설정 — 생각의 양과 응답 속도·토큰 사용량 사이의 균형을 맞추는 것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 · 중간 · 높음 · 엑스트라 · 최대 — 높일수록 깊이 생각해 답이 충실해지는 대신 응답이 느려지고 사용량이 늘어남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53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4065" y="598932"/>
            <a:ext cx="932467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선택 — Sonnet으로 시작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실습 시작과 사용량 절약을 위해 Sonnet을 먼저 선택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tep Box"/>
          <p:cNvSpPr/>
          <p:nvPr/>
        </p:nvSpPr>
        <p:spPr>
          <a:xfrm>
            <a:off x="822960" y="1920240"/>
            <a:ext cx="6263640" cy="2267712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Step Num0"/>
          <p:cNvSpPr/>
          <p:nvPr/>
        </p:nvSpPr>
        <p:spPr>
          <a:xfrm>
            <a:off x="1060704" y="19202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tep Txt0"/>
          <p:cNvSpPr/>
          <p:nvPr/>
        </p:nvSpPr>
        <p:spPr>
          <a:xfrm>
            <a:off x="1563624" y="192024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아래 오른쪽의 모델 이름(지금 선택된 모델·노력 단계) 클릭 → 모델 메뉴 열림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tep Num1"/>
          <p:cNvSpPr/>
          <p:nvPr/>
        </p:nvSpPr>
        <p:spPr>
          <a:xfrm>
            <a:off x="1060704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tep Txt1"/>
          <p:cNvSpPr/>
          <p:nvPr/>
        </p:nvSpPr>
        <p:spPr>
          <a:xfrm>
            <a:off x="1563624" y="248716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위쪽에서 Sonnet 5.5 선택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tep Line1"/>
          <p:cNvSpPr/>
          <p:nvPr/>
        </p:nvSpPr>
        <p:spPr>
          <a:xfrm>
            <a:off x="1005840" y="2487168"/>
            <a:ext cx="58978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16" name="Step Num2"/>
          <p:cNvSpPr/>
          <p:nvPr/>
        </p:nvSpPr>
        <p:spPr>
          <a:xfrm>
            <a:off x="1060704" y="305409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tep Txt2"/>
          <p:cNvSpPr/>
          <p:nvPr/>
        </p:nvSpPr>
        <p:spPr>
          <a:xfrm>
            <a:off x="1563624" y="30540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'노력'에서 '추천' 표시가 붙은 단계(중간)가 선택됐는지 확인 — 다르면 '중간' 클릭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tep Line2"/>
          <p:cNvSpPr/>
          <p:nvPr/>
        </p:nvSpPr>
        <p:spPr>
          <a:xfrm>
            <a:off x="1005840" y="3054096"/>
            <a:ext cx="58978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19" name="Step Num3"/>
          <p:cNvSpPr/>
          <p:nvPr/>
        </p:nvSpPr>
        <p:spPr>
          <a:xfrm>
            <a:off x="1060704" y="362102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tep Txt3"/>
          <p:cNvSpPr/>
          <p:nvPr/>
        </p:nvSpPr>
        <p:spPr>
          <a:xfrm>
            <a:off x="1563624" y="36210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아래 표시가 'Sonnet 5.5 중간'으로 바뀌었는지 확인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tep Line3"/>
          <p:cNvSpPr/>
          <p:nvPr/>
        </p:nvSpPr>
        <p:spPr>
          <a:xfrm>
            <a:off x="1005840" y="3621024"/>
            <a:ext cx="58978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pic>
        <p:nvPicPr>
          <p:cNvPr id="22" name="Shot Strip" descr="메시지 입력창 아래 오른쪽에 표시된 모델 이름과 노력 단계 버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89120"/>
            <a:ext cx="4572000" cy="1481959"/>
          </a:xfrm>
          <a:prstGeom prst="rect">
            <a:avLst/>
          </a:prstGeom>
          <a:ln w="12700">
            <a:solidFill>
              <a:srgbClr val="4A4430"/>
            </a:solidFill>
          </a:ln>
        </p:spPr>
      </p:pic>
      <p:sp>
        <p:nvSpPr>
          <p:cNvPr id="23" name="Mark 01"/>
          <p:cNvSpPr/>
          <p:nvPr/>
        </p:nvSpPr>
        <p:spPr>
          <a:xfrm>
            <a:off x="3534629" y="5482196"/>
            <a:ext cx="1219200" cy="357352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24" name="Badge 01"/>
          <p:cNvSpPr/>
          <p:nvPr/>
        </p:nvSpPr>
        <p:spPr>
          <a:xfrm>
            <a:off x="3159725" y="5505424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01</a:t>
            </a:r>
          </a:p>
        </p:txBody>
      </p:sp>
      <p:pic>
        <p:nvPicPr>
          <p:cNvPr id="25" name="Shot Menu" descr="모델 메뉴: 모델 목록과 노력 단계(낮음·중간·높음·엑스트라·최대), 중간에 추천 표시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40" y="1920240"/>
            <a:ext cx="2812352" cy="4343400"/>
          </a:xfrm>
          <a:prstGeom prst="rect">
            <a:avLst/>
          </a:prstGeom>
          <a:ln w="12700">
            <a:solidFill>
              <a:srgbClr val="4A4430"/>
            </a:solidFill>
          </a:ln>
        </p:spPr>
      </p:pic>
      <p:sp>
        <p:nvSpPr>
          <p:cNvPr id="26" name="Mark 02"/>
          <p:cNvSpPr/>
          <p:nvPr/>
        </p:nvSpPr>
        <p:spPr>
          <a:xfrm>
            <a:off x="8045291" y="3038666"/>
            <a:ext cx="2649474" cy="532066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27" name="Badge 02"/>
          <p:cNvSpPr/>
          <p:nvPr/>
        </p:nvSpPr>
        <p:spPr>
          <a:xfrm>
            <a:off x="7670387" y="3149251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8" name="Mark 03"/>
          <p:cNvSpPr/>
          <p:nvPr/>
        </p:nvSpPr>
        <p:spPr>
          <a:xfrm>
            <a:off x="8045291" y="4808601"/>
            <a:ext cx="2649474" cy="412623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29" name="Badge 03"/>
          <p:cNvSpPr/>
          <p:nvPr/>
        </p:nvSpPr>
        <p:spPr>
          <a:xfrm>
            <a:off x="7670387" y="4859464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0" name="Model Note"/>
          <p:cNvSpPr/>
          <p:nvPr/>
        </p:nvSpPr>
        <p:spPr>
          <a:xfrm>
            <a:off x="822960" y="5962519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바꾸면 노력이 '추천'이 아닌 단계로 선택돼 있을 수 있음 — 바꿀 때마다 확인. Fable 5.1이 선택된 채로 보내지 않기 (Pro 플랜은 사용 크레딧 차감)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53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4065" y="598932"/>
            <a:ext cx="932467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103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KDI</a:t>
            </a:r>
            <a:r>
              <a:rPr kumimoji="0" lang="ko-KR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발표한 경제전망 보도자료 작성 </a:t>
            </a:r>
            <a:r>
              <a:rPr kumimoji="0" lang="en-US" altLang="ko-KR" sz="2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grill </a:t>
            </a:r>
            <a:r>
              <a:rPr kumimoji="0" lang="ko-KR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 비교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두 프롬프트를 각각 새 대화('새로 만들기')에서 시작해 대화를 이어가며 비교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10545775" cy="9601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50292" cy="96012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09397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20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kumimoji="0" lang="en-US" sz="10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 · GRILL 없이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280" y="2386584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KDI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새 경제전망을 </a:t>
            </a:r>
            <a:r>
              <a:rPr kumimoji="0" lang="ko-KR" alt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발표했어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보도자료 어떻게 써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3108960"/>
            <a:ext cx="10545775" cy="9601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108960"/>
            <a:ext cx="50292" cy="96012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23697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B · 끝에 grill 추가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97280" y="3529584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KDI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새 경제전망을 </a:t>
            </a:r>
            <a:r>
              <a:rPr kumimoji="0" lang="ko-KR" alt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발표했어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보도자료 어떻게 써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</a:t>
            </a:r>
            <a:r>
              <a:rPr kumimoji="0" lang="ko-KR" alt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</a:t>
            </a: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34840"/>
            <a:ext cx="5148072" cy="11430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459943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예상 흐름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42416" y="491032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작성법 일반론 설명 · 필요한 정보는 목록으로만 요청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17920" y="4434840"/>
            <a:ext cx="5148072" cy="114300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37376" y="459943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B의 예상 흐름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37376" y="491032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사실은 웹 검색으로 확인 · 결정은 묶음 질문과 추천답으로 확인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53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4065" y="598932"/>
            <a:ext cx="932467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Opus로 변경 — 응답 차이 확인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프롬프트를 Opus로 실행했을 때 어떻게 다른지 확인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tep Box"/>
          <p:cNvSpPr/>
          <p:nvPr/>
        </p:nvSpPr>
        <p:spPr>
          <a:xfrm>
            <a:off x="822960" y="1920240"/>
            <a:ext cx="6263640" cy="2267712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Step Num0"/>
          <p:cNvSpPr/>
          <p:nvPr/>
        </p:nvSpPr>
        <p:spPr>
          <a:xfrm>
            <a:off x="1060704" y="19202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tep Txt0"/>
          <p:cNvSpPr/>
          <p:nvPr/>
        </p:nvSpPr>
        <p:spPr>
          <a:xfrm>
            <a:off x="1563624" y="192024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사이드바의 '새로 만들기'로 새 대화를 열고 입력창 아래 모델 이름 클릭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tep Num1"/>
          <p:cNvSpPr/>
          <p:nvPr/>
        </p:nvSpPr>
        <p:spPr>
          <a:xfrm>
            <a:off x="1060704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tep Txt1"/>
          <p:cNvSpPr/>
          <p:nvPr/>
        </p:nvSpPr>
        <p:spPr>
          <a:xfrm>
            <a:off x="1563624" y="248716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목록에서 Opus 5.5 선택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tep Line1"/>
          <p:cNvSpPr/>
          <p:nvPr/>
        </p:nvSpPr>
        <p:spPr>
          <a:xfrm>
            <a:off x="1005840" y="2487168"/>
            <a:ext cx="58978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16" name="Step Num2"/>
          <p:cNvSpPr/>
          <p:nvPr/>
        </p:nvSpPr>
        <p:spPr>
          <a:xfrm>
            <a:off x="1060704" y="305409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tep Txt2"/>
          <p:cNvSpPr/>
          <p:nvPr/>
        </p:nvSpPr>
        <p:spPr>
          <a:xfrm>
            <a:off x="1563624" y="30540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'노력'이 '추천' 단계(중간)인지 확인 — 엑스트라 등 다른 단계면 '중간' 클릭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tep Line2"/>
          <p:cNvSpPr/>
          <p:nvPr/>
        </p:nvSpPr>
        <p:spPr>
          <a:xfrm>
            <a:off x="1005840" y="3054096"/>
            <a:ext cx="58978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19" name="Step Num3"/>
          <p:cNvSpPr/>
          <p:nvPr/>
        </p:nvSpPr>
        <p:spPr>
          <a:xfrm>
            <a:off x="1060704" y="362102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tep Txt3"/>
          <p:cNvSpPr/>
          <p:nvPr/>
        </p:nvSpPr>
        <p:spPr>
          <a:xfrm>
            <a:off x="1563624" y="36210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프롬프트 B(grill 포함) 입력 후 Sonnet 결과와 비교 — 첫 라운드 질문의 수·깊이, 추천답의 구체성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tep Line3"/>
          <p:cNvSpPr/>
          <p:nvPr/>
        </p:nvSpPr>
        <p:spPr>
          <a:xfrm>
            <a:off x="1005840" y="3621024"/>
            <a:ext cx="5897880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pic>
        <p:nvPicPr>
          <p:cNvPr id="22" name="Shot Strip" descr="메시지 입력창 아래 오른쪽에 표시된 모델 이름과 노력 단계 버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89120"/>
            <a:ext cx="4572000" cy="1481959"/>
          </a:xfrm>
          <a:prstGeom prst="rect">
            <a:avLst/>
          </a:prstGeom>
          <a:ln w="12700">
            <a:solidFill>
              <a:srgbClr val="4A4430"/>
            </a:solidFill>
          </a:ln>
        </p:spPr>
      </p:pic>
      <p:sp>
        <p:nvSpPr>
          <p:cNvPr id="23" name="Mark 01"/>
          <p:cNvSpPr/>
          <p:nvPr/>
        </p:nvSpPr>
        <p:spPr>
          <a:xfrm>
            <a:off x="3660753" y="5482196"/>
            <a:ext cx="1093076" cy="357352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24" name="Badge 01"/>
          <p:cNvSpPr/>
          <p:nvPr/>
        </p:nvSpPr>
        <p:spPr>
          <a:xfrm>
            <a:off x="3285849" y="5505424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01</a:t>
            </a:r>
          </a:p>
        </p:txBody>
      </p:sp>
      <p:pic>
        <p:nvPicPr>
          <p:cNvPr id="25" name="Shot Menu" descr="모델 메뉴: 모델 목록과 노력 단계(낮음·중간·높음·엑스트라·최대), 중간에 추천 표시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40" y="1920240"/>
            <a:ext cx="2812352" cy="4343400"/>
          </a:xfrm>
          <a:prstGeom prst="rect">
            <a:avLst/>
          </a:prstGeom>
          <a:ln w="12700">
            <a:solidFill>
              <a:srgbClr val="4A4430"/>
            </a:solidFill>
          </a:ln>
        </p:spPr>
      </p:pic>
      <p:sp>
        <p:nvSpPr>
          <p:cNvPr id="26" name="Mark 02"/>
          <p:cNvSpPr/>
          <p:nvPr/>
        </p:nvSpPr>
        <p:spPr>
          <a:xfrm>
            <a:off x="8045291" y="2495740"/>
            <a:ext cx="2649474" cy="532066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27" name="Badge 02"/>
          <p:cNvSpPr/>
          <p:nvPr/>
        </p:nvSpPr>
        <p:spPr>
          <a:xfrm>
            <a:off x="7670387" y="2606326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8" name="Mark 03"/>
          <p:cNvSpPr/>
          <p:nvPr/>
        </p:nvSpPr>
        <p:spPr>
          <a:xfrm>
            <a:off x="8045291" y="4808601"/>
            <a:ext cx="2649474" cy="412623"/>
          </a:xfrm>
          <a:prstGeom prst="roundRect">
            <a:avLst>
              <a:gd name="adj" fmla="val 18000"/>
            </a:avLst>
          </a:prstGeom>
          <a:noFill/>
          <a:ln w="28575">
            <a:solidFill>
              <a:srgbClr val="E8590C"/>
            </a:solidFill>
          </a:ln>
        </p:spPr>
      </p:sp>
      <p:sp>
        <p:nvSpPr>
          <p:cNvPr id="29" name="Badge 03"/>
          <p:cNvSpPr/>
          <p:nvPr/>
        </p:nvSpPr>
        <p:spPr>
          <a:xfrm>
            <a:off x="7670387" y="4859464"/>
            <a:ext cx="310896" cy="310896"/>
          </a:xfrm>
          <a:prstGeom prst="ellipse">
            <a:avLst/>
          </a:prstGeom>
          <a:solidFill>
            <a:srgbClr val="FFD733"/>
          </a:solidFill>
          <a:ln w="9525">
            <a:solidFill>
              <a:srgbClr val="0D0D0A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900" b="1">
                <a:solidFill>
                  <a:srgbClr val="0D0D0A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0" name="Model Note"/>
          <p:cNvSpPr/>
          <p:nvPr/>
        </p:nvSpPr>
        <p:spPr>
          <a:xfrm>
            <a:off x="822960" y="5962519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Opus는 Sonnet보다 사용 한도를 많이 씀 (Claude Academy 안내) — 비교 후에는 Sonnet 5.5로 진행한 B 대화로 돌아가 이어서 진행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621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 결과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490470" y="598932"/>
            <a:ext cx="8878265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한 줄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이지만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grill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유무가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퀄리티에 큰 영향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148072" cy="35661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476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없이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42416" y="2350008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보도자료 작성법(제목·리드문·본문 구성·인용문) 일반론 위주 답변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공개된 사실은 찾지 않음 — 제목 예시에 '6호기', '연산 성능 OO배'처럼 추측과 빈칸만 남김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사양·활용 계획·원장 코멘트 방향을 알려 달라고 요청 — 추천답 없이 사용자가 모두 채워야 함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주체·발표 단계·핵심 메시지 같은 결정은 묻지 않음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148072" cy="35661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7376" y="194767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켜고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37376" y="2350008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웹 검색으로 공개 사실 확인 — 6호기 이름('한강')·구축사·목표 성능 등을 출처와 함께 정리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주체·발표 단계·핵심 메시지·성능 표기 기준·주 독자·인용문 6개를 첫 라운드에 묶어서 질문, 각각 추천답 제시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“Q1 예, Q2 시범 운영”처럼 짧게 답해도 된다고 안내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답하면 다음 라운드(엠바고·5호기 퇴역 계획·이용 신청·문서 형식)로 넘어가겠다고 안내 — 확정 전에는 초안을 쓰지 않음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sult Note"/>
          <p:cNvSpPr/>
          <p:nvPr/>
        </p:nvSpPr>
        <p:spPr>
          <a:xfrm>
            <a:off x="822960" y="5468112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2026. 10. 25. Sonnet 5.5(노력: 중간)로 첫 응답까지 실행한 결과 기준 — 모델과 시점에 따라 응답은 달라질 수 있음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grill로 찾아온 사실도 검증 필요 — B가 쓴 'GPU 8,694장'은 보도(8,496장·8,500여 장)와 다름. 출처가 붙어도 확인은 사용자 몫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53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4065" y="598932"/>
            <a:ext cx="932467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최종안을 먼저 받고 싶을 때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물어볼 질문이 남지 않으면 Grilling이 이해가 일치하는지 확인한 뒤 최종안 작성을 제안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전에 최종안을 받고 싶으면 아래 프롬프트 입력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9601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017520"/>
            <a:ext cx="50292" cy="96012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1455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예시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280" y="3438144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“지금까지 너와 대화한 것을 바탕으로 보도자료를 작성해줘. 아직 답하지 않은 질문은 추천답대로 반영해줘”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53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실습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4065" y="598932"/>
            <a:ext cx="932467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프롬프트 만들기 —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보도자료 작업 시에 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grilling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없이 지시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Grilling을 끝까지 진행하는 데 상당한 시간이 걸림 — 비슷한 업무마다 Grilling을 새로 하면 비효율적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ECE7DC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다음부터는 Grilling 과정 없이 바로 보도자료를 작성할 수 있도록, 대화 내용을 프롬프트로 정리해 달라고 요청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743200"/>
            <a:ext cx="50292" cy="1188720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87121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예시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280" y="3163824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“지금까지 대화한 내용을 바탕으로, 다음 보도자료에도 쓸 수 있는 프롬프트를 만들어줘. 매번 바뀌는 내용은 [빈칸]으로 표시해줘”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53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· 확장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4065" y="598932"/>
            <a:ext cx="932467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프롬프트는 부서 공통 자산으로 관리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3088538" cy="10058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37360"/>
            <a:ext cx="308853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764792"/>
            <a:ext cx="286908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</a:t>
            </a:r>
            <a:r>
              <a:rPr kumimoji="0" lang="en-US" sz="13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고도화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3948074" y="1737360"/>
            <a:ext cx="566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51578" y="1737360"/>
            <a:ext cx="3088538" cy="10058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1578" y="1737360"/>
            <a:ext cx="308853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1" name="Text 9"/>
          <p:cNvSpPr/>
          <p:nvPr/>
        </p:nvSpPr>
        <p:spPr>
          <a:xfrm>
            <a:off x="4661306" y="1764792"/>
            <a:ext cx="286908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프롬프트·스킬로 등록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공유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76693" y="1737360"/>
            <a:ext cx="566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280197" y="1737360"/>
            <a:ext cx="3088538" cy="10058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80197" y="1737360"/>
            <a:ext cx="3088538" cy="41148"/>
          </a:xfrm>
          <a:prstGeom prst="rect">
            <a:avLst/>
          </a:prstGeom>
          <a:solidFill>
            <a:srgbClr val="FFD733"/>
          </a:solidFill>
          <a:ln/>
        </p:spPr>
      </p:sp>
      <p:sp>
        <p:nvSpPr>
          <p:cNvPr id="15" name="Text 13"/>
          <p:cNvSpPr/>
          <p:nvPr/>
        </p:nvSpPr>
        <p:spPr>
          <a:xfrm>
            <a:off x="8389925" y="1764792"/>
            <a:ext cx="286908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전체가 재사용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22960" y="3063240"/>
            <a:ext cx="3271418" cy="19202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42416" y="322783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 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42416" y="353872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일관된 품질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42416" y="3922776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작성해도 같은 기준의 결과물.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460138" y="3063240"/>
            <a:ext cx="3271418" cy="19202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79594" y="322783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 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679594" y="353872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 축적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679594" y="3922776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끌어낸 질문과 구조가 부서 자산으로 축적.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097317" y="3063240"/>
            <a:ext cx="3271418" cy="192024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16773" y="3227832"/>
            <a:ext cx="2832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 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316773" y="3538728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온보딩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16773" y="3922776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구성원도 빈칸만 바꿔 바로 활용.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· 확장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48256" y="598932"/>
            <a:ext cx="9326880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프롬프트를 스킬로 등록 — 요청만 하면 자동 적용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2960" y="4672584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 — ‘보도자료 써줘’처럼 요청 내용이 스킬 설명과 맞으면 자동 적용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g Box"/>
          <p:cNvSpPr/>
          <p:nvPr/>
        </p:nvSpPr>
        <p:spPr>
          <a:xfrm>
            <a:off x="822960" y="1783080"/>
            <a:ext cx="10543032" cy="2706624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1" name="Reg Num0"/>
          <p:cNvSpPr/>
          <p:nvPr/>
        </p:nvSpPr>
        <p:spPr>
          <a:xfrm>
            <a:off x="1060704" y="1783080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g Txt0"/>
          <p:cNvSpPr/>
          <p:nvPr/>
        </p:nvSpPr>
        <p:spPr>
          <a:xfrm>
            <a:off x="1563624" y="1783080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Grilling을 마친 대화에서 요청 — “지금까지 대화한 내용을 바탕으로 보도자료 작성 스킬을 만들어줘”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g Num1"/>
          <p:cNvSpPr/>
          <p:nvPr/>
        </p:nvSpPr>
        <p:spPr>
          <a:xfrm>
            <a:off x="1060704" y="2459736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g Txt1"/>
          <p:cNvSpPr/>
          <p:nvPr/>
        </p:nvSpPr>
        <p:spPr>
          <a:xfrm>
            <a:off x="1563624" y="2459736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만든 스킬 파일(SKILL.md) 저장 — 저장 버튼이 없으면 파일을 내려받아 다음 단계에서 업로드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g Line1"/>
          <p:cNvSpPr/>
          <p:nvPr/>
        </p:nvSpPr>
        <p:spPr>
          <a:xfrm>
            <a:off x="1005840" y="2459736"/>
            <a:ext cx="10177272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26" name="Reg Num2"/>
          <p:cNvSpPr/>
          <p:nvPr/>
        </p:nvSpPr>
        <p:spPr>
          <a:xfrm>
            <a:off x="1060704" y="3136392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g Txt2"/>
          <p:cNvSpPr/>
          <p:nvPr/>
        </p:nvSpPr>
        <p:spPr>
          <a:xfrm>
            <a:off x="1563624" y="3136392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 → Skills → '내 항목'에서 확인 — 없으면 '+ 추가' → 'Skill 업로드'로 내려받은 파일 추가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g Line2"/>
          <p:cNvSpPr/>
          <p:nvPr/>
        </p:nvSpPr>
        <p:spPr>
          <a:xfrm>
            <a:off x="1005840" y="3136392"/>
            <a:ext cx="10177272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29" name="Reg Num3"/>
          <p:cNvSpPr/>
          <p:nvPr/>
        </p:nvSpPr>
        <p:spPr>
          <a:xfrm>
            <a:off x="1060704" y="3813048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0" cap="none" spc="1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g Txt3"/>
          <p:cNvSpPr/>
          <p:nvPr/>
        </p:nvSpPr>
        <p:spPr>
          <a:xfrm>
            <a:off x="1563624" y="3813048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공유 — 개인 플랜: 내 항목 → 해당 스킬 → ⋮ → '다운로드'로 받은 파일 전달 / Team·Enterprise 플랜: 동료에게 직접 공유하거나 조직 라이브러리에 게시 (조직 설정에 따라 다름)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g Line3"/>
          <p:cNvSpPr/>
          <p:nvPr/>
        </p:nvSpPr>
        <p:spPr>
          <a:xfrm>
            <a:off x="1005840" y="3813048"/>
            <a:ext cx="10177272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32" name="Reg Notes"/>
          <p:cNvSpPr/>
          <p:nvPr/>
        </p:nvSpPr>
        <p:spPr>
          <a:xfrm>
            <a:off x="822960" y="5111496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처음부터 새 스킬을 만들 때는 사용자 지정 → Skills → '+ 추가' → 'Claude로 만들기'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C6BFA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내 항목 → 해당 스킬 → ⋮ → 'Claude로 편집'(대화로 수정) 또는 '교체'(파일로 교체)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557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20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수업 준비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425700" y="598932"/>
            <a:ext cx="8943035" cy="0"/>
          </a:xfrm>
          <a:prstGeom prst="line">
            <a:avLst/>
          </a:prstGeom>
          <a:noFill/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Studio Code 설치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10545775" cy="1280160"/>
          </a:xfrm>
          <a:prstGeom prst="rect">
            <a:avLst/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57984"/>
            <a:ext cx="164592" cy="164592"/>
          </a:xfrm>
          <a:prstGeom prst="rect">
            <a:avLst/>
          </a:prstGeom>
          <a:solidFill>
            <a:srgbClr val="1A1810"/>
          </a:solidFill>
          <a:ln w="19050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89888" y="1920240"/>
            <a:ext cx="9722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수업 전까지 code.visualstudio.com에서 Visual Studio Code 다운로드 및 설치 완료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05840" y="2560320"/>
            <a:ext cx="10180015" cy="0"/>
          </a:xfrm>
          <a:prstGeom prst="line">
            <a:avLst/>
          </a:prstGeom>
          <a:noFill/>
          <a:ln w="9525">
            <a:solidFill>
              <a:srgbClr val="4A443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78992" y="2798064"/>
            <a:ext cx="164592" cy="164592"/>
          </a:xfrm>
          <a:prstGeom prst="rect">
            <a:avLst/>
          </a:prstGeom>
          <a:solidFill>
            <a:srgbClr val="1A1810"/>
          </a:solidFill>
          <a:ln w="19050">
            <a:solidFill>
              <a:srgbClr val="FFD7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89888" y="2560320"/>
            <a:ext cx="9722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ECE7D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후 실행 확인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71455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A8A09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1824</Words>
  <Application>Microsoft Office PowerPoint</Application>
  <PresentationFormat>와이드스크린</PresentationFormat>
  <Paragraphs>241</Paragraphs>
  <Slides>18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think</dc:creator>
  <cp:lastModifiedBy>think</cp:lastModifiedBy>
  <cp:revision>1</cp:revision>
  <dcterms:created xsi:type="dcterms:W3CDTF">2026-08-27T12:30:33Z</dcterms:created>
  <dcterms:modified xsi:type="dcterms:W3CDTF">2026-10-27T06:06:54Z</dcterms:modified>
</cp:coreProperties>
</file>