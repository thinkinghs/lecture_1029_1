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026" autoAdjust="0"/>
  </p:normalViewPr>
  <p:slideViewPr>
    <p:cSldViewPr snapToGrid="0">
      <p:cViewPr varScale="1">
        <p:scale>
          <a:sx n="105" d="100"/>
          <a:sy n="105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51781-2FAD-4408-9D2B-9AAF0E28779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68971-8A18-4432-9241-6F774AE9F4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39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58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0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1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979295" y="598932"/>
            <a:ext cx="938944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시작 전 준비 사항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 다운로드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신청 시 등록한 개인 이메일로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설치 · 로그인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3737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claude.ai/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download에서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운영체제에 맞는 설치 파일 다운로드 후 설치.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원활한 실습을 위해 유료 계정(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이상) 로그인 필수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821528" y="2441448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0"/>
            <a:ext cx="1091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Grilling으로 원하는 결과를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이끌어내는 프롬프트 만들기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진단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써도 원하는 결과가 나오지 않는 이유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지시하지 않은 부분을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스스로 메우는 구조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0292" cy="8686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3969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한 줄 지시의 예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432304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“보도자료 어떻게 써?”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한 줄 지시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의도의 일부만 글로 전달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48074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51578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1578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1306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빈칸을 임의로 가정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없는 부분을 스스로 결정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76693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80197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0197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0" name="Text 18"/>
          <p:cNvSpPr/>
          <p:nvPr/>
        </p:nvSpPr>
        <p:spPr>
          <a:xfrm>
            <a:off x="8389925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원치 않은 결과 · 환각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일반론 답변 · 사실과 다른 내용까지 생성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473659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42416" y="5001768"/>
            <a:ext cx="1010686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지시하지 않은 것은 모델에게 모호한 의도로 남는 부분 — 결국 임의 생성과 환각의 출발점.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근본 원인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작성한 프롬프트에는 빈틈이 많음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48072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아는 것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585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명세에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기재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42616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명세에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적힌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대부분 답변 결과에 반영함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148072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모르는 것 · BLIND SPOT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2585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기재되지 않음 → 모델이 임의로 생성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642616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적히지 않은 빈칸이 곧 blind spot. 모델이 스스로 채우는 과정에서 원치 않은 결과와 환각으로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30000"/>
              </a:lnSpc>
              <a:defRPr/>
            </a:pP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전문가일수록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당연하지'라며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생략하는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내용이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편 —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'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당연한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것'을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못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해법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— </a:t>
            </a: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나에게 질문을 던져 나와 AI의 이해를 일치시킴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45775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0292" cy="10972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93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386584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대략적인 아이디어만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의도가 무엇이고 어떤 답변을 원하는지 모델이 나에게 역으로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하도록 해서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이 문제에 어떤 관점이 더 필요하고 어떤 정보가 빠져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끌어내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싶어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대략적 아이디어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출발점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04234" y="3611880"/>
            <a:ext cx="93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73498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3498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4783226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이해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· 정보 보강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54773" y="3611880"/>
            <a:ext cx="93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524037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4037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9" name="Text 17"/>
          <p:cNvSpPr/>
          <p:nvPr/>
        </p:nvSpPr>
        <p:spPr>
          <a:xfrm>
            <a:off x="8633765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실행 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프롬프트는 이해의 구체성에서 출발 — Grilling은 그 이해를 빠르게 끌어올리는 수단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작동 원리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묶어서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추천과 함께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합의되면 종합 결론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271418" cy="3429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질문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42616"/>
            <a:ext cx="283250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하나씩 주고받지 않고, 지금 답할 수 있는 질문을 한 묶음(라운드)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단위로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물어봄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답에 따라 다음 질문을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이어나감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수 있는 사실은 AI가 직접 확인 — 사용자에게는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결정을 할지 질문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60138" y="1783080"/>
            <a:ext cx="3271418" cy="3429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9594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79594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추천답 동반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79594" y="2642616"/>
            <a:ext cx="283250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추천답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추천답이 마음에 들면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추천대로 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＂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또는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예'라고만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답하면 추천답이 채택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97317" y="1783080"/>
            <a:ext cx="3271418" cy="3429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6773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16773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후 종합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16773" y="2642616"/>
            <a:ext cx="283250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물어볼 질문이 남지 않을 때까지 묶음 질문을 반복.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이해가 일치했다고 사용자가 확인한 뒤 최종안 생성.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793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설치와 사용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662555" y="598932"/>
            <a:ext cx="870618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49651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00" b="1" i="0" u="none" strike="noStrike" kern="0" cap="none" spc="1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https://github.com/mattpocock/skills/blob/main/skills/productivity/grilling/SKILL.md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Inst Box"/>
          <p:cNvSpPr/>
          <p:nvPr/>
        </p:nvSpPr>
        <p:spPr>
          <a:xfrm>
            <a:off x="822960" y="1783080"/>
            <a:ext cx="6949440" cy="3017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Inst Num0"/>
          <p:cNvSpPr/>
          <p:nvPr/>
        </p:nvSpPr>
        <p:spPr>
          <a:xfrm>
            <a:off x="1060704" y="1783080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Inst Txt0"/>
          <p:cNvSpPr/>
          <p:nvPr/>
        </p:nvSpPr>
        <p:spPr>
          <a:xfrm>
            <a:off x="1563624" y="1783080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→ 기능 → '코드 실행 및 파일 생성'의 '클라우드에서 코드 실행'이 켜져 있는지 확인 (Skills 사용에 필요)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Inst Num1"/>
          <p:cNvSpPr/>
          <p:nvPr/>
        </p:nvSpPr>
        <p:spPr>
          <a:xfrm>
            <a:off x="1060704" y="2386584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Inst Txt1"/>
          <p:cNvSpPr/>
          <p:nvPr/>
        </p:nvSpPr>
        <p:spPr>
          <a:xfrm>
            <a:off x="1563624" y="2386584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— 배포 강의자료의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grilling.zip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사용, 또는 아래 주소에서 Download raw file(다운로드 아이콘) 클릭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Inst Line1"/>
          <p:cNvSpPr/>
          <p:nvPr/>
        </p:nvSpPr>
        <p:spPr>
          <a:xfrm>
            <a:off x="1005840" y="2386584"/>
            <a:ext cx="65836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26" name="Inst Num2"/>
          <p:cNvSpPr/>
          <p:nvPr/>
        </p:nvSpPr>
        <p:spPr>
          <a:xfrm>
            <a:off x="1060704" y="299008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Inst Txt2"/>
          <p:cNvSpPr/>
          <p:nvPr/>
        </p:nvSpPr>
        <p:spPr>
          <a:xfrm>
            <a:off x="1563624" y="2990088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 → Skills → 오른쪽 위 '+ 추가' → 'Skill 업로드'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Inst Line2"/>
          <p:cNvSpPr/>
          <p:nvPr/>
        </p:nvSpPr>
        <p:spPr>
          <a:xfrm>
            <a:off x="1005840" y="2990088"/>
            <a:ext cx="65836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29" name="Inst Num3"/>
          <p:cNvSpPr/>
          <p:nvPr/>
        </p:nvSpPr>
        <p:spPr>
          <a:xfrm>
            <a:off x="1060704" y="359359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Inst Txt3"/>
          <p:cNvSpPr/>
          <p:nvPr/>
        </p:nvSpPr>
        <p:spPr>
          <a:xfrm>
            <a:off x="1563624" y="3593592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SKILL.md를 끌어다 놓거나 '찾아보기'로 선택 후 '업로드' — ZIP 압축 없이 .md 파일 그대로 가능하나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압축해서 업로드하는 것이 일반적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Inst Line3"/>
          <p:cNvSpPr/>
          <p:nvPr/>
        </p:nvSpPr>
        <p:spPr>
          <a:xfrm>
            <a:off x="1005840" y="3593592"/>
            <a:ext cx="65836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34" name="Inst Line4"/>
          <p:cNvSpPr/>
          <p:nvPr/>
        </p:nvSpPr>
        <p:spPr>
          <a:xfrm>
            <a:off x="1005840" y="4197096"/>
            <a:ext cx="65836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pic>
        <p:nvPicPr>
          <p:cNvPr id="36" name="Shot Add Menu" descr="사용자 지정 &gt; Skills 화면의 + 추가 메뉴 (Skill 업로드, Skill 만들기, Claude로 만들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1572768"/>
            <a:ext cx="3200400" cy="1471448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37" name="Mark add"/>
          <p:cNvSpPr/>
          <p:nvPr/>
        </p:nvSpPr>
        <p:spPr>
          <a:xfrm>
            <a:off x="10409551" y="1911201"/>
            <a:ext cx="728367" cy="286932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38" name="Mark 03"/>
          <p:cNvSpPr/>
          <p:nvPr/>
        </p:nvSpPr>
        <p:spPr>
          <a:xfrm>
            <a:off x="9946044" y="2234920"/>
            <a:ext cx="1162444" cy="272218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39" name="Badge 03"/>
          <p:cNvSpPr/>
          <p:nvPr/>
        </p:nvSpPr>
        <p:spPr>
          <a:xfrm>
            <a:off x="9571140" y="2215581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>
                <a:solidFill>
                  <a:srgbClr val="0D0D0A"/>
                </a:solidFill>
                <a:latin typeface="Malgun Gothic"/>
                <a:ea typeface="Malgun Gothic"/>
              </a:rPr>
              <a:t>03</a:t>
            </a:r>
          </a:p>
        </p:txBody>
      </p:sp>
      <p:pic>
        <p:nvPicPr>
          <p:cNvPr id="40" name="Shot Upload" descr="Skill 업로드 화면: .md 파일 또는 .zip/.skill 파일을 끌어다 놓는 영역과 안내 문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3208808"/>
            <a:ext cx="3200400" cy="1795167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41" name="Mark 04"/>
          <p:cNvSpPr/>
          <p:nvPr/>
        </p:nvSpPr>
        <p:spPr>
          <a:xfrm>
            <a:off x="8312737" y="3444240"/>
            <a:ext cx="2832538" cy="1000585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42" name="Badge 04"/>
          <p:cNvSpPr/>
          <p:nvPr/>
        </p:nvSpPr>
        <p:spPr>
          <a:xfrm>
            <a:off x="7937833" y="3789084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>
                <a:solidFill>
                  <a:srgbClr val="0D0D0A"/>
                </a:solidFill>
                <a:latin typeface="Malgun Gothic"/>
                <a:ea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 사용할 모델 — Sonnet 기본, Opus는 비교용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148072" cy="14813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59689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간단하고 범위가 분명한 작업에 효율적. 빠른 응답과 적은 사용량 — 빠른 실습과 사용량 절약을 위한 기본 선택.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48072" cy="14813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비교용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59689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복잡하고 판단이 많이 필요한 작업에 강점. 사용 한도를 Sonnet보다 많이 씀 — 결과 차이를 확인하는 비교 용도로만 사용.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Haiku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가장 빠르고 저렴한 경량 모델. 요약·분류 같은 대량 단순 작업용 — 이번 실습에서 제외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Fable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가장 어려운 과제용 최상위 모델. Max 플랜 등에는 기본 포함, Pro는 별도 사용 크레딧 필요 — 이번 실습에서 제외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Effort Box"/>
          <p:cNvSpPr/>
          <p:nvPr/>
        </p:nvSpPr>
        <p:spPr>
          <a:xfrm>
            <a:off x="822960" y="4480560"/>
            <a:ext cx="10545775" cy="171907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Effort Label"/>
          <p:cNvSpPr/>
          <p:nvPr/>
        </p:nvSpPr>
        <p:spPr>
          <a:xfrm>
            <a:off x="1042416" y="4590288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함께 정하는 '노력(Effort)'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Effort Body"/>
          <p:cNvSpPr/>
          <p:nvPr/>
        </p:nvSpPr>
        <p:spPr>
          <a:xfrm>
            <a:off x="1042416" y="4846320"/>
            <a:ext cx="10106863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내기 위해 얼마나 많이 생각할지 정하는 설정 — 생각의 양과 응답 속도·토큰 사용량 사이의 균형을 맞추는 것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낮음 · 중간 · 높음 · 엑스트라 · 최대 — 높일수록 깊이 생각해 답이 충실해지는 대신 응답이 느려지고 사용량이 늘어남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선택 — Sonnet으로 시작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실습 시작과 사용량 절약을 위해 Sonnet을 먼저 선택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tep Box"/>
          <p:cNvSpPr/>
          <p:nvPr/>
        </p:nvSpPr>
        <p:spPr>
          <a:xfrm>
            <a:off x="822960" y="1920240"/>
            <a:ext cx="6263640" cy="22677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tep Num0"/>
          <p:cNvSpPr/>
          <p:nvPr/>
        </p:nvSpPr>
        <p:spPr>
          <a:xfrm>
            <a:off x="1060704" y="1920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tep Txt0"/>
          <p:cNvSpPr/>
          <p:nvPr/>
        </p:nvSpPr>
        <p:spPr>
          <a:xfrm>
            <a:off x="1563624" y="192024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아래 오른쪽의 모델 이름(지금 선택된 모델·노력 단계) 클릭 → 모델 메뉴 열림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tep Num1"/>
          <p:cNvSpPr/>
          <p:nvPr/>
        </p:nvSpPr>
        <p:spPr>
          <a:xfrm>
            <a:off x="1060704" y="248716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tep Txt1"/>
          <p:cNvSpPr/>
          <p:nvPr/>
        </p:nvSpPr>
        <p:spPr>
          <a:xfrm>
            <a:off x="1563624" y="248716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위쪽에서 Sonnet 5.5 선택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tep Line1"/>
          <p:cNvSpPr/>
          <p:nvPr/>
        </p:nvSpPr>
        <p:spPr>
          <a:xfrm>
            <a:off x="1005840" y="2487168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6" name="Step Num2"/>
          <p:cNvSpPr/>
          <p:nvPr/>
        </p:nvSpPr>
        <p:spPr>
          <a:xfrm>
            <a:off x="1060704" y="305409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tep Txt2"/>
          <p:cNvSpPr/>
          <p:nvPr/>
        </p:nvSpPr>
        <p:spPr>
          <a:xfrm>
            <a:off x="1563624" y="305409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latinLnBrk="0">
              <a:lnSpc>
                <a:spcPct val="115000"/>
              </a:lnSpc>
              <a:defRPr/>
            </a:pP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실습을 위해 '</a:t>
            </a:r>
            <a:r>
              <a:rPr lang="ko-KR" altLang="en-US" sz="13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노력’은</a:t>
            </a: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'중간’ 클릭</a:t>
            </a:r>
            <a:r>
              <a:rPr lang="en-US" altLang="ko-KR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실무에서는 중간 이상 사용 추천</a:t>
            </a:r>
            <a:endParaRPr lang="en-US" altLang="ko-KR" sz="1300" dirty="0">
              <a:solidFill>
                <a:prstClr val="black"/>
              </a:solidFill>
            </a:endParaRPr>
          </a:p>
        </p:txBody>
      </p:sp>
      <p:sp>
        <p:nvSpPr>
          <p:cNvPr id="18" name="Step Line2"/>
          <p:cNvSpPr/>
          <p:nvPr/>
        </p:nvSpPr>
        <p:spPr>
          <a:xfrm>
            <a:off x="1005840" y="3054096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9" name="Step Num3"/>
          <p:cNvSpPr/>
          <p:nvPr/>
        </p:nvSpPr>
        <p:spPr>
          <a:xfrm>
            <a:off x="1060704" y="362102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tep Txt3"/>
          <p:cNvSpPr/>
          <p:nvPr/>
        </p:nvSpPr>
        <p:spPr>
          <a:xfrm>
            <a:off x="1563624" y="362102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아래 표시가 'Sonnet 5.5 중간'으로 바뀌었는지 확인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tep Line3"/>
          <p:cNvSpPr/>
          <p:nvPr/>
        </p:nvSpPr>
        <p:spPr>
          <a:xfrm>
            <a:off x="1005840" y="3621024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pic>
        <p:nvPicPr>
          <p:cNvPr id="22" name="Shot Strip" descr="메시지 입력창 아래 오른쪽에 표시된 모델 이름과 노력 단계 버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89120"/>
            <a:ext cx="4572000" cy="1481959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23" name="Mark 01"/>
          <p:cNvSpPr/>
          <p:nvPr/>
        </p:nvSpPr>
        <p:spPr>
          <a:xfrm>
            <a:off x="3534629" y="5482196"/>
            <a:ext cx="1219200" cy="357352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4" name="Badge 01"/>
          <p:cNvSpPr/>
          <p:nvPr/>
        </p:nvSpPr>
        <p:spPr>
          <a:xfrm>
            <a:off x="3159725" y="5505424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>
                <a:solidFill>
                  <a:srgbClr val="0D0D0A"/>
                </a:solidFill>
                <a:latin typeface="Malgun Gothic"/>
                <a:ea typeface="Malgun Gothic"/>
              </a:rPr>
              <a:t>01</a:t>
            </a:r>
          </a:p>
        </p:txBody>
      </p:sp>
      <p:pic>
        <p:nvPicPr>
          <p:cNvPr id="25" name="Shot Menu" descr="모델 메뉴: 모델 목록과 노력 단계(낮음·중간·높음·엑스트라·최대), 중간에 추천 표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140" y="1920240"/>
            <a:ext cx="2812352" cy="4343400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26" name="Mark 02"/>
          <p:cNvSpPr/>
          <p:nvPr/>
        </p:nvSpPr>
        <p:spPr>
          <a:xfrm>
            <a:off x="8045291" y="3038666"/>
            <a:ext cx="2649474" cy="532066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7" name="Badge 02"/>
          <p:cNvSpPr/>
          <p:nvPr/>
        </p:nvSpPr>
        <p:spPr>
          <a:xfrm>
            <a:off x="7670387" y="3149251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>
                <a:solidFill>
                  <a:srgbClr val="0D0D0A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28" name="Mark 03"/>
          <p:cNvSpPr/>
          <p:nvPr/>
        </p:nvSpPr>
        <p:spPr>
          <a:xfrm>
            <a:off x="8045291" y="4808601"/>
            <a:ext cx="2649474" cy="412623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9" name="Badge 03"/>
          <p:cNvSpPr/>
          <p:nvPr/>
        </p:nvSpPr>
        <p:spPr>
          <a:xfrm>
            <a:off x="7670387" y="4859464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>
                <a:solidFill>
                  <a:srgbClr val="0D0D0A"/>
                </a:solidFill>
                <a:latin typeface="Malgun Gothic"/>
                <a:ea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103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KDI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발표한 경제전망 보도자료 작성 </a:t>
            </a:r>
            <a:r>
              <a:rPr kumimoji="0" lang="en-US" altLang="ko-KR" sz="2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grill 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 비교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두 프롬프트를 각각 새 대화('새로 만들기')에서 시작해 대화를 이어가며 비교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093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 · GRILL 없이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38658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KDI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새 경제전망을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발표했어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 어떻게 써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0896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36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B · 끝에 grill 추가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352958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KDI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새 경제전망을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발표했어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 어떻게 써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5148072" cy="1143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5994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A의 예상 흐름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416" y="491032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작성법 일반론 설명 · 필요한 정보는 목록으로만 요청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4434840"/>
            <a:ext cx="5148072" cy="1143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45994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B의 예상 흐름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37376" y="491032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사실은 웹 검색으로 확인 · 결정은 묶음 질문과 추천답으로 확인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Opus로 변경 — 응답 차이 확인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프롬프트를 Opus로 실행했을 때 어떻게 다른지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tep Box"/>
          <p:cNvSpPr/>
          <p:nvPr/>
        </p:nvSpPr>
        <p:spPr>
          <a:xfrm>
            <a:off x="822960" y="1920240"/>
            <a:ext cx="6263640" cy="22677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tep Num0"/>
          <p:cNvSpPr/>
          <p:nvPr/>
        </p:nvSpPr>
        <p:spPr>
          <a:xfrm>
            <a:off x="1060704" y="1920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tep Txt0"/>
          <p:cNvSpPr/>
          <p:nvPr/>
        </p:nvSpPr>
        <p:spPr>
          <a:xfrm>
            <a:off x="1563624" y="192024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사이드바의 '새로 만들기'로 새 대화를 열고 입력창 아래 모델 이름 클릭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tep Num1"/>
          <p:cNvSpPr/>
          <p:nvPr/>
        </p:nvSpPr>
        <p:spPr>
          <a:xfrm>
            <a:off x="1060704" y="248716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tep Txt1"/>
          <p:cNvSpPr/>
          <p:nvPr/>
        </p:nvSpPr>
        <p:spPr>
          <a:xfrm>
            <a:off x="1563624" y="248716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목록에서 Opus 5.5 선택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tep Line1"/>
          <p:cNvSpPr/>
          <p:nvPr/>
        </p:nvSpPr>
        <p:spPr>
          <a:xfrm>
            <a:off x="1005840" y="2487168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6" name="Step Num2"/>
          <p:cNvSpPr/>
          <p:nvPr/>
        </p:nvSpPr>
        <p:spPr>
          <a:xfrm>
            <a:off x="1060704" y="305409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tep Txt2"/>
          <p:cNvSpPr/>
          <p:nvPr/>
        </p:nvSpPr>
        <p:spPr>
          <a:xfrm>
            <a:off x="1563624" y="305409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latinLnBrk="0">
              <a:lnSpc>
                <a:spcPct val="115000"/>
              </a:lnSpc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노력’은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'중간' 클릭</a:t>
            </a:r>
            <a:r>
              <a:rPr lang="en-US" altLang="ko-KR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실무에서는 중간 이상 사용 추천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tep Line2"/>
          <p:cNvSpPr/>
          <p:nvPr/>
        </p:nvSpPr>
        <p:spPr>
          <a:xfrm>
            <a:off x="1005840" y="3054096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9" name="Step Num3"/>
          <p:cNvSpPr/>
          <p:nvPr/>
        </p:nvSpPr>
        <p:spPr>
          <a:xfrm>
            <a:off x="1060704" y="362102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tep Txt3"/>
          <p:cNvSpPr/>
          <p:nvPr/>
        </p:nvSpPr>
        <p:spPr>
          <a:xfrm>
            <a:off x="1563624" y="362102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프롬프트 B(grill 포함) 입력 후 Sonnet 결과와 비교 — 첫 라운드 질문의 수·깊이, 추천답의 구체성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tep Line3"/>
          <p:cNvSpPr/>
          <p:nvPr/>
        </p:nvSpPr>
        <p:spPr>
          <a:xfrm>
            <a:off x="1005840" y="3621024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pic>
        <p:nvPicPr>
          <p:cNvPr id="22" name="Shot Strip" descr="메시지 입력창 아래 오른쪽에 표시된 모델 이름과 노력 단계 버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89120"/>
            <a:ext cx="4572000" cy="1481959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23" name="Mark 01"/>
          <p:cNvSpPr/>
          <p:nvPr/>
        </p:nvSpPr>
        <p:spPr>
          <a:xfrm>
            <a:off x="3660753" y="5482196"/>
            <a:ext cx="1093076" cy="357352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4" name="Badge 01"/>
          <p:cNvSpPr/>
          <p:nvPr/>
        </p:nvSpPr>
        <p:spPr>
          <a:xfrm>
            <a:off x="3285849" y="5505424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>
                <a:solidFill>
                  <a:srgbClr val="0D0D0A"/>
                </a:solidFill>
                <a:latin typeface="Malgun Gothic"/>
                <a:ea typeface="Malgun Gothic"/>
              </a:rPr>
              <a:t>01</a:t>
            </a:r>
          </a:p>
        </p:txBody>
      </p:sp>
      <p:pic>
        <p:nvPicPr>
          <p:cNvPr id="25" name="Shot Menu" descr="모델 메뉴: 모델 목록과 노력 단계(낮음·중간·높음·엑스트라·최대), 중간에 추천 표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140" y="1920240"/>
            <a:ext cx="2812352" cy="4343400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26" name="Mark 02"/>
          <p:cNvSpPr/>
          <p:nvPr/>
        </p:nvSpPr>
        <p:spPr>
          <a:xfrm>
            <a:off x="8045291" y="2495740"/>
            <a:ext cx="2649474" cy="532066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7" name="Badge 02"/>
          <p:cNvSpPr/>
          <p:nvPr/>
        </p:nvSpPr>
        <p:spPr>
          <a:xfrm>
            <a:off x="7670387" y="2606326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>
                <a:solidFill>
                  <a:srgbClr val="0D0D0A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28" name="Mark 03"/>
          <p:cNvSpPr/>
          <p:nvPr/>
        </p:nvSpPr>
        <p:spPr>
          <a:xfrm>
            <a:off x="8045291" y="4808601"/>
            <a:ext cx="2649474" cy="412623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9" name="Badge 03"/>
          <p:cNvSpPr/>
          <p:nvPr/>
        </p:nvSpPr>
        <p:spPr>
          <a:xfrm>
            <a:off x="7670387" y="4859464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>
                <a:solidFill>
                  <a:srgbClr val="0D0D0A"/>
                </a:solidFill>
                <a:latin typeface="Malgun Gothic"/>
                <a:ea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결과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한 줄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grill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유무가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퀄리티에 큰 영향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48072" cy="3566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없이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50008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 작성법(제목·리드문·본문 구성·인용문) 일반론 위주 답변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제목과 내용에 각종 추측과 빈칸으로 답변을 작성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결과를 사람이 검증 및 수정하는 등 후보정에 시간이 많이 소요</a:t>
            </a:r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148072" cy="3566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켜고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37376" y="2350008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웹 검색으로 공개 사실 확인 </a:t>
            </a:r>
            <a:endParaRPr kumimoji="0" lang="en-US" altLang="ko-KR" sz="12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주체·발표 단계·핵심 메시지·성능 표기 기준·주 </a:t>
            </a: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독자·인용문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보도자료 작성에 필요한 필수적인 내용들을 첫 라운드에 묶어서 질문, 각각 </a:t>
            </a: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추천답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제시</a:t>
            </a:r>
            <a:endParaRPr kumimoji="0" lang="en-US" altLang="ko-KR" sz="12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ko-KR" alt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사용자의 의도에 맞게 보도자료 완성하여 </a:t>
            </a: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후보정</a:t>
            </a:r>
            <a:r>
              <a:rPr lang="ko-KR" alt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들어가는 시간 감소</a:t>
            </a:r>
            <a:endParaRPr kumimoji="0" lang="ko-KR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최종안을 먼저 받고 싶을 때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물어볼 질문이 남지 않으면 Grilling이 이해가 일치하는지 확인한 뒤 최종안 작성을 제안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전에 최종안을 받고 싶으면 아래 프롬프트 입력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1752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1455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43814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“지금까지 너와 대화한 것을 바탕으로 보도자료를 작성해줘. 아직 답하지 않은 질문은 추천답대로 반영해줘”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프롬프트 만들기 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보도자료 작업 시에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 지시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Grilling을 끝까지 진행하는 데 상당한 시간이 걸림 — 비슷한 업무마다 Grilling을 새로 하면 비효율적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다음부터는 Grilling 과정 없이 바로 보도자료를 작성할 수 있도록, 대화 내용을 프롬프트로 정리해 달라고 요청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10545775" cy="1188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43200"/>
            <a:ext cx="50292" cy="1188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7121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163824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“지금까지 대화한 내용을 바탕으로, 다음 보도자료에도 쓸 수 있는 프롬프트를 만들어줘. 매번 바뀌는 내용은 [빈칸]으로 표시해줘”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확장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프롬프트는 부서 공통 자산으로 관리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48074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51578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1578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4661306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프롬프트·스킬로 등록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공유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76693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80197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0197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8389925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전체가 재사용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42416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일관된 품질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42416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작성해도 같은 기준의 결과물.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60138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9594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79594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 축적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79594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끌어낸 질문과 구조가 부서 자산으로 축적.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97317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6773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16773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온보딩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16773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구성원도 빈칸만 바꿔 바로 활용.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557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25700" y="598932"/>
            <a:ext cx="89430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Studio Code 설치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45775" cy="1280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157984"/>
            <a:ext cx="164592" cy="164592"/>
          </a:xfrm>
          <a:prstGeom prst="rect">
            <a:avLst/>
          </a:prstGeom>
          <a:solidFill>
            <a:srgbClr val="1A1810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92024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 전까지 code.visualstudio.com에서 Visual Studio Code 다운로드 및 설치 완료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5840" y="2560320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78992" y="2798064"/>
            <a:ext cx="164592" cy="164592"/>
          </a:xfrm>
          <a:prstGeom prst="rect">
            <a:avLst/>
          </a:prstGeom>
          <a:solidFill>
            <a:srgbClr val="1A1810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256032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 실행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1254</Words>
  <Application>Microsoft Office PowerPoint</Application>
  <PresentationFormat>와이드스크린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2026-08-27T12:30:33Z</dcterms:created>
  <dcterms:modified xsi:type="dcterms:W3CDTF">2026-10-27T13:58:18Z</dcterms:modified>
</cp:coreProperties>
</file>